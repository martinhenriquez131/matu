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581eb513-1109-f6c2-413a-9e45ebc0ce65}">
          <p14:sldIdLst>
            <p14:sldId id="256"/>
          </p14:sldIdLst>
        </p14:section>
        <p14:section name="Equipo" id="{7e08e7d8-691b-dd78-a3a1-c9f4acccf550}">
          <p14:sldIdLst>
            <p14:sldId id="257"/>
          </p14:sldIdLst>
        </p14:section>
        <p14:section name="Contexto" id="{ec740d5b-ead4-9d14-b46d-331648fde4b7}">
          <p14:sldIdLst>
            <p14:sldId id="258"/>
          </p14:sldIdLst>
        </p14:section>
        <p14:section name="Objetivos" id="{d1e67c8e-dfea-92c4-b336-4b80fd1a3f97}">
          <p14:sldIdLst>
            <p14:sldId id="259"/>
            <p14:sldId id="260"/>
          </p14:sldIdLst>
        </p14:section>
        <p14:section name="Alcance y requerimientos" id="{1ca6e216-2916-5ea4-294d-55954fd55c9f}">
          <p14:sldIdLst>
            <p14:sldId id="261"/>
            <p14:sldId id="262"/>
            <p14:sldId id="263"/>
          </p14:sldIdLst>
        </p14:section>
        <p14:section name="Metodología y cronograma" id="{b04d5a66-996b-f845-e5df-7153f2969a79}">
          <p14:sldIdLst>
            <p14:sldId id="264"/>
            <p14:sldId id="265"/>
          </p14:sldIdLst>
        </p14:section>
        <p14:section name="Solución técnica" id="{3f8ecfc2-800b-269a-521a-2eb6052917bc}">
          <p14:sldIdLst>
            <p14:sldId id="266"/>
            <p14:sldId id="267"/>
            <p14:sldId id="268"/>
          </p14:sldIdLst>
        </p14:section>
        <p14:section name="Negocio" id="{571efd4a-46be-57a4-ba1d-35c2161d52c6}">
          <p14:sldIdLst>
            <p14:sldId id="269"/>
          </p14:sldIdLst>
        </p14:section>
        <p14:section name="Demostración" id="{da4c93b1-449d-c605-80a3-2f44102afe73}">
          <p14:sldIdLst>
            <p14:sldId id="270"/>
          </p14:sldIdLst>
        </p14:section>
        <p14:section name="Cierre" id="{50cedaa5-aca3-cc0f-2715-8abb37ab008d}">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12 s · al terminar 0:12. Buenas tardes. Somos Jorge Espinoza y Martín Henríquez. Les presentamos MATU, un sistema de continuidad del cuidado para personas mayores con dependencia.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18 s · al terminar 0:30. Yo soy Product Owner y llevo el cuidado y el consumo. Martín es Scrum Master y lleva identidad, dinero y operación. Nos apoyamos en seis agentes de IA, pero las decisiones son nuestras.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38 s · al terminar 1:08. En Chile, casi un millón y medio de personas adultas viven con dependencia. Y el 96,4% de quienes las cuidan en el hogar no recibe pago. Entrevistamos a diez cuidadoras. Nueve de diez dejaron de salir por falta de relevo. Seis de nueve relevos fallaron por algo que solo sabía la cuidadora. Falta poder traspasar el cuidado. MATU lo resuelve en tres capas, en este orden. La ficha de relevo, que es el producto. La predicción de cuándo se acaba cada insumo. Y el despacho, un servicio que se puede quitar.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20 s · al terminar 1:28. Nuestro objetivo general, en corto: una plataforma que parte del plan de cuidado, predice cuándo se acaban los insumos y coordina su reposición y pago. Operativa en un entorno de demostración al cierre del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20 s · al terminar 1:48. Son siete objetivos específicos, cada uno con su sprint. Dos ya están cumplidos: la validación y el aislamiento entre familias. El tercero, la ficha con su relevo, es el que verán en la demo. El del pago cambió con el ADR-027: ahora es un solo cobro.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20 s · al terminar 2:08. Construimos lo que nunca se sacrifica: la ficha, el enlace con PIN, la predicción y la lista. Es un piloto académico, sin dinero real y sin convenios. Y es una app web mobile first: la app nativa viene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22 s · al terminar 2:30. De 42 requerimientos funcionales, 26 son obligatorios, ordenados por capa. Los no funcionales son seis atributos medibles. El primero: ningún pago sin registrar. Y la accesibilidad es requisito: una persona de 68 años completa la ficha en menos de tres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(alternativa a la lámina 7: usar una de las dos) Habla Jorge · 22 s · al terminar 2:30. De 42 requerimientos funcionales, 26 son obligatorios, ordenados por capa. Los no funcionales son seis atributos medibles. El primero: ningún pago sin registrar. Y la accesibilidad es requisito: una persona de 68 años completa la ficha en menos de tres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18 s · al terminar 2:48. Usamos Scrum con sprints de una semana, de viernes a jueves. Cada cambio termina en un pull request que revisa la otra persona. Y medimos cuánto nos acelera la IA, en vez de suponerlo.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15 s · al terminar 3:03. Los sprints 0 y 1 están cerrados. El 2, la ficha y el relevo, cierra este jueves. Quedan tres de construcción hasta la semana 15, y dos de reserva.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15 s · al terminar 3:18. Usamos tecnología conocida: Python con FastAPI, PostgreSQL 16 con Row Level Security, React con TypeScript y Webpay Plus. Cada push pasa por el CI con todas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38 s · al terminar 3:56. La arquitectura es un monolito modular: una API con módulos de límites claros. Las dependencias van siempre hacia abajo. La ficha no sabe que existe el despacho. Por eso la capa 3 se puede quitar y lo demás sigue funcionando, y una prueba automática lo verifica. La seguridad está en el diseño. Cada familia está aislada en la base de datos. La ficha va cifrada, con una clave por persona. Y diseñamos para la Ley 21.719, vigente desde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22 s · al terminar 4:18. Todo el modelo cuelga del grupo familiar, que es la unidad de aislamiento. De la persona cuidada salen la ficha, el consumo y el pedido. No guardamos datos clínicos. Son 49 tablas, y 31 pruebas de aislamiento pasan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Jorge · 27 s · al terminar 4:45 · pasa la palabra a Martín. ¿Se sostiene? Solo con despacho, no: harían falta 429 familias. Con una suscripción de 5.990 pesos, el equilibrio baja a 84 familias. Seis de diez entrevistadas ya pagan por algún servicio de cuidado. Es un ejercicio de viabilidad, no un compromiso del semestre. Martín les va a mostrar MATU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Martín, recibe la palabra de Jorge · demo de 3:45 · al terminar 8:30. Gracias, Jorge. Carmen cuida a su mamá, María. Este fin de semana la reemplaza Rosa. Seis escenas desde la guía («?»): 7 Completar un campo, 10 Enlace y PIN, 11 Relevo: escribe el PIN (aviso «Tus datos en MATU»), 13 Quién la vio («abrió el enlace»), 16 Qué se está acabando y 21 Tu pedido, antes de pagar. Sin modo presentación: «Abrir como Rosa» está en la franja. El PIN es siempre 4821. Plan B: saltar de escena desde la guía, todo es simulado.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Martín · 22 s · al terminar 8:52. Lo que quedó fuera está diseñado. Primero vienen los medicamentos y el retiro en CESFAM, la demanda más repetida. Después, la app nativa, el pago dividido, la reposición programada, la app de repartidor y los comercios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Martín · 25 s · al terminar 9:17. En resumen: el problema está medido, la solución va en orden y la seguridad está en el diseño. Lo que falta: la consulta legal, una figura jurídica para vender y los convenios. Por eso entregamos un entorno de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Habla Martín · 13 s · al terminar 9:30. Gracias. Jorge y yo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TU_TITULO">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36792"/>
            <a:ext cx="274320" cy="274320"/>
          </a:xfrm>
          <a:prstGeom prst="rect">
            <a:avLst/>
          </a:prstGeom>
        </p:spPr>
      </p:pic>
      <p:sp>
        <p:nvSpPr>
          <p:cNvPr id="3" name="Text 0"/>
          <p:cNvSpPr/>
          <p:nvPr/>
        </p:nvSpPr>
        <p:spPr>
          <a:xfrm>
            <a:off x="932688" y="6336792"/>
            <a:ext cx="5486400" cy="274320"/>
          </a:xfrm>
          <a:prstGeom prst="rect">
            <a:avLst/>
          </a:prstGeom>
          <a:noFill/>
          <a:ln/>
        </p:spPr>
        <p:txBody>
          <a:bodyPr wrap="square" lIns="0" tIns="0" rIns="0" bIns="0" rtlCol="0" anchor="ctr"/>
          <a:lstStyle/>
          <a:p>
            <a:pPr indent="0" marL="0">
              <a:buNone/>
            </a:pPr>
            <a:r>
              <a:rPr lang="en-US" sz="1100" dirty="0">
                <a:solidFill>
                  <a:schemeClr val="accent3"/>
                </a:solidFill>
              </a:rPr>
              <a:t>MATU · Presentación de la Fase 2 · 30/10/2026</a:t>
            </a:r>
            <a:endParaRPr lang="en-US" sz="1100" dirty="0"/>
          </a:p>
        </p:txBody>
      </p:sp>
      <p:sp>
        <p:nvSpPr>
          <p:cNvPr id="4" name="Text 1"/>
          <p:cNvSpPr/>
          <p:nvPr>
            <p:ph idx="102" type="body" hasCustomPrompt="1"/>
          </p:nvPr>
        </p:nvSpPr>
        <p:spPr>
          <a:xfrm>
            <a:off x="548640" y="347472"/>
            <a:ext cx="8229600" cy="292608"/>
          </a:xfrm>
          <a:prstGeom prst="rect">
            <a:avLst/>
          </a:prstGeom>
          <a:noFill/>
          <a:ln/>
        </p:spPr>
        <p:txBody>
          <a:bodyPr wrap="square" rtlCol="0"/>
          <a:lstStyle>
            <a:lvl1pPr indent="0" marL="0">
              <a:buNone/>
              <a:defRPr lang="en-US" sz="1300" b="1" spc="150" kern="0" dirty="0">
                <a:solidFill>
                  <a:schemeClr val="tx2"/>
                </a:solidFill>
              </a:defRPr>
            </a:lvl1pPr>
          </a:lstStyle>
          <a:p>
            <a:pPr indent="0" marL="0">
              <a:buNone/>
            </a:pPr>
            <a:endParaRPr lang="en-US" sz="1300" dirty="0"/>
          </a:p>
        </p:txBody>
      </p:sp>
      <p:sp>
        <p:nvSpPr>
          <p:cNvPr id="5" name="Text 1"/>
          <p:cNvSpPr/>
          <p:nvPr>
            <p:ph idx="103" type="title" hasCustomPrompt="1"/>
          </p:nvPr>
        </p:nvSpPr>
        <p:spPr>
          <a:xfrm>
            <a:off x="548640" y="658368"/>
            <a:ext cx="11094415"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ATU_OSCURO">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36792"/>
            <a:ext cx="274320" cy="274320"/>
          </a:xfrm>
          <a:prstGeom prst="rect">
            <a:avLst/>
          </a:prstGeom>
        </p:spPr>
      </p:pic>
      <p:sp>
        <p:nvSpPr>
          <p:cNvPr id="3" name="Text 0"/>
          <p:cNvSpPr/>
          <p:nvPr/>
        </p:nvSpPr>
        <p:spPr>
          <a:xfrm>
            <a:off x="932688" y="6336792"/>
            <a:ext cx="5486400" cy="274320"/>
          </a:xfrm>
          <a:prstGeom prst="rect">
            <a:avLst/>
          </a:prstGeom>
          <a:noFill/>
          <a:ln/>
        </p:spPr>
        <p:txBody>
          <a:bodyPr wrap="square" lIns="0" tIns="0" rIns="0" bIns="0" rtlCol="0" anchor="ctr"/>
          <a:lstStyle/>
          <a:p>
            <a:pPr indent="0" marL="0">
              <a:buNone/>
            </a:pPr>
            <a:r>
              <a:rPr lang="en-US" sz="1100" dirty="0">
                <a:solidFill>
                  <a:schemeClr val="bg1"/>
                </a:solidFill>
              </a:rPr>
              <a:t>MATU · Presentación de la Fase 2 · 30/10/2026</a:t>
            </a:r>
            <a:endParaRPr lang="en-US" sz="11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de MATU: corazón en un círculo">    </p:cNvPr>
          <p:cNvPicPr>
            <a:picLocks noChangeAspect="1"/>
          </p:cNvPicPr>
          <p:nvPr/>
        </p:nvPicPr>
        <p:blipFill>
          <a:blip r:embed="rId1"/>
          <a:stretch>
            <a:fillRect/>
          </a:stretch>
        </p:blipFill>
        <p:spPr>
          <a:xfrm>
            <a:off x="548640" y="731520"/>
            <a:ext cx="1097280" cy="1097280"/>
          </a:xfrm>
          <a:prstGeom prst="rect">
            <a:avLst/>
          </a:prstGeom>
        </p:spPr>
      </p:pic>
      <p:sp>
        <p:nvSpPr>
          <p:cNvPr id="3" name="Text 0"/>
          <p:cNvSpPr txBox="1"/>
          <p:nvPr/>
        </p:nvSpPr>
        <p:spPr>
          <a:xfrm>
            <a:off x="548640" y="2011680"/>
            <a:ext cx="5943600" cy="1005840"/>
          </a:xfrm>
          <a:prstGeom prst="rect">
            <a:avLst/>
          </a:prstGeom>
          <a:noFill/>
          <a:ln/>
        </p:spPr>
        <p:txBody>
          <a:bodyPr wrap="square" lIns="0" tIns="0" rIns="0" bIns="0" rtlCol="0" anchor="ctr"/>
          <a:lstStyle/>
          <a:p>
            <a:pPr indent="0" marL="0">
              <a:buNone/>
            </a:pPr>
            <a:r>
              <a:rPr lang="en-US" sz="6600" b="1" dirty="0">
                <a:solidFill>
                  <a:schemeClr val="bg1"/>
                </a:solidFill>
                <a:latin typeface="+mj-lt" pitchFamily="34" charset="0"/>
                <a:ea typeface="+mj-lt" pitchFamily="34" charset="-122"/>
                <a:cs typeface="+mj-lt" pitchFamily="34" charset="-120"/>
              </a:rPr>
              <a:t>MATU</a:t>
            </a:r>
            <a:endParaRPr lang="en-US" sz="6600" dirty="0"/>
          </a:p>
        </p:txBody>
      </p:sp>
      <p:sp>
        <p:nvSpPr>
          <p:cNvPr id="4" name="Text 1"/>
          <p:cNvSpPr txBox="1"/>
          <p:nvPr/>
        </p:nvSpPr>
        <p:spPr>
          <a:xfrm>
            <a:off x="548640" y="3063240"/>
            <a:ext cx="6035040" cy="914400"/>
          </a:xfrm>
          <a:prstGeom prst="rect">
            <a:avLst/>
          </a:prstGeom>
          <a:noFill/>
          <a:ln/>
        </p:spPr>
        <p:txBody>
          <a:bodyPr wrap="square" lIns="0" tIns="0" rIns="0" bIns="0" rtlCol="0" anchor="t"/>
          <a:lstStyle/>
          <a:p>
            <a:pPr indent="0" marL="0">
              <a:buNone/>
            </a:pPr>
            <a:r>
              <a:rPr lang="en-US" sz="2400" dirty="0">
                <a:solidFill>
                  <a:schemeClr val="bg1"/>
                </a:solidFill>
              </a:rPr>
              <a:t>Sistema de continuidad del cuidado para personas mayores con dependencia</a:t>
            </a:r>
            <a:endParaRPr lang="en-US" sz="2400" dirty="0"/>
          </a:p>
        </p:txBody>
      </p:sp>
      <p:sp>
        <p:nvSpPr>
          <p:cNvPr id="5" name="Text 2"/>
          <p:cNvSpPr txBox="1"/>
          <p:nvPr/>
        </p:nvSpPr>
        <p:spPr>
          <a:xfrm>
            <a:off x="548640" y="4160520"/>
            <a:ext cx="6035040" cy="365760"/>
          </a:xfrm>
          <a:prstGeom prst="rect">
            <a:avLst/>
          </a:prstGeom>
          <a:noFill/>
          <a:ln/>
        </p:spPr>
        <p:txBody>
          <a:bodyPr wrap="square" lIns="0" tIns="0" rIns="0" bIns="0" rtlCol="0" anchor="t"/>
          <a:lstStyle/>
          <a:p>
            <a:pPr indent="0" marL="0">
              <a:buNone/>
            </a:pPr>
            <a:r>
              <a:rPr lang="en-US" sz="1600" b="1" dirty="0">
                <a:solidFill>
                  <a:schemeClr val="bg1"/>
                </a:solidFill>
              </a:rPr>
              <a:t>Presentación de avance · Fase 2 · Proyecto APT</a:t>
            </a:r>
            <a:endParaRPr lang="en-US" sz="1600" dirty="0"/>
          </a:p>
        </p:txBody>
      </p:sp>
      <p:sp>
        <p:nvSpPr>
          <p:cNvPr id="6" name="Text 3"/>
          <p:cNvSpPr txBox="1"/>
          <p:nvPr/>
        </p:nvSpPr>
        <p:spPr>
          <a:xfrm>
            <a:off x="548640" y="4617720"/>
            <a:ext cx="6035040" cy="685800"/>
          </a:xfrm>
          <a:prstGeom prst="rect">
            <a:avLst/>
          </a:prstGeom>
          <a:noFill/>
          <a:ln/>
        </p:spPr>
        <p:txBody>
          <a:bodyPr wrap="square" lIns="0" tIns="0" rIns="0" bIns="0" rtlCol="0" anchor="t"/>
          <a:lstStyle/>
          <a:p>
            <a:pPr indent="0" marL="0">
              <a:spcAft>
                <a:spcPts val="200"/>
              </a:spcAft>
              <a:buNone/>
            </a:pPr>
            <a:r>
              <a:rPr lang="en-US" sz="1800" b="1" dirty="0">
                <a:solidFill>
                  <a:schemeClr val="bg1"/>
                </a:solidFill>
              </a:rPr>
              <a:t>Jorge Espinoza</a:t>
            </a:r>
            <a:pPr indent="0" marL="0">
              <a:spcAft>
                <a:spcPts val="200"/>
              </a:spcAft>
              <a:buNone/>
            </a:pPr>
            <a:r>
              <a:rPr lang="en-US" sz="1800" dirty="0">
                <a:solidFill>
                  <a:schemeClr val="bg1"/>
                </a:solidFill>
              </a:rPr>
              <a:t> · Product Owner</a:t>
            </a:r>
            <a:endParaRPr lang="en-US" sz="1800" dirty="0"/>
          </a:p>
          <a:p>
            <a:pPr indent="0" marL="0">
              <a:spcAft>
                <a:spcPts val="200"/>
              </a:spcAft>
              <a:buNone/>
            </a:pPr>
            <a:r>
              <a:rPr lang="en-US" sz="1800" b="1" dirty="0">
                <a:solidFill>
                  <a:schemeClr val="bg1"/>
                </a:solidFill>
              </a:rPr>
              <a:t>Martín Henríquez</a:t>
            </a:r>
            <a:pPr indent="0" marL="0">
              <a:spcAft>
                <a:spcPts val="200"/>
              </a:spcAft>
              <a:buNone/>
            </a:pPr>
            <a:r>
              <a:rPr lang="en-US" sz="1800" dirty="0">
                <a:solidFill>
                  <a:schemeClr val="bg1"/>
                </a:solidFill>
              </a:rPr>
              <a:t> · Scrum Master</a:t>
            </a:r>
            <a:endParaRPr lang="en-US" sz="1800" dirty="0"/>
          </a:p>
        </p:txBody>
      </p:sp>
      <p:sp>
        <p:nvSpPr>
          <p:cNvPr id="7" name="Text 4"/>
          <p:cNvSpPr txBox="1"/>
          <p:nvPr/>
        </p:nvSpPr>
        <p:spPr>
          <a:xfrm>
            <a:off x="548640" y="5486400"/>
            <a:ext cx="6858000" cy="320040"/>
          </a:xfrm>
          <a:prstGeom prst="rect">
            <a:avLst/>
          </a:prstGeom>
          <a:noFill/>
          <a:ln/>
        </p:spPr>
        <p:txBody>
          <a:bodyPr wrap="square" lIns="0" tIns="0" rIns="0" bIns="0" rtlCol="0" anchor="t"/>
          <a:lstStyle/>
          <a:p>
            <a:pPr indent="0" marL="0">
              <a:buNone/>
            </a:pPr>
            <a:r>
              <a:rPr lang="en-US" sz="1300" dirty="0">
                <a:solidFill>
                  <a:schemeClr val="bg1"/>
                </a:solidFill>
              </a:rPr>
              <a:t>Ingeniería en Informática · Duoc UC, sede San Joaquín · Capstone 2026-2</a:t>
            </a:r>
            <a:endParaRPr lang="en-US" sz="1300" dirty="0"/>
          </a:p>
        </p:txBody>
      </p:sp>
      <p:sp>
        <p:nvSpPr>
          <p:cNvPr id="8" name="Capa 1"/>
          <p:cNvSpPr/>
          <p:nvPr/>
        </p:nvSpPr>
        <p:spPr>
          <a:xfrm>
            <a:off x="7406640" y="914400"/>
            <a:ext cx="4233672" cy="1280160"/>
          </a:xfrm>
          <a:prstGeom prst="roundRect">
            <a:avLst>
              <a:gd name="adj" fmla="val 8571"/>
            </a:avLst>
          </a:prstGeom>
          <a:solidFill>
            <a:schemeClr val="bg1"/>
          </a:solidFill>
          <a:ln w="12700">
            <a:solidFill>
              <a:schemeClr val="bg1"/>
            </a:solidFill>
            <a:prstDash val="solid"/>
          </a:ln>
        </p:spPr>
      </p:sp>
      <p:sp>
        <p:nvSpPr>
          <p:cNvPr id="9" name="Círculo de ícono"/>
          <p:cNvSpPr/>
          <p:nvPr/>
        </p:nvSpPr>
        <p:spPr>
          <a:xfrm>
            <a:off x="7680960" y="1188720"/>
            <a:ext cx="731520" cy="731520"/>
          </a:xfrm>
          <a:prstGeom prst="ellipse">
            <a:avLst/>
          </a:prstGeom>
          <a:solidFill>
            <a:schemeClr val="accent1"/>
          </a:solidFill>
          <a:ln w="12700">
            <a:solidFill>
              <a:schemeClr val="accent1"/>
            </a:solidFill>
            <a:prstDash val="solid"/>
          </a:ln>
        </p:spPr>
      </p:sp>
      <p:pic>
        <p:nvPicPr>
          <p:cNvPr id="10" name="Image 1" descr="Ícono ClipboardList">    </p:cNvPr>
          <p:cNvPicPr>
            <a:picLocks noChangeAspect="1"/>
          </p:cNvPicPr>
          <p:nvPr/>
        </p:nvPicPr>
        <p:blipFill>
          <a:blip r:embed="rId2"/>
          <a:stretch>
            <a:fillRect/>
          </a:stretch>
        </p:blipFill>
        <p:spPr>
          <a:xfrm>
            <a:off x="7856525" y="1364285"/>
            <a:ext cx="380390" cy="380390"/>
          </a:xfrm>
          <a:prstGeom prst="rect">
            <a:avLst/>
          </a:prstGeom>
        </p:spPr>
      </p:pic>
      <p:sp>
        <p:nvSpPr>
          <p:cNvPr id="11" name="Text 7"/>
          <p:cNvSpPr txBox="1"/>
          <p:nvPr/>
        </p:nvSpPr>
        <p:spPr>
          <a:xfrm>
            <a:off x="8595360" y="1097280"/>
            <a:ext cx="2834640" cy="274320"/>
          </a:xfrm>
          <a:prstGeom prst="rect">
            <a:avLst/>
          </a:prstGeom>
          <a:noFill/>
          <a:ln/>
        </p:spPr>
        <p:txBody>
          <a:bodyPr wrap="square" lIns="0" tIns="0" rIns="0" bIns="0" rtlCol="0" anchor="t"/>
          <a:lstStyle/>
          <a:p>
            <a:pPr indent="0" marL="0">
              <a:buNone/>
            </a:pPr>
            <a:r>
              <a:rPr lang="en-US" sz="1300" b="1" dirty="0">
                <a:solidFill>
                  <a:schemeClr val="accent3"/>
                </a:solidFill>
              </a:rPr>
              <a:t>Capa 1</a:t>
            </a:r>
            <a:endParaRPr lang="en-US" sz="1300" dirty="0"/>
          </a:p>
        </p:txBody>
      </p:sp>
      <p:sp>
        <p:nvSpPr>
          <p:cNvPr id="12" name="Text 8"/>
          <p:cNvSpPr txBox="1"/>
          <p:nvPr/>
        </p:nvSpPr>
        <p:spPr>
          <a:xfrm>
            <a:off x="8595360" y="1353312"/>
            <a:ext cx="2926080" cy="384048"/>
          </a:xfrm>
          <a:prstGeom prst="rect">
            <a:avLst/>
          </a:prstGeom>
          <a:noFill/>
          <a:ln/>
        </p:spPr>
        <p:txBody>
          <a:bodyPr wrap="square" lIns="0" tIns="0" rIns="0" bIns="0" rtlCol="0" anchor="t"/>
          <a:lstStyle/>
          <a:p>
            <a:pPr indent="0" marL="0">
              <a:buNone/>
            </a:pPr>
            <a:r>
              <a:rPr lang="en-US" sz="2100" b="1" dirty="0">
                <a:solidFill>
                  <a:schemeClr val="tx2"/>
                </a:solidFill>
              </a:rPr>
              <a:t>Ficha de relevo</a:t>
            </a:r>
            <a:endParaRPr lang="en-US" sz="2100" dirty="0"/>
          </a:p>
        </p:txBody>
      </p:sp>
      <p:sp>
        <p:nvSpPr>
          <p:cNvPr id="13" name="Text 9"/>
          <p:cNvSpPr txBox="1"/>
          <p:nvPr/>
        </p:nvSpPr>
        <p:spPr>
          <a:xfrm>
            <a:off x="8595360" y="1755648"/>
            <a:ext cx="2926080" cy="292608"/>
          </a:xfrm>
          <a:prstGeom prst="rect">
            <a:avLst/>
          </a:prstGeom>
          <a:noFill/>
          <a:ln/>
        </p:spPr>
        <p:txBody>
          <a:bodyPr wrap="square" lIns="0" tIns="0" rIns="0" bIns="0" rtlCol="0" anchor="t"/>
          <a:lstStyle/>
          <a:p>
            <a:pPr indent="0" marL="0">
              <a:buNone/>
            </a:pPr>
            <a:r>
              <a:rPr lang="en-US" sz="1400" dirty="0">
                <a:solidFill>
                  <a:schemeClr val="tx1"/>
                </a:solidFill>
              </a:rPr>
              <a:t>Es el producto</a:t>
            </a:r>
            <a:endParaRPr lang="en-US" sz="1400" dirty="0"/>
          </a:p>
        </p:txBody>
      </p:sp>
      <p:sp>
        <p:nvSpPr>
          <p:cNvPr id="14" name="Capa 2"/>
          <p:cNvSpPr/>
          <p:nvPr/>
        </p:nvSpPr>
        <p:spPr>
          <a:xfrm>
            <a:off x="7406640" y="2423160"/>
            <a:ext cx="4233672" cy="1280160"/>
          </a:xfrm>
          <a:prstGeom prst="roundRect">
            <a:avLst>
              <a:gd name="adj" fmla="val 8571"/>
            </a:avLst>
          </a:prstGeom>
          <a:solidFill>
            <a:schemeClr val="bg1"/>
          </a:solidFill>
          <a:ln w="12700">
            <a:solidFill>
              <a:schemeClr val="bg1"/>
            </a:solidFill>
            <a:prstDash val="solid"/>
          </a:ln>
        </p:spPr>
      </p:sp>
      <p:sp>
        <p:nvSpPr>
          <p:cNvPr id="15" name="Círculo de ícono"/>
          <p:cNvSpPr/>
          <p:nvPr/>
        </p:nvSpPr>
        <p:spPr>
          <a:xfrm>
            <a:off x="7680960" y="2697480"/>
            <a:ext cx="731520" cy="731520"/>
          </a:xfrm>
          <a:prstGeom prst="ellipse">
            <a:avLst/>
          </a:prstGeom>
          <a:solidFill>
            <a:schemeClr val="accent1"/>
          </a:solidFill>
          <a:ln w="12700">
            <a:solidFill>
              <a:schemeClr val="accent1"/>
            </a:solidFill>
            <a:prstDash val="solid"/>
          </a:ln>
        </p:spPr>
      </p:sp>
      <p:pic>
        <p:nvPicPr>
          <p:cNvPr id="16" name="Image 2" descr="Ícono CalendarClock">    </p:cNvPr>
          <p:cNvPicPr>
            <a:picLocks noChangeAspect="1"/>
          </p:cNvPicPr>
          <p:nvPr/>
        </p:nvPicPr>
        <p:blipFill>
          <a:blip r:embed="rId3"/>
          <a:stretch>
            <a:fillRect/>
          </a:stretch>
        </p:blipFill>
        <p:spPr>
          <a:xfrm>
            <a:off x="7856525" y="2873045"/>
            <a:ext cx="380390" cy="380390"/>
          </a:xfrm>
          <a:prstGeom prst="rect">
            <a:avLst/>
          </a:prstGeom>
        </p:spPr>
      </p:pic>
      <p:sp>
        <p:nvSpPr>
          <p:cNvPr id="17" name="Text 12"/>
          <p:cNvSpPr txBox="1"/>
          <p:nvPr/>
        </p:nvSpPr>
        <p:spPr>
          <a:xfrm>
            <a:off x="8595360" y="2606040"/>
            <a:ext cx="2834640" cy="274320"/>
          </a:xfrm>
          <a:prstGeom prst="rect">
            <a:avLst/>
          </a:prstGeom>
          <a:noFill/>
          <a:ln/>
        </p:spPr>
        <p:txBody>
          <a:bodyPr wrap="square" lIns="0" tIns="0" rIns="0" bIns="0" rtlCol="0" anchor="t"/>
          <a:lstStyle/>
          <a:p>
            <a:pPr indent="0" marL="0">
              <a:buNone/>
            </a:pPr>
            <a:r>
              <a:rPr lang="en-US" sz="1300" b="1" dirty="0">
                <a:solidFill>
                  <a:schemeClr val="accent3"/>
                </a:solidFill>
              </a:rPr>
              <a:t>Capa 2</a:t>
            </a:r>
            <a:endParaRPr lang="en-US" sz="1300" dirty="0"/>
          </a:p>
        </p:txBody>
      </p:sp>
      <p:sp>
        <p:nvSpPr>
          <p:cNvPr id="18" name="Text 13"/>
          <p:cNvSpPr txBox="1"/>
          <p:nvPr/>
        </p:nvSpPr>
        <p:spPr>
          <a:xfrm>
            <a:off x="8595360" y="2862072"/>
            <a:ext cx="2926080" cy="384048"/>
          </a:xfrm>
          <a:prstGeom prst="rect">
            <a:avLst/>
          </a:prstGeom>
          <a:noFill/>
          <a:ln/>
        </p:spPr>
        <p:txBody>
          <a:bodyPr wrap="square" lIns="0" tIns="0" rIns="0" bIns="0" rtlCol="0" anchor="t"/>
          <a:lstStyle/>
          <a:p>
            <a:pPr indent="0" marL="0">
              <a:buNone/>
            </a:pPr>
            <a:r>
              <a:rPr lang="en-US" sz="2100" b="1" dirty="0">
                <a:solidFill>
                  <a:schemeClr val="tx2"/>
                </a:solidFill>
              </a:rPr>
              <a:t>Consumo y predicción</a:t>
            </a:r>
            <a:endParaRPr lang="en-US" sz="2100" dirty="0"/>
          </a:p>
        </p:txBody>
      </p:sp>
      <p:sp>
        <p:nvSpPr>
          <p:cNvPr id="19" name="Text 14"/>
          <p:cNvSpPr txBox="1"/>
          <p:nvPr/>
        </p:nvSpPr>
        <p:spPr>
          <a:xfrm>
            <a:off x="8595360" y="3264408"/>
            <a:ext cx="2926080" cy="292608"/>
          </a:xfrm>
          <a:prstGeom prst="rect">
            <a:avLst/>
          </a:prstGeom>
          <a:noFill/>
          <a:ln/>
        </p:spPr>
        <p:txBody>
          <a:bodyPr wrap="square" lIns="0" tIns="0" rIns="0" bIns="0" rtlCol="0" anchor="t"/>
          <a:lstStyle/>
          <a:p>
            <a:pPr indent="0" marL="0">
              <a:buNone/>
            </a:pPr>
            <a:r>
              <a:rPr lang="en-US" sz="1400" dirty="0">
                <a:solidFill>
                  <a:schemeClr val="tx1"/>
                </a:solidFill>
              </a:rPr>
              <a:t>Es el diferenciador</a:t>
            </a:r>
            <a:endParaRPr lang="en-US" sz="1400" dirty="0"/>
          </a:p>
        </p:txBody>
      </p:sp>
      <p:sp>
        <p:nvSpPr>
          <p:cNvPr id="20" name="Capa 3"/>
          <p:cNvSpPr/>
          <p:nvPr/>
        </p:nvSpPr>
        <p:spPr>
          <a:xfrm>
            <a:off x="7406640" y="3931920"/>
            <a:ext cx="4233672" cy="1280160"/>
          </a:xfrm>
          <a:prstGeom prst="roundRect">
            <a:avLst>
              <a:gd name="adj" fmla="val 8571"/>
            </a:avLst>
          </a:prstGeom>
          <a:solidFill>
            <a:schemeClr val="bg1"/>
          </a:solidFill>
          <a:ln w="12700">
            <a:solidFill>
              <a:schemeClr val="bg1"/>
            </a:solidFill>
            <a:prstDash val="solid"/>
          </a:ln>
        </p:spPr>
      </p:sp>
      <p:sp>
        <p:nvSpPr>
          <p:cNvPr id="21" name="Círculo de ícono"/>
          <p:cNvSpPr/>
          <p:nvPr/>
        </p:nvSpPr>
        <p:spPr>
          <a:xfrm>
            <a:off x="7680960" y="4206240"/>
            <a:ext cx="731520" cy="731520"/>
          </a:xfrm>
          <a:prstGeom prst="ellipse">
            <a:avLst/>
          </a:prstGeom>
          <a:solidFill>
            <a:schemeClr val="accent1"/>
          </a:solidFill>
          <a:ln w="12700">
            <a:solidFill>
              <a:schemeClr val="accent1"/>
            </a:solidFill>
            <a:prstDash val="solid"/>
          </a:ln>
        </p:spPr>
      </p:sp>
      <p:pic>
        <p:nvPicPr>
          <p:cNvPr id="22" name="Image 3" descr="Ícono Package">    </p:cNvPr>
          <p:cNvPicPr>
            <a:picLocks noChangeAspect="1"/>
          </p:cNvPicPr>
          <p:nvPr/>
        </p:nvPicPr>
        <p:blipFill>
          <a:blip r:embed="rId4"/>
          <a:stretch>
            <a:fillRect/>
          </a:stretch>
        </p:blipFill>
        <p:spPr>
          <a:xfrm>
            <a:off x="7856525" y="4381805"/>
            <a:ext cx="380390" cy="380390"/>
          </a:xfrm>
          <a:prstGeom prst="rect">
            <a:avLst/>
          </a:prstGeom>
        </p:spPr>
      </p:pic>
      <p:sp>
        <p:nvSpPr>
          <p:cNvPr id="23" name="Text 17"/>
          <p:cNvSpPr txBox="1"/>
          <p:nvPr/>
        </p:nvSpPr>
        <p:spPr>
          <a:xfrm>
            <a:off x="8595360" y="4114800"/>
            <a:ext cx="2834640" cy="274320"/>
          </a:xfrm>
          <a:prstGeom prst="rect">
            <a:avLst/>
          </a:prstGeom>
          <a:noFill/>
          <a:ln/>
        </p:spPr>
        <p:txBody>
          <a:bodyPr wrap="square" lIns="0" tIns="0" rIns="0" bIns="0" rtlCol="0" anchor="t"/>
          <a:lstStyle/>
          <a:p>
            <a:pPr indent="0" marL="0">
              <a:buNone/>
            </a:pPr>
            <a:r>
              <a:rPr lang="en-US" sz="1300" b="1" dirty="0">
                <a:solidFill>
                  <a:schemeClr val="accent3"/>
                </a:solidFill>
              </a:rPr>
              <a:t>Capa 3</a:t>
            </a:r>
            <a:endParaRPr lang="en-US" sz="1300" dirty="0"/>
          </a:p>
        </p:txBody>
      </p:sp>
      <p:sp>
        <p:nvSpPr>
          <p:cNvPr id="24" name="Text 18"/>
          <p:cNvSpPr txBox="1"/>
          <p:nvPr/>
        </p:nvSpPr>
        <p:spPr>
          <a:xfrm>
            <a:off x="8595360" y="4370832"/>
            <a:ext cx="2926080" cy="384048"/>
          </a:xfrm>
          <a:prstGeom prst="rect">
            <a:avLst/>
          </a:prstGeom>
          <a:noFill/>
          <a:ln/>
        </p:spPr>
        <p:txBody>
          <a:bodyPr wrap="square" lIns="0" tIns="0" rIns="0" bIns="0" rtlCol="0" anchor="t"/>
          <a:lstStyle/>
          <a:p>
            <a:pPr indent="0" marL="0">
              <a:buNone/>
            </a:pPr>
            <a:r>
              <a:rPr lang="en-US" sz="2100" b="1" dirty="0">
                <a:solidFill>
                  <a:schemeClr val="tx2"/>
                </a:solidFill>
              </a:rPr>
              <a:t>Despacho</a:t>
            </a:r>
            <a:endParaRPr lang="en-US" sz="2100" dirty="0"/>
          </a:p>
        </p:txBody>
      </p:sp>
      <p:sp>
        <p:nvSpPr>
          <p:cNvPr id="25" name="Text 19"/>
          <p:cNvSpPr txBox="1"/>
          <p:nvPr/>
        </p:nvSpPr>
        <p:spPr>
          <a:xfrm>
            <a:off x="8595360" y="4773168"/>
            <a:ext cx="2926080" cy="292608"/>
          </a:xfrm>
          <a:prstGeom prst="rect">
            <a:avLst/>
          </a:prstGeom>
          <a:noFill/>
          <a:ln/>
        </p:spPr>
        <p:txBody>
          <a:bodyPr wrap="square" lIns="0" tIns="0" rIns="0" bIns="0" rtlCol="0" anchor="t"/>
          <a:lstStyle/>
          <a:p>
            <a:pPr indent="0" marL="0">
              <a:buNone/>
            </a:pPr>
            <a:r>
              <a:rPr lang="en-US" sz="1400" dirty="0">
                <a:solidFill>
                  <a:schemeClr val="tx1"/>
                </a:solidFill>
              </a:rPr>
              <a:t>Es un servicio que se puede quitar</a:t>
            </a:r>
            <a:endParaRPr lang="en-US" sz="14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EQUIPO</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Integrantes, roles y responsabilidades</a:t>
            </a:r>
            <a:endParaRPr lang="en-US" sz="3200" dirty="0"/>
          </a:p>
        </p:txBody>
      </p:sp>
      <p:sp>
        <p:nvSpPr>
          <p:cNvPr id="4" name="Tarjeta de Jorge Espinoza"/>
          <p:cNvSpPr/>
          <p:nvPr/>
        </p:nvSpPr>
        <p:spPr>
          <a:xfrm>
            <a:off x="548640" y="1600200"/>
            <a:ext cx="5394960" cy="3246120"/>
          </a:xfrm>
          <a:prstGeom prst="roundRect">
            <a:avLst>
              <a:gd name="adj" fmla="val 3380"/>
            </a:avLst>
          </a:prstGeom>
          <a:solidFill>
            <a:schemeClr val="bg1"/>
          </a:solidFill>
          <a:ln w="12700">
            <a:solidFill>
              <a:schemeClr val="bg1"/>
            </a:solidFill>
            <a:prstDash val="solid"/>
          </a:ln>
        </p:spPr>
      </p:sp>
      <p:sp>
        <p:nvSpPr>
          <p:cNvPr id="5" name="Círculo de ícono"/>
          <p:cNvSpPr/>
          <p:nvPr/>
        </p:nvSpPr>
        <p:spPr>
          <a:xfrm>
            <a:off x="868680" y="1920240"/>
            <a:ext cx="868680" cy="868680"/>
          </a:xfrm>
          <a:prstGeom prst="ellipse">
            <a:avLst/>
          </a:prstGeom>
          <a:solidFill>
            <a:schemeClr val="tx2"/>
          </a:solidFill>
          <a:ln w="12700">
            <a:solidFill>
              <a:schemeClr val="tx2"/>
            </a:solidFill>
            <a:prstDash val="solid"/>
          </a:ln>
        </p:spPr>
      </p:sp>
      <p:pic>
        <p:nvPicPr>
          <p:cNvPr id="6" name="Image 0" descr="Ícono UserRound">    </p:cNvPr>
          <p:cNvPicPr>
            <a:picLocks noChangeAspect="1"/>
          </p:cNvPicPr>
          <p:nvPr/>
        </p:nvPicPr>
        <p:blipFill>
          <a:blip r:embed="rId1"/>
          <a:stretch>
            <a:fillRect/>
          </a:stretch>
        </p:blipFill>
        <p:spPr>
          <a:xfrm>
            <a:off x="1077163" y="2128723"/>
            <a:ext cx="451714" cy="451714"/>
          </a:xfrm>
          <a:prstGeom prst="rect">
            <a:avLst/>
          </a:prstGeom>
        </p:spPr>
      </p:pic>
      <p:sp>
        <p:nvSpPr>
          <p:cNvPr id="7" name="Text 4"/>
          <p:cNvSpPr txBox="1"/>
          <p:nvPr/>
        </p:nvSpPr>
        <p:spPr>
          <a:xfrm>
            <a:off x="1920240" y="1920240"/>
            <a:ext cx="384048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Jorge Espinoza</a:t>
            </a:r>
            <a:endParaRPr lang="en-US" sz="2400" dirty="0"/>
          </a:p>
        </p:txBody>
      </p:sp>
      <p:sp>
        <p:nvSpPr>
          <p:cNvPr id="8" name="Text 5"/>
          <p:cNvSpPr txBox="1"/>
          <p:nvPr/>
        </p:nvSpPr>
        <p:spPr>
          <a:xfrm>
            <a:off x="1920240" y="2404872"/>
            <a:ext cx="3840480" cy="365760"/>
          </a:xfrm>
          <a:prstGeom prst="rect">
            <a:avLst/>
          </a:prstGeom>
          <a:noFill/>
          <a:ln/>
        </p:spPr>
        <p:txBody>
          <a:bodyPr wrap="square" lIns="0" tIns="0" rIns="0" bIns="0" rtlCol="0" anchor="t"/>
          <a:lstStyle/>
          <a:p>
            <a:pPr indent="0" marL="0">
              <a:buNone/>
            </a:pPr>
            <a:r>
              <a:rPr lang="en-US" sz="1800" b="1" dirty="0">
                <a:solidFill>
                  <a:schemeClr val="tx2"/>
                </a:solidFill>
              </a:rPr>
              <a:t>Product Owner</a:t>
            </a:r>
            <a:endParaRPr lang="en-US" sz="1800" dirty="0"/>
          </a:p>
        </p:txBody>
      </p:sp>
      <p:sp>
        <p:nvSpPr>
          <p:cNvPr id="9" name="Text 6"/>
          <p:cNvSpPr txBox="1"/>
          <p:nvPr/>
        </p:nvSpPr>
        <p:spPr>
          <a:xfrm>
            <a:off x="868680" y="2971800"/>
            <a:ext cx="4754880" cy="320040"/>
          </a:xfrm>
          <a:prstGeom prst="rect">
            <a:avLst/>
          </a:prstGeom>
          <a:noFill/>
          <a:ln/>
        </p:spPr>
        <p:txBody>
          <a:bodyPr wrap="square" lIns="0" tIns="0" rIns="0" bIns="0" rtlCol="0" anchor="t"/>
          <a:lstStyle/>
          <a:p>
            <a:pPr indent="0" marL="0">
              <a:buNone/>
            </a:pPr>
            <a:r>
              <a:rPr lang="en-US" sz="1500" b="1" dirty="0">
                <a:solidFill>
                  <a:schemeClr val="tx1"/>
                </a:solidFill>
              </a:rPr>
              <a:t>Eje A · Cuidado y consumo</a:t>
            </a:r>
            <a:endParaRPr lang="en-US" sz="1500" dirty="0"/>
          </a:p>
        </p:txBody>
      </p:sp>
      <p:sp>
        <p:nvSpPr>
          <p:cNvPr id="10" name="Text 7"/>
          <p:cNvSpPr txBox="1"/>
          <p:nvPr/>
        </p:nvSpPr>
        <p:spPr>
          <a:xfrm>
            <a:off x="868680" y="3291840"/>
            <a:ext cx="4846320" cy="502920"/>
          </a:xfrm>
          <a:prstGeom prst="rect">
            <a:avLst/>
          </a:prstGeom>
          <a:noFill/>
          <a:ln/>
        </p:spPr>
        <p:txBody>
          <a:bodyPr wrap="square" lIns="0" tIns="0" rIns="0" bIns="0" rtlCol="0" anchor="t"/>
          <a:lstStyle/>
          <a:p>
            <a:pPr indent="0" marL="0">
              <a:buNone/>
            </a:pPr>
            <a:r>
              <a:rPr lang="en-US" sz="1300" dirty="0">
                <a:solidFill>
                  <a:schemeClr val="accent3"/>
                </a:solidFill>
                <a:latin typeface="Courier New" pitchFamily="34" charset="0"/>
                <a:ea typeface="Courier New" pitchFamily="34" charset="-122"/>
                <a:cs typeface="Courier New" pitchFamily="34" charset="-120"/>
              </a:rPr>
              <a:t>care_plan · consumption · catalog</a:t>
            </a:r>
            <a:endParaRPr lang="en-US" sz="1300" dirty="0"/>
          </a:p>
        </p:txBody>
      </p:sp>
      <p:sp>
        <p:nvSpPr>
          <p:cNvPr id="11" name="Text 8"/>
          <p:cNvSpPr txBox="1"/>
          <p:nvPr/>
        </p:nvSpPr>
        <p:spPr>
          <a:xfrm>
            <a:off x="868680" y="3840480"/>
            <a:ext cx="4800600" cy="914400"/>
          </a:xfrm>
          <a:prstGeom prst="rect">
            <a:avLst/>
          </a:prstGeom>
          <a:noFill/>
          <a:ln/>
        </p:spPr>
        <p:txBody>
          <a:bodyPr wrap="square" lIns="0" tIns="0" rIns="0" bIns="0" rtlCol="0" anchor="t"/>
          <a:lstStyle/>
          <a:p>
            <a:pPr indent="0" marL="0">
              <a:buNone/>
            </a:pPr>
            <a:r>
              <a:rPr lang="en-US" sz="1500" dirty="0">
                <a:solidFill>
                  <a:schemeClr val="tx1"/>
                </a:solidFill>
              </a:rPr>
              <a:t>Backlog y prioridades, validación con cuidadoras, diseño de interacción y accesibilidad. Aprueba las decisiones de producto y los textos legales.</a:t>
            </a:r>
            <a:endParaRPr lang="en-US" sz="1500" dirty="0"/>
          </a:p>
        </p:txBody>
      </p:sp>
      <p:sp>
        <p:nvSpPr>
          <p:cNvPr id="12" name="Tarjeta de Martín Henríquez"/>
          <p:cNvSpPr/>
          <p:nvPr/>
        </p:nvSpPr>
        <p:spPr>
          <a:xfrm>
            <a:off x="6190488" y="1600200"/>
            <a:ext cx="5394960" cy="3246120"/>
          </a:xfrm>
          <a:prstGeom prst="roundRect">
            <a:avLst>
              <a:gd name="adj" fmla="val 3380"/>
            </a:avLst>
          </a:prstGeom>
          <a:solidFill>
            <a:schemeClr val="bg1"/>
          </a:solidFill>
          <a:ln w="12700">
            <a:solidFill>
              <a:schemeClr val="bg1"/>
            </a:solidFill>
            <a:prstDash val="solid"/>
          </a:ln>
        </p:spPr>
      </p:sp>
      <p:sp>
        <p:nvSpPr>
          <p:cNvPr id="13" name="Círculo de ícono"/>
          <p:cNvSpPr/>
          <p:nvPr/>
        </p:nvSpPr>
        <p:spPr>
          <a:xfrm>
            <a:off x="6510528" y="1920240"/>
            <a:ext cx="868680" cy="868680"/>
          </a:xfrm>
          <a:prstGeom prst="ellipse">
            <a:avLst/>
          </a:prstGeom>
          <a:solidFill>
            <a:schemeClr val="tx2"/>
          </a:solidFill>
          <a:ln w="12700">
            <a:solidFill>
              <a:schemeClr val="tx2"/>
            </a:solidFill>
            <a:prstDash val="solid"/>
          </a:ln>
        </p:spPr>
      </p:sp>
      <p:pic>
        <p:nvPicPr>
          <p:cNvPr id="14" name="Image 1" descr="Ícono UserRound">    </p:cNvPr>
          <p:cNvPicPr>
            <a:picLocks noChangeAspect="1"/>
          </p:cNvPicPr>
          <p:nvPr/>
        </p:nvPicPr>
        <p:blipFill>
          <a:blip r:embed="rId2"/>
          <a:stretch>
            <a:fillRect/>
          </a:stretch>
        </p:blipFill>
        <p:spPr>
          <a:xfrm>
            <a:off x="6719011" y="2128723"/>
            <a:ext cx="451714" cy="451714"/>
          </a:xfrm>
          <a:prstGeom prst="rect">
            <a:avLst/>
          </a:prstGeom>
        </p:spPr>
      </p:pic>
      <p:sp>
        <p:nvSpPr>
          <p:cNvPr id="15" name="Text 11"/>
          <p:cNvSpPr txBox="1"/>
          <p:nvPr/>
        </p:nvSpPr>
        <p:spPr>
          <a:xfrm>
            <a:off x="7562088" y="1920240"/>
            <a:ext cx="384048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Martín Henríquez</a:t>
            </a:r>
            <a:endParaRPr lang="en-US" sz="2400" dirty="0"/>
          </a:p>
        </p:txBody>
      </p:sp>
      <p:sp>
        <p:nvSpPr>
          <p:cNvPr id="16" name="Text 12"/>
          <p:cNvSpPr txBox="1"/>
          <p:nvPr/>
        </p:nvSpPr>
        <p:spPr>
          <a:xfrm>
            <a:off x="7562088" y="2404872"/>
            <a:ext cx="3840480" cy="365760"/>
          </a:xfrm>
          <a:prstGeom prst="rect">
            <a:avLst/>
          </a:prstGeom>
          <a:noFill/>
          <a:ln/>
        </p:spPr>
        <p:txBody>
          <a:bodyPr wrap="square" lIns="0" tIns="0" rIns="0" bIns="0" rtlCol="0" anchor="t"/>
          <a:lstStyle/>
          <a:p>
            <a:pPr indent="0" marL="0">
              <a:buNone/>
            </a:pPr>
            <a:r>
              <a:rPr lang="en-US" sz="1800" b="1" dirty="0">
                <a:solidFill>
                  <a:schemeClr val="tx2"/>
                </a:solidFill>
              </a:rPr>
              <a:t>Scrum Master</a:t>
            </a:r>
            <a:endParaRPr lang="en-US" sz="1800" dirty="0"/>
          </a:p>
        </p:txBody>
      </p:sp>
      <p:sp>
        <p:nvSpPr>
          <p:cNvPr id="17" name="Text 13"/>
          <p:cNvSpPr txBox="1"/>
          <p:nvPr/>
        </p:nvSpPr>
        <p:spPr>
          <a:xfrm>
            <a:off x="6510528" y="2971800"/>
            <a:ext cx="4754880" cy="320040"/>
          </a:xfrm>
          <a:prstGeom prst="rect">
            <a:avLst/>
          </a:prstGeom>
          <a:noFill/>
          <a:ln/>
        </p:spPr>
        <p:txBody>
          <a:bodyPr wrap="square" lIns="0" tIns="0" rIns="0" bIns="0" rtlCol="0" anchor="t"/>
          <a:lstStyle/>
          <a:p>
            <a:pPr indent="0" marL="0">
              <a:buNone/>
            </a:pPr>
            <a:r>
              <a:rPr lang="en-US" sz="1500" b="1" dirty="0">
                <a:solidFill>
                  <a:schemeClr val="tx1"/>
                </a:solidFill>
              </a:rPr>
              <a:t>Eje B · Identidad, dinero y operación</a:t>
            </a:r>
            <a:endParaRPr lang="en-US" sz="1500" dirty="0"/>
          </a:p>
        </p:txBody>
      </p:sp>
      <p:sp>
        <p:nvSpPr>
          <p:cNvPr id="18" name="Text 14"/>
          <p:cNvSpPr txBox="1"/>
          <p:nvPr/>
        </p:nvSpPr>
        <p:spPr>
          <a:xfrm>
            <a:off x="6510528" y="3291840"/>
            <a:ext cx="4846320" cy="502920"/>
          </a:xfrm>
          <a:prstGeom prst="rect">
            <a:avLst/>
          </a:prstGeom>
          <a:noFill/>
          <a:ln/>
        </p:spPr>
        <p:txBody>
          <a:bodyPr wrap="square" lIns="0" tIns="0" rIns="0" bIns="0" rtlCol="0" anchor="t"/>
          <a:lstStyle/>
          <a:p>
            <a:pPr indent="0" marL="0">
              <a:buNone/>
            </a:pPr>
            <a:r>
              <a:rPr lang="en-US" sz="1300" dirty="0">
                <a:solidFill>
                  <a:schemeClr val="accent3"/>
                </a:solidFill>
                <a:latin typeface="Courier New" pitchFamily="34" charset="0"/>
                <a:ea typeface="Courier New" pitchFamily="34" charset="-122"/>
                <a:cs typeface="Courier New" pitchFamily="34" charset="-120"/>
              </a:rPr>
              <a:t>iam · care_circle · ordering · payments · settlement · backoffice</a:t>
            </a:r>
            <a:endParaRPr lang="en-US" sz="1300" dirty="0"/>
          </a:p>
        </p:txBody>
      </p:sp>
      <p:sp>
        <p:nvSpPr>
          <p:cNvPr id="19" name="Text 15"/>
          <p:cNvSpPr txBox="1"/>
          <p:nvPr/>
        </p:nvSpPr>
        <p:spPr>
          <a:xfrm>
            <a:off x="6510528" y="3840480"/>
            <a:ext cx="4800600" cy="914400"/>
          </a:xfrm>
          <a:prstGeom prst="rect">
            <a:avLst/>
          </a:prstGeom>
          <a:noFill/>
          <a:ln/>
        </p:spPr>
        <p:txBody>
          <a:bodyPr wrap="square" lIns="0" tIns="0" rIns="0" bIns="0" rtlCol="0" anchor="t"/>
          <a:lstStyle/>
          <a:p>
            <a:pPr indent="0" marL="0">
              <a:buNone/>
            </a:pPr>
            <a:r>
              <a:rPr lang="en-US" sz="1500" dirty="0">
                <a:solidFill>
                  <a:schemeClr val="tx1"/>
                </a:solidFill>
              </a:rPr>
              <a:t>Ceremonias y tablero, integración con Transbank y pipeline de integración continua. Revisa y fusiona el trabajo de Jorge.</a:t>
            </a:r>
            <a:endParaRPr lang="en-US" sz="1500" dirty="0"/>
          </a:p>
        </p:txBody>
      </p:sp>
      <p:sp>
        <p:nvSpPr>
          <p:cNvPr id="20" name="Agentes de IA"/>
          <p:cNvSpPr/>
          <p:nvPr/>
        </p:nvSpPr>
        <p:spPr>
          <a:xfrm>
            <a:off x="548640" y="5074920"/>
            <a:ext cx="11094415" cy="1005840"/>
          </a:xfrm>
          <a:prstGeom prst="roundRect">
            <a:avLst>
              <a:gd name="adj" fmla="val 10909"/>
            </a:avLst>
          </a:prstGeom>
          <a:solidFill>
            <a:schemeClr val="accent4"/>
          </a:solidFill>
          <a:ln w="12700">
            <a:solidFill>
              <a:schemeClr val="accent4"/>
            </a:solidFill>
            <a:prstDash val="solid"/>
          </a:ln>
        </p:spPr>
      </p:sp>
      <p:sp>
        <p:nvSpPr>
          <p:cNvPr id="21" name="Círculo de ícono"/>
          <p:cNvSpPr/>
          <p:nvPr/>
        </p:nvSpPr>
        <p:spPr>
          <a:xfrm>
            <a:off x="822960" y="5239512"/>
            <a:ext cx="676656" cy="676656"/>
          </a:xfrm>
          <a:prstGeom prst="ellipse">
            <a:avLst/>
          </a:prstGeom>
          <a:solidFill>
            <a:schemeClr val="tx2"/>
          </a:solidFill>
          <a:ln w="12700">
            <a:solidFill>
              <a:schemeClr val="tx2"/>
            </a:solidFill>
            <a:prstDash val="solid"/>
          </a:ln>
        </p:spPr>
      </p:sp>
      <p:pic>
        <p:nvPicPr>
          <p:cNvPr id="22" name="Image 2" descr="Ícono Bot">    </p:cNvPr>
          <p:cNvPicPr>
            <a:picLocks noChangeAspect="1"/>
          </p:cNvPicPr>
          <p:nvPr/>
        </p:nvPicPr>
        <p:blipFill>
          <a:blip r:embed="rId3"/>
          <a:stretch>
            <a:fillRect/>
          </a:stretch>
        </p:blipFill>
        <p:spPr>
          <a:xfrm>
            <a:off x="985357" y="5401909"/>
            <a:ext cx="351861" cy="351861"/>
          </a:xfrm>
          <a:prstGeom prst="rect">
            <a:avLst/>
          </a:prstGeom>
        </p:spPr>
      </p:pic>
      <p:sp>
        <p:nvSpPr>
          <p:cNvPr id="23" name="Text 18"/>
          <p:cNvSpPr txBox="1"/>
          <p:nvPr/>
        </p:nvSpPr>
        <p:spPr>
          <a:xfrm>
            <a:off x="1737360" y="5166360"/>
            <a:ext cx="9692640" cy="822960"/>
          </a:xfrm>
          <a:prstGeom prst="rect">
            <a:avLst/>
          </a:prstGeom>
          <a:noFill/>
          <a:ln/>
        </p:spPr>
        <p:txBody>
          <a:bodyPr wrap="square" lIns="0" tIns="0" rIns="0" bIns="0" rtlCol="0" anchor="ctr"/>
          <a:lstStyle/>
          <a:p>
            <a:pPr indent="0" marL="0">
              <a:buNone/>
            </a:pPr>
            <a:r>
              <a:rPr lang="en-US" sz="1600" b="1" dirty="0">
                <a:solidFill>
                  <a:schemeClr val="tx1"/>
                </a:solidFill>
              </a:rPr>
              <a:t>Seis agentes de IA con Claude Code: </a:t>
            </a:r>
            <a:pPr indent="0" marL="0">
              <a:buNone/>
            </a:pPr>
            <a:r>
              <a:rPr lang="en-US" sz="1600" dirty="0">
                <a:solidFill>
                  <a:schemeClr val="tx1"/>
                </a:solidFill>
              </a:rPr>
              <a:t>orquestador, backend, frontend, QA, analista normativo y diseñador UI/UX. Las personas deciden. Los agentes proponen, construyen y verifican.</a:t>
            </a:r>
            <a:endParaRPr lang="en-US" sz="16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CONTEXTO · PROBLEMA Y PROPUESTA</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Quien cuida no puede ausentarse</a:t>
            </a:r>
            <a:endParaRPr lang="en-US" sz="3200" dirty="0"/>
          </a:p>
        </p:txBody>
      </p:sp>
      <p:sp>
        <p:nvSpPr>
          <p:cNvPr id="4" name="Text 2"/>
          <p:cNvSpPr txBox="1"/>
          <p:nvPr/>
        </p:nvSpPr>
        <p:spPr>
          <a:xfrm>
            <a:off x="548640" y="1481328"/>
            <a:ext cx="3657600" cy="320040"/>
          </a:xfrm>
          <a:prstGeom prst="rect">
            <a:avLst/>
          </a:prstGeom>
          <a:noFill/>
          <a:ln/>
        </p:spPr>
        <p:txBody>
          <a:bodyPr wrap="square" lIns="0" tIns="0" rIns="0" bIns="0" rtlCol="0" anchor="t"/>
          <a:lstStyle/>
          <a:p>
            <a:pPr indent="0" marL="0">
              <a:buNone/>
            </a:pPr>
            <a:r>
              <a:rPr lang="en-US" sz="1600" b="1" dirty="0">
                <a:solidFill>
                  <a:schemeClr val="tx2"/>
                </a:solidFill>
              </a:rPr>
              <a:t>El problema</a:t>
            </a:r>
            <a:endParaRPr lang="en-US" sz="1600" dirty="0"/>
          </a:p>
        </p:txBody>
      </p:sp>
      <p:sp>
        <p:nvSpPr>
          <p:cNvPr id="5" name="Cifra 1.498.977"/>
          <p:cNvSpPr/>
          <p:nvPr/>
        </p:nvSpPr>
        <p:spPr>
          <a:xfrm>
            <a:off x="548640" y="1847088"/>
            <a:ext cx="2602154" cy="1783080"/>
          </a:xfrm>
          <a:prstGeom prst="roundRect">
            <a:avLst>
              <a:gd name="adj" fmla="val 6154"/>
            </a:avLst>
          </a:prstGeom>
          <a:solidFill>
            <a:schemeClr val="bg1"/>
          </a:solidFill>
          <a:ln w="12700">
            <a:solidFill>
              <a:schemeClr val="bg1"/>
            </a:solidFill>
            <a:prstDash val="solid"/>
          </a:ln>
        </p:spPr>
      </p:sp>
      <p:sp>
        <p:nvSpPr>
          <p:cNvPr id="6" name="Text 4"/>
          <p:cNvSpPr txBox="1"/>
          <p:nvPr/>
        </p:nvSpPr>
        <p:spPr>
          <a:xfrm>
            <a:off x="777240" y="2011680"/>
            <a:ext cx="2236394" cy="566928"/>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1.498.977</a:t>
            </a:r>
            <a:endParaRPr lang="en-US" sz="3400" dirty="0"/>
          </a:p>
        </p:txBody>
      </p:sp>
      <p:sp>
        <p:nvSpPr>
          <p:cNvPr id="7" name="Text 5"/>
          <p:cNvSpPr txBox="1"/>
          <p:nvPr/>
        </p:nvSpPr>
        <p:spPr>
          <a:xfrm>
            <a:off x="777240" y="2624328"/>
            <a:ext cx="2190674" cy="685800"/>
          </a:xfrm>
          <a:prstGeom prst="rect">
            <a:avLst/>
          </a:prstGeom>
          <a:noFill/>
          <a:ln/>
        </p:spPr>
        <p:txBody>
          <a:bodyPr wrap="square" lIns="0" tIns="0" rIns="0" bIns="0" rtlCol="0" anchor="t"/>
          <a:lstStyle/>
          <a:p>
            <a:pPr indent="0" marL="0">
              <a:buNone/>
            </a:pPr>
            <a:r>
              <a:rPr lang="en-US" sz="1400" dirty="0">
                <a:solidFill>
                  <a:schemeClr val="tx1"/>
                </a:solidFill>
              </a:rPr>
              <a:t>personas adultas viven con dependencia en Chile</a:t>
            </a:r>
            <a:endParaRPr lang="en-US" sz="1400" dirty="0"/>
          </a:p>
        </p:txBody>
      </p:sp>
      <p:sp>
        <p:nvSpPr>
          <p:cNvPr id="8" name="Text 6"/>
          <p:cNvSpPr txBox="1"/>
          <p:nvPr/>
        </p:nvSpPr>
        <p:spPr>
          <a:xfrm>
            <a:off x="777240" y="3310128"/>
            <a:ext cx="2236394" cy="228600"/>
          </a:xfrm>
          <a:prstGeom prst="rect">
            <a:avLst/>
          </a:prstGeom>
          <a:noFill/>
          <a:ln/>
        </p:spPr>
        <p:txBody>
          <a:bodyPr wrap="square" lIns="0" tIns="0" rIns="0" bIns="0" rtlCol="0" anchor="t"/>
          <a:lstStyle/>
          <a:p>
            <a:pPr indent="0" marL="0">
              <a:buNone/>
            </a:pPr>
            <a:r>
              <a:rPr lang="en-US" sz="1100" dirty="0">
                <a:solidFill>
                  <a:schemeClr val="accent3"/>
                </a:solidFill>
              </a:rPr>
              <a:t>ENDIDE 2022</a:t>
            </a:r>
            <a:endParaRPr lang="en-US" sz="1100" dirty="0"/>
          </a:p>
        </p:txBody>
      </p:sp>
      <p:sp>
        <p:nvSpPr>
          <p:cNvPr id="9" name="Cifra 96,4%"/>
          <p:cNvSpPr/>
          <p:nvPr/>
        </p:nvSpPr>
        <p:spPr>
          <a:xfrm>
            <a:off x="3379394" y="1847088"/>
            <a:ext cx="2602154" cy="1783080"/>
          </a:xfrm>
          <a:prstGeom prst="roundRect">
            <a:avLst>
              <a:gd name="adj" fmla="val 6154"/>
            </a:avLst>
          </a:prstGeom>
          <a:solidFill>
            <a:schemeClr val="bg1"/>
          </a:solidFill>
          <a:ln w="12700">
            <a:solidFill>
              <a:schemeClr val="bg1"/>
            </a:solidFill>
            <a:prstDash val="solid"/>
          </a:ln>
        </p:spPr>
      </p:sp>
      <p:sp>
        <p:nvSpPr>
          <p:cNvPr id="10" name="Text 8"/>
          <p:cNvSpPr txBox="1"/>
          <p:nvPr/>
        </p:nvSpPr>
        <p:spPr>
          <a:xfrm>
            <a:off x="3607994" y="2011680"/>
            <a:ext cx="2236394" cy="566928"/>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96,4%</a:t>
            </a:r>
            <a:endParaRPr lang="en-US" sz="3400" dirty="0"/>
          </a:p>
        </p:txBody>
      </p:sp>
      <p:sp>
        <p:nvSpPr>
          <p:cNvPr id="11" name="Text 9"/>
          <p:cNvSpPr txBox="1"/>
          <p:nvPr/>
        </p:nvSpPr>
        <p:spPr>
          <a:xfrm>
            <a:off x="3607994" y="2624328"/>
            <a:ext cx="2190674" cy="685800"/>
          </a:xfrm>
          <a:prstGeom prst="rect">
            <a:avLst/>
          </a:prstGeom>
          <a:noFill/>
          <a:ln/>
        </p:spPr>
        <p:txBody>
          <a:bodyPr wrap="square" lIns="0" tIns="0" rIns="0" bIns="0" rtlCol="0" anchor="t"/>
          <a:lstStyle/>
          <a:p>
            <a:pPr indent="0" marL="0">
              <a:buNone/>
            </a:pPr>
            <a:r>
              <a:rPr lang="en-US" sz="1400" dirty="0">
                <a:solidFill>
                  <a:schemeClr val="tx1"/>
                </a:solidFill>
              </a:rPr>
              <a:t>de quienes cuidan en el hogar no recibe remuneración</a:t>
            </a:r>
            <a:endParaRPr lang="en-US" sz="1400" dirty="0"/>
          </a:p>
        </p:txBody>
      </p:sp>
      <p:sp>
        <p:nvSpPr>
          <p:cNvPr id="12" name="Text 10"/>
          <p:cNvSpPr txBox="1"/>
          <p:nvPr/>
        </p:nvSpPr>
        <p:spPr>
          <a:xfrm>
            <a:off x="3607994" y="3310128"/>
            <a:ext cx="2236394" cy="228600"/>
          </a:xfrm>
          <a:prstGeom prst="rect">
            <a:avLst/>
          </a:prstGeom>
          <a:noFill/>
          <a:ln/>
        </p:spPr>
        <p:txBody>
          <a:bodyPr wrap="square" lIns="0" tIns="0" rIns="0" bIns="0" rtlCol="0" anchor="t"/>
          <a:lstStyle/>
          <a:p>
            <a:pPr indent="0" marL="0">
              <a:buNone/>
            </a:pPr>
            <a:r>
              <a:rPr lang="en-US" sz="1100" dirty="0">
                <a:solidFill>
                  <a:schemeClr val="accent3"/>
                </a:solidFill>
              </a:rPr>
              <a:t>ENDIDE 2022</a:t>
            </a:r>
            <a:endParaRPr lang="en-US" sz="1100" dirty="0"/>
          </a:p>
        </p:txBody>
      </p:sp>
      <p:sp>
        <p:nvSpPr>
          <p:cNvPr id="13" name="Cifra 9 de 10"/>
          <p:cNvSpPr/>
          <p:nvPr/>
        </p:nvSpPr>
        <p:spPr>
          <a:xfrm>
            <a:off x="6210148" y="1847088"/>
            <a:ext cx="2602154" cy="1783080"/>
          </a:xfrm>
          <a:prstGeom prst="roundRect">
            <a:avLst>
              <a:gd name="adj" fmla="val 6154"/>
            </a:avLst>
          </a:prstGeom>
          <a:solidFill>
            <a:schemeClr val="bg1"/>
          </a:solidFill>
          <a:ln w="12700">
            <a:solidFill>
              <a:schemeClr val="bg1"/>
            </a:solidFill>
            <a:prstDash val="solid"/>
          </a:ln>
        </p:spPr>
      </p:sp>
      <p:sp>
        <p:nvSpPr>
          <p:cNvPr id="14" name="Text 12"/>
          <p:cNvSpPr txBox="1"/>
          <p:nvPr/>
        </p:nvSpPr>
        <p:spPr>
          <a:xfrm>
            <a:off x="6438748" y="2011680"/>
            <a:ext cx="2236394" cy="566928"/>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9 de 10</a:t>
            </a:r>
            <a:endParaRPr lang="en-US" sz="3400" dirty="0"/>
          </a:p>
        </p:txBody>
      </p:sp>
      <p:sp>
        <p:nvSpPr>
          <p:cNvPr id="15" name="Text 13"/>
          <p:cNvSpPr txBox="1"/>
          <p:nvPr/>
        </p:nvSpPr>
        <p:spPr>
          <a:xfrm>
            <a:off x="6438748" y="2624328"/>
            <a:ext cx="2190674" cy="685800"/>
          </a:xfrm>
          <a:prstGeom prst="rect">
            <a:avLst/>
          </a:prstGeom>
          <a:noFill/>
          <a:ln/>
        </p:spPr>
        <p:txBody>
          <a:bodyPr wrap="square" lIns="0" tIns="0" rIns="0" bIns="0" rtlCol="0" anchor="t"/>
          <a:lstStyle/>
          <a:p>
            <a:pPr indent="0" marL="0">
              <a:buNone/>
            </a:pPr>
            <a:r>
              <a:rPr lang="en-US" sz="1400" dirty="0">
                <a:solidFill>
                  <a:schemeClr val="tx1"/>
                </a:solidFill>
              </a:rPr>
              <a:t>cuidadoras dejaron de salir por falta de relevo o por el costo de explicar</a:t>
            </a:r>
            <a:endParaRPr lang="en-US" sz="1400" dirty="0"/>
          </a:p>
        </p:txBody>
      </p:sp>
      <p:sp>
        <p:nvSpPr>
          <p:cNvPr id="16" name="Text 14"/>
          <p:cNvSpPr txBox="1"/>
          <p:nvPr/>
        </p:nvSpPr>
        <p:spPr>
          <a:xfrm>
            <a:off x="6438748" y="3310128"/>
            <a:ext cx="2236394" cy="228600"/>
          </a:xfrm>
          <a:prstGeom prst="rect">
            <a:avLst/>
          </a:prstGeom>
          <a:noFill/>
          <a:ln/>
        </p:spPr>
        <p:txBody>
          <a:bodyPr wrap="square" lIns="0" tIns="0" rIns="0" bIns="0" rtlCol="0" anchor="t"/>
          <a:lstStyle/>
          <a:p>
            <a:pPr indent="0" marL="0">
              <a:buNone/>
            </a:pPr>
            <a:r>
              <a:rPr lang="en-US" sz="1100" dirty="0">
                <a:solidFill>
                  <a:schemeClr val="accent3"/>
                </a:solidFill>
              </a:rPr>
              <a:t>Entrevistas MATU, n = 10</a:t>
            </a:r>
            <a:endParaRPr lang="en-US" sz="1100" dirty="0"/>
          </a:p>
        </p:txBody>
      </p:sp>
      <p:sp>
        <p:nvSpPr>
          <p:cNvPr id="17" name="Cifra 6 de 9"/>
          <p:cNvSpPr/>
          <p:nvPr/>
        </p:nvSpPr>
        <p:spPr>
          <a:xfrm>
            <a:off x="9040901" y="1847088"/>
            <a:ext cx="2602154" cy="1783080"/>
          </a:xfrm>
          <a:prstGeom prst="roundRect">
            <a:avLst>
              <a:gd name="adj" fmla="val 6154"/>
            </a:avLst>
          </a:prstGeom>
          <a:solidFill>
            <a:schemeClr val="bg1"/>
          </a:solidFill>
          <a:ln w="12700">
            <a:solidFill>
              <a:schemeClr val="bg1"/>
            </a:solidFill>
            <a:prstDash val="solid"/>
          </a:ln>
        </p:spPr>
      </p:sp>
      <p:sp>
        <p:nvSpPr>
          <p:cNvPr id="18" name="Text 16"/>
          <p:cNvSpPr txBox="1"/>
          <p:nvPr/>
        </p:nvSpPr>
        <p:spPr>
          <a:xfrm>
            <a:off x="9269501" y="2011680"/>
            <a:ext cx="2236394" cy="566928"/>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6 de 9</a:t>
            </a:r>
            <a:endParaRPr lang="en-US" sz="3400" dirty="0"/>
          </a:p>
        </p:txBody>
      </p:sp>
      <p:sp>
        <p:nvSpPr>
          <p:cNvPr id="19" name="Text 17"/>
          <p:cNvSpPr txBox="1"/>
          <p:nvPr/>
        </p:nvSpPr>
        <p:spPr>
          <a:xfrm>
            <a:off x="9269501" y="2624328"/>
            <a:ext cx="2190674" cy="685800"/>
          </a:xfrm>
          <a:prstGeom prst="rect">
            <a:avLst/>
          </a:prstGeom>
          <a:noFill/>
          <a:ln/>
        </p:spPr>
        <p:txBody>
          <a:bodyPr wrap="square" lIns="0" tIns="0" rIns="0" bIns="0" rtlCol="0" anchor="t"/>
          <a:lstStyle/>
          <a:p>
            <a:pPr indent="0" marL="0">
              <a:buNone/>
            </a:pPr>
            <a:r>
              <a:rPr lang="en-US" sz="1400" dirty="0">
                <a:solidFill>
                  <a:schemeClr val="tx1"/>
                </a:solidFill>
              </a:rPr>
              <a:t>relevos relatados fallaron por algo que solo sabía la cuidadora</a:t>
            </a:r>
            <a:endParaRPr lang="en-US" sz="1400" dirty="0"/>
          </a:p>
        </p:txBody>
      </p:sp>
      <p:sp>
        <p:nvSpPr>
          <p:cNvPr id="20" name="Text 18"/>
          <p:cNvSpPr txBox="1"/>
          <p:nvPr/>
        </p:nvSpPr>
        <p:spPr>
          <a:xfrm>
            <a:off x="9269501" y="3310128"/>
            <a:ext cx="2236394" cy="228600"/>
          </a:xfrm>
          <a:prstGeom prst="rect">
            <a:avLst/>
          </a:prstGeom>
          <a:noFill/>
          <a:ln/>
        </p:spPr>
        <p:txBody>
          <a:bodyPr wrap="square" lIns="0" tIns="0" rIns="0" bIns="0" rtlCol="0" anchor="t"/>
          <a:lstStyle/>
          <a:p>
            <a:pPr indent="0" marL="0">
              <a:buNone/>
            </a:pPr>
            <a:r>
              <a:rPr lang="en-US" sz="1100" dirty="0">
                <a:solidFill>
                  <a:schemeClr val="accent3"/>
                </a:solidFill>
              </a:rPr>
              <a:t>Entrevistas MATU</a:t>
            </a:r>
            <a:endParaRPr lang="en-US" sz="1100" dirty="0"/>
          </a:p>
        </p:txBody>
      </p:sp>
      <p:sp>
        <p:nvSpPr>
          <p:cNvPr id="21" name="Text 19"/>
          <p:cNvSpPr txBox="1"/>
          <p:nvPr/>
        </p:nvSpPr>
        <p:spPr>
          <a:xfrm>
            <a:off x="548640" y="3840480"/>
            <a:ext cx="7315200" cy="320040"/>
          </a:xfrm>
          <a:prstGeom prst="rect">
            <a:avLst/>
          </a:prstGeom>
          <a:noFill/>
          <a:ln/>
        </p:spPr>
        <p:txBody>
          <a:bodyPr wrap="square" lIns="0" tIns="0" rIns="0" bIns="0" rtlCol="0" anchor="t"/>
          <a:lstStyle/>
          <a:p>
            <a:pPr indent="0" marL="0">
              <a:buNone/>
            </a:pPr>
            <a:r>
              <a:rPr lang="en-US" sz="1600" b="1" dirty="0">
                <a:solidFill>
                  <a:schemeClr val="tx2"/>
                </a:solidFill>
              </a:rPr>
              <a:t>La propuesta: MATU, en tres capas y en este orden</a:t>
            </a:r>
            <a:endParaRPr lang="en-US" sz="1600" dirty="0"/>
          </a:p>
        </p:txBody>
      </p:sp>
      <p:sp>
        <p:nvSpPr>
          <p:cNvPr id="22" name="Capa 1"/>
          <p:cNvSpPr/>
          <p:nvPr/>
        </p:nvSpPr>
        <p:spPr>
          <a:xfrm>
            <a:off x="548640" y="4206240"/>
            <a:ext cx="3545738" cy="1874520"/>
          </a:xfrm>
          <a:prstGeom prst="roundRect">
            <a:avLst>
              <a:gd name="adj" fmla="val 5854"/>
            </a:avLst>
          </a:prstGeom>
          <a:solidFill>
            <a:schemeClr val="accent4"/>
          </a:solidFill>
          <a:ln w="12700">
            <a:solidFill>
              <a:schemeClr val="accent4"/>
            </a:solidFill>
            <a:prstDash val="solid"/>
          </a:ln>
        </p:spPr>
      </p:sp>
      <p:sp>
        <p:nvSpPr>
          <p:cNvPr id="23" name="Número"/>
          <p:cNvSpPr txBox="1"/>
          <p:nvPr/>
        </p:nvSpPr>
        <p:spPr>
          <a:xfrm>
            <a:off x="777240" y="4434840"/>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24" name="Text 22"/>
          <p:cNvSpPr txBox="1"/>
          <p:nvPr/>
        </p:nvSpPr>
        <p:spPr>
          <a:xfrm>
            <a:off x="1371600" y="4434840"/>
            <a:ext cx="2539898" cy="457200"/>
          </a:xfrm>
          <a:prstGeom prst="rect">
            <a:avLst/>
          </a:prstGeom>
          <a:noFill/>
          <a:ln/>
        </p:spPr>
        <p:txBody>
          <a:bodyPr wrap="square" lIns="0" tIns="0" rIns="0" bIns="0" rtlCol="0" anchor="ctr"/>
          <a:lstStyle/>
          <a:p>
            <a:pPr indent="0" marL="0">
              <a:buNone/>
            </a:pPr>
            <a:r>
              <a:rPr lang="en-US" sz="1900" b="1" dirty="0">
                <a:solidFill>
                  <a:schemeClr val="tx1"/>
                </a:solidFill>
              </a:rPr>
              <a:t>Ficha de relevo</a:t>
            </a:r>
            <a:endParaRPr lang="en-US" sz="1900" dirty="0"/>
          </a:p>
        </p:txBody>
      </p:sp>
      <p:sp>
        <p:nvSpPr>
          <p:cNvPr id="25" name="Text 23"/>
          <p:cNvSpPr txBox="1"/>
          <p:nvPr/>
        </p:nvSpPr>
        <p:spPr>
          <a:xfrm>
            <a:off x="777240" y="5029200"/>
            <a:ext cx="3088538" cy="960120"/>
          </a:xfrm>
          <a:prstGeom prst="rect">
            <a:avLst/>
          </a:prstGeom>
          <a:noFill/>
          <a:ln/>
        </p:spPr>
        <p:txBody>
          <a:bodyPr wrap="square" lIns="0" tIns="0" rIns="0" bIns="0" rtlCol="0" anchor="t"/>
          <a:lstStyle/>
          <a:p>
            <a:pPr indent="0" marL="0">
              <a:buNone/>
            </a:pPr>
            <a:r>
              <a:rPr lang="en-US" sz="1500" dirty="0">
                <a:solidFill>
                  <a:schemeClr val="tx1"/>
                </a:solidFill>
              </a:rPr>
              <a:t>Su día, si se altera y a quién llamar. Se comparte con un enlace y un PIN, que vence y se puede cortar.</a:t>
            </a:r>
            <a:endParaRPr lang="en-US" sz="1500" dirty="0"/>
          </a:p>
        </p:txBody>
      </p:sp>
      <p:sp>
        <p:nvSpPr>
          <p:cNvPr id="26" name="Capa 2"/>
          <p:cNvSpPr/>
          <p:nvPr/>
        </p:nvSpPr>
        <p:spPr>
          <a:xfrm>
            <a:off x="4322978" y="4206240"/>
            <a:ext cx="3545738" cy="1874520"/>
          </a:xfrm>
          <a:prstGeom prst="roundRect">
            <a:avLst>
              <a:gd name="adj" fmla="val 5854"/>
            </a:avLst>
          </a:prstGeom>
          <a:solidFill>
            <a:schemeClr val="bg1"/>
          </a:solidFill>
          <a:ln w="12700">
            <a:solidFill>
              <a:schemeClr val="bg1"/>
            </a:solidFill>
            <a:prstDash val="solid"/>
          </a:ln>
        </p:spPr>
      </p:sp>
      <p:sp>
        <p:nvSpPr>
          <p:cNvPr id="27" name="Número"/>
          <p:cNvSpPr txBox="1"/>
          <p:nvPr/>
        </p:nvSpPr>
        <p:spPr>
          <a:xfrm>
            <a:off x="4551578" y="4434840"/>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28" name="Text 26"/>
          <p:cNvSpPr txBox="1"/>
          <p:nvPr/>
        </p:nvSpPr>
        <p:spPr>
          <a:xfrm>
            <a:off x="5145938" y="4434840"/>
            <a:ext cx="2539898" cy="457200"/>
          </a:xfrm>
          <a:prstGeom prst="rect">
            <a:avLst/>
          </a:prstGeom>
          <a:noFill/>
          <a:ln/>
        </p:spPr>
        <p:txBody>
          <a:bodyPr wrap="square" lIns="0" tIns="0" rIns="0" bIns="0" rtlCol="0" anchor="ctr"/>
          <a:lstStyle/>
          <a:p>
            <a:pPr indent="0" marL="0">
              <a:buNone/>
            </a:pPr>
            <a:r>
              <a:rPr lang="en-US" sz="1900" b="1" dirty="0">
                <a:solidFill>
                  <a:schemeClr val="tx1"/>
                </a:solidFill>
              </a:rPr>
              <a:t>Consumo y predicción</a:t>
            </a:r>
            <a:endParaRPr lang="en-US" sz="1900" dirty="0"/>
          </a:p>
        </p:txBody>
      </p:sp>
      <p:sp>
        <p:nvSpPr>
          <p:cNvPr id="29" name="Text 27"/>
          <p:cNvSpPr txBox="1"/>
          <p:nvPr/>
        </p:nvSpPr>
        <p:spPr>
          <a:xfrm>
            <a:off x="4551578" y="5029200"/>
            <a:ext cx="3088538" cy="960120"/>
          </a:xfrm>
          <a:prstGeom prst="rect">
            <a:avLst/>
          </a:prstGeom>
          <a:noFill/>
          <a:ln/>
        </p:spPr>
        <p:txBody>
          <a:bodyPr wrap="square" lIns="0" tIns="0" rIns="0" bIns="0" rtlCol="0" anchor="t"/>
          <a:lstStyle/>
          <a:p>
            <a:pPr indent="0" marL="0">
              <a:buNone/>
            </a:pPr>
            <a:r>
              <a:rPr lang="en-US" sz="1500" dirty="0">
                <a:solidFill>
                  <a:schemeClr val="tx1"/>
                </a:solidFill>
              </a:rPr>
              <a:t>La familia declara cuánto usa de cada insumo y MATU avisa antes de que se acabe.</a:t>
            </a:r>
            <a:endParaRPr lang="en-US" sz="1500" dirty="0"/>
          </a:p>
        </p:txBody>
      </p:sp>
      <p:sp>
        <p:nvSpPr>
          <p:cNvPr id="30" name="Capa 3"/>
          <p:cNvSpPr/>
          <p:nvPr/>
        </p:nvSpPr>
        <p:spPr>
          <a:xfrm>
            <a:off x="8097317" y="4206240"/>
            <a:ext cx="3545738" cy="1874520"/>
          </a:xfrm>
          <a:prstGeom prst="roundRect">
            <a:avLst>
              <a:gd name="adj" fmla="val 5854"/>
            </a:avLst>
          </a:prstGeom>
          <a:solidFill>
            <a:schemeClr val="bg1"/>
          </a:solidFill>
          <a:ln w="12700">
            <a:solidFill>
              <a:schemeClr val="bg1"/>
            </a:solidFill>
            <a:prstDash val="solid"/>
          </a:ln>
        </p:spPr>
      </p:sp>
      <p:sp>
        <p:nvSpPr>
          <p:cNvPr id="31" name="Número"/>
          <p:cNvSpPr txBox="1"/>
          <p:nvPr/>
        </p:nvSpPr>
        <p:spPr>
          <a:xfrm>
            <a:off x="8325917" y="4434840"/>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32" name="Text 30"/>
          <p:cNvSpPr txBox="1"/>
          <p:nvPr/>
        </p:nvSpPr>
        <p:spPr>
          <a:xfrm>
            <a:off x="8920277" y="4434840"/>
            <a:ext cx="2539898" cy="457200"/>
          </a:xfrm>
          <a:prstGeom prst="rect">
            <a:avLst/>
          </a:prstGeom>
          <a:noFill/>
          <a:ln/>
        </p:spPr>
        <p:txBody>
          <a:bodyPr wrap="square" lIns="0" tIns="0" rIns="0" bIns="0" rtlCol="0" anchor="ctr"/>
          <a:lstStyle/>
          <a:p>
            <a:pPr indent="0" marL="0">
              <a:buNone/>
            </a:pPr>
            <a:r>
              <a:rPr lang="en-US" sz="1900" b="1" dirty="0">
                <a:solidFill>
                  <a:schemeClr val="tx1"/>
                </a:solidFill>
              </a:rPr>
              <a:t>Despacho</a:t>
            </a:r>
            <a:endParaRPr lang="en-US" sz="1900" dirty="0"/>
          </a:p>
        </p:txBody>
      </p:sp>
      <p:sp>
        <p:nvSpPr>
          <p:cNvPr id="33" name="Text 31"/>
          <p:cNvSpPr txBox="1"/>
          <p:nvPr/>
        </p:nvSpPr>
        <p:spPr>
          <a:xfrm>
            <a:off x="8325917" y="5029200"/>
            <a:ext cx="3088538" cy="960120"/>
          </a:xfrm>
          <a:prstGeom prst="rect">
            <a:avLst/>
          </a:prstGeom>
          <a:noFill/>
          <a:ln/>
        </p:spPr>
        <p:txBody>
          <a:bodyPr wrap="square" lIns="0" tIns="0" rIns="0" bIns="0" rtlCol="0" anchor="t"/>
          <a:lstStyle/>
          <a:p>
            <a:pPr indent="0" marL="0">
              <a:buNone/>
            </a:pPr>
            <a:r>
              <a:rPr lang="en-US" sz="1500" dirty="0">
                <a:solidFill>
                  <a:schemeClr val="tx1"/>
                </a:solidFill>
              </a:rPr>
              <a:t>Pedido a comercios en convenio con precio exacto y un solo cobro. Se puede quitar sin romper lo demás.</a:t>
            </a:r>
            <a:endParaRPr lang="en-US" sz="15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OBJETIVO GENERAL</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Qué nos comprometimos a construir</a:t>
            </a:r>
            <a:endParaRPr lang="en-US" sz="3200" dirty="0"/>
          </a:p>
        </p:txBody>
      </p:sp>
      <p:sp>
        <p:nvSpPr>
          <p:cNvPr id="4" name="Objetivo general"/>
          <p:cNvSpPr/>
          <p:nvPr/>
        </p:nvSpPr>
        <p:spPr>
          <a:xfrm>
            <a:off x="548640" y="1600200"/>
            <a:ext cx="11094415" cy="2514600"/>
          </a:xfrm>
          <a:prstGeom prst="roundRect">
            <a:avLst>
              <a:gd name="adj" fmla="val 4364"/>
            </a:avLst>
          </a:prstGeom>
          <a:solidFill>
            <a:schemeClr val="bg1"/>
          </a:solidFill>
          <a:ln w="12700">
            <a:solidFill>
              <a:schemeClr val="bg1"/>
            </a:solidFill>
            <a:prstDash val="solid"/>
          </a:ln>
        </p:spPr>
      </p:sp>
      <p:sp>
        <p:nvSpPr>
          <p:cNvPr id="5" name="Círculo de ícono"/>
          <p:cNvSpPr/>
          <p:nvPr/>
        </p:nvSpPr>
        <p:spPr>
          <a:xfrm>
            <a:off x="960120" y="1965960"/>
            <a:ext cx="1097280" cy="1097280"/>
          </a:xfrm>
          <a:prstGeom prst="ellipse">
            <a:avLst/>
          </a:prstGeom>
          <a:solidFill>
            <a:schemeClr val="tx2"/>
          </a:solidFill>
          <a:ln w="12700">
            <a:solidFill>
              <a:schemeClr val="tx2"/>
            </a:solidFill>
            <a:prstDash val="solid"/>
          </a:ln>
        </p:spPr>
      </p:sp>
      <p:pic>
        <p:nvPicPr>
          <p:cNvPr id="6" name="Image 0" descr="Ícono Target">    </p:cNvPr>
          <p:cNvPicPr>
            <a:picLocks noChangeAspect="1"/>
          </p:cNvPicPr>
          <p:nvPr/>
        </p:nvPicPr>
        <p:blipFill>
          <a:blip r:embed="rId1"/>
          <a:stretch>
            <a:fillRect/>
          </a:stretch>
        </p:blipFill>
        <p:spPr>
          <a:xfrm>
            <a:off x="1223467" y="2229307"/>
            <a:ext cx="570586" cy="570586"/>
          </a:xfrm>
          <a:prstGeom prst="rect">
            <a:avLst/>
          </a:prstGeom>
        </p:spPr>
      </p:pic>
      <p:sp>
        <p:nvSpPr>
          <p:cNvPr id="7" name="Text 4"/>
          <p:cNvSpPr txBox="1"/>
          <p:nvPr/>
        </p:nvSpPr>
        <p:spPr>
          <a:xfrm>
            <a:off x="2377440" y="1828800"/>
            <a:ext cx="8778240" cy="2103120"/>
          </a:xfrm>
          <a:prstGeom prst="rect">
            <a:avLst/>
          </a:prstGeom>
          <a:noFill/>
          <a:ln/>
        </p:spPr>
        <p:txBody>
          <a:bodyPr wrap="square" lIns="0" tIns="0" rIns="0" bIns="0" rtlCol="0" anchor="ctr"/>
          <a:lstStyle/>
          <a:p>
            <a:pPr indent="0" marL="0">
              <a:buNone/>
            </a:pPr>
            <a:r>
              <a:rPr lang="en-US" sz="2200" dirty="0">
                <a:solidFill>
                  <a:schemeClr val="tx1"/>
                </a:solidFill>
                <a:latin typeface="+mj-lt" pitchFamily="34" charset="0"/>
                <a:ea typeface="+mj-lt" pitchFamily="34" charset="-122"/>
                <a:cs typeface="+mj-lt" pitchFamily="34" charset="-120"/>
              </a:rPr>
              <a:t>Desarrollar una plataforma de software que convierta el plan de cuidado de una persona mayor con dependencia en una predicción de quiebre de insumos y coordine su reposición y pago, desplegada y operativa en un entorno de demostración al cierre del semestre 2026-2.</a:t>
            </a:r>
            <a:endParaRPr lang="en-US" sz="2200" dirty="0"/>
          </a:p>
        </p:txBody>
      </p:sp>
      <p:sp>
        <p:nvSpPr>
          <p:cNvPr id="8" name="Paso 1"/>
          <p:cNvSpPr/>
          <p:nvPr/>
        </p:nvSpPr>
        <p:spPr>
          <a:xfrm>
            <a:off x="548640" y="4526280"/>
            <a:ext cx="2331720" cy="1234440"/>
          </a:xfrm>
          <a:prstGeom prst="roundRect">
            <a:avLst>
              <a:gd name="adj" fmla="val 8889"/>
            </a:avLst>
          </a:prstGeom>
          <a:solidFill>
            <a:schemeClr val="accent4"/>
          </a:solidFill>
          <a:ln w="12700">
            <a:solidFill>
              <a:schemeClr val="accent4"/>
            </a:solidFill>
            <a:prstDash val="solid"/>
          </a:ln>
        </p:spPr>
      </p:sp>
      <p:sp>
        <p:nvSpPr>
          <p:cNvPr id="9" name="Círculo de ícono"/>
          <p:cNvSpPr/>
          <p:nvPr/>
        </p:nvSpPr>
        <p:spPr>
          <a:xfrm>
            <a:off x="731520" y="4846320"/>
            <a:ext cx="594360" cy="594360"/>
          </a:xfrm>
          <a:prstGeom prst="ellipse">
            <a:avLst/>
          </a:prstGeom>
          <a:solidFill>
            <a:schemeClr val="accent1"/>
          </a:solidFill>
          <a:ln w="12700">
            <a:solidFill>
              <a:schemeClr val="accent1"/>
            </a:solidFill>
            <a:prstDash val="solid"/>
          </a:ln>
        </p:spPr>
      </p:sp>
      <p:pic>
        <p:nvPicPr>
          <p:cNvPr id="10" name="Image 1" descr="Ícono ClipboardList">    </p:cNvPr>
          <p:cNvPicPr>
            <a:picLocks noChangeAspect="1"/>
          </p:cNvPicPr>
          <p:nvPr/>
        </p:nvPicPr>
        <p:blipFill>
          <a:blip r:embed="rId2"/>
          <a:stretch>
            <a:fillRect/>
          </a:stretch>
        </p:blipFill>
        <p:spPr>
          <a:xfrm>
            <a:off x="874166" y="4988966"/>
            <a:ext cx="309067" cy="309067"/>
          </a:xfrm>
          <a:prstGeom prst="rect">
            <a:avLst/>
          </a:prstGeom>
        </p:spPr>
      </p:pic>
      <p:sp>
        <p:nvSpPr>
          <p:cNvPr id="11" name="Text 7"/>
          <p:cNvSpPr txBox="1"/>
          <p:nvPr/>
        </p:nvSpPr>
        <p:spPr>
          <a:xfrm>
            <a:off x="1463040" y="4709160"/>
            <a:ext cx="1280160" cy="868680"/>
          </a:xfrm>
          <a:prstGeom prst="rect">
            <a:avLst/>
          </a:prstGeom>
          <a:noFill/>
          <a:ln/>
        </p:spPr>
        <p:txBody>
          <a:bodyPr wrap="square" lIns="0" tIns="0" rIns="0" bIns="0" rtlCol="0" anchor="ctr"/>
          <a:lstStyle/>
          <a:p>
            <a:pPr indent="0" marL="0">
              <a:buNone/>
            </a:pPr>
            <a:r>
              <a:rPr lang="en-US" sz="1500" b="1" dirty="0">
                <a:solidFill>
                  <a:schemeClr val="tx1"/>
                </a:solidFill>
              </a:rPr>
              <a:t>Plan de cuidado</a:t>
            </a:r>
            <a:endParaRPr lang="en-US" sz="1500" dirty="0"/>
          </a:p>
        </p:txBody>
      </p:sp>
      <p:sp>
        <p:nvSpPr>
          <p:cNvPr id="12" name="Conector"/>
          <p:cNvSpPr/>
          <p:nvPr/>
        </p:nvSpPr>
        <p:spPr>
          <a:xfrm>
            <a:off x="2953512" y="5143500"/>
            <a:ext cx="442874" cy="914"/>
          </a:xfrm>
          <a:prstGeom prst="line">
            <a:avLst/>
          </a:prstGeom>
          <a:noFill/>
          <a:ln w="25400">
            <a:solidFill>
              <a:schemeClr val="tx2"/>
            </a:solidFill>
            <a:prstDash val="solid"/>
            <a:tailEnd type="triangle"/>
          </a:ln>
        </p:spPr>
      </p:sp>
      <p:sp>
        <p:nvSpPr>
          <p:cNvPr id="13" name="Paso 2"/>
          <p:cNvSpPr/>
          <p:nvPr/>
        </p:nvSpPr>
        <p:spPr>
          <a:xfrm>
            <a:off x="3469538" y="4526280"/>
            <a:ext cx="2331720" cy="1234440"/>
          </a:xfrm>
          <a:prstGeom prst="roundRect">
            <a:avLst>
              <a:gd name="adj" fmla="val 8889"/>
            </a:avLst>
          </a:prstGeom>
          <a:solidFill>
            <a:schemeClr val="bg1"/>
          </a:solidFill>
          <a:ln w="12700">
            <a:solidFill>
              <a:schemeClr val="bg1"/>
            </a:solidFill>
            <a:prstDash val="solid"/>
          </a:ln>
        </p:spPr>
      </p:sp>
      <p:sp>
        <p:nvSpPr>
          <p:cNvPr id="14" name="Círculo de ícono"/>
          <p:cNvSpPr/>
          <p:nvPr/>
        </p:nvSpPr>
        <p:spPr>
          <a:xfrm>
            <a:off x="3652418" y="4846320"/>
            <a:ext cx="594360" cy="594360"/>
          </a:xfrm>
          <a:prstGeom prst="ellipse">
            <a:avLst/>
          </a:prstGeom>
          <a:solidFill>
            <a:schemeClr val="accent1"/>
          </a:solidFill>
          <a:ln w="12700">
            <a:solidFill>
              <a:schemeClr val="accent1"/>
            </a:solidFill>
            <a:prstDash val="solid"/>
          </a:ln>
        </p:spPr>
      </p:sp>
      <p:pic>
        <p:nvPicPr>
          <p:cNvPr id="15" name="Image 2" descr="Ícono CalendarClock">    </p:cNvPr>
          <p:cNvPicPr>
            <a:picLocks noChangeAspect="1"/>
          </p:cNvPicPr>
          <p:nvPr/>
        </p:nvPicPr>
        <p:blipFill>
          <a:blip r:embed="rId3"/>
          <a:stretch>
            <a:fillRect/>
          </a:stretch>
        </p:blipFill>
        <p:spPr>
          <a:xfrm>
            <a:off x="3795065" y="4988966"/>
            <a:ext cx="309067" cy="309067"/>
          </a:xfrm>
          <a:prstGeom prst="rect">
            <a:avLst/>
          </a:prstGeom>
        </p:spPr>
      </p:pic>
      <p:sp>
        <p:nvSpPr>
          <p:cNvPr id="16" name="Text 11"/>
          <p:cNvSpPr txBox="1"/>
          <p:nvPr/>
        </p:nvSpPr>
        <p:spPr>
          <a:xfrm>
            <a:off x="4383938" y="4709160"/>
            <a:ext cx="1280160" cy="868680"/>
          </a:xfrm>
          <a:prstGeom prst="rect">
            <a:avLst/>
          </a:prstGeom>
          <a:noFill/>
          <a:ln/>
        </p:spPr>
        <p:txBody>
          <a:bodyPr wrap="square" lIns="0" tIns="0" rIns="0" bIns="0" rtlCol="0" anchor="ctr"/>
          <a:lstStyle/>
          <a:p>
            <a:pPr indent="0" marL="0">
              <a:buNone/>
            </a:pPr>
            <a:r>
              <a:rPr lang="en-US" sz="1500" b="1" dirty="0">
                <a:solidFill>
                  <a:schemeClr val="tx1"/>
                </a:solidFill>
              </a:rPr>
              <a:t>Predicción de cuándo se acaba</a:t>
            </a:r>
            <a:endParaRPr lang="en-US" sz="1500" dirty="0"/>
          </a:p>
        </p:txBody>
      </p:sp>
      <p:sp>
        <p:nvSpPr>
          <p:cNvPr id="17" name="Conector"/>
          <p:cNvSpPr/>
          <p:nvPr/>
        </p:nvSpPr>
        <p:spPr>
          <a:xfrm>
            <a:off x="5874410" y="5143500"/>
            <a:ext cx="442874" cy="914"/>
          </a:xfrm>
          <a:prstGeom prst="line">
            <a:avLst/>
          </a:prstGeom>
          <a:noFill/>
          <a:ln w="25400">
            <a:solidFill>
              <a:schemeClr val="tx2"/>
            </a:solidFill>
            <a:prstDash val="solid"/>
            <a:tailEnd type="triangle"/>
          </a:ln>
        </p:spPr>
      </p:sp>
      <p:sp>
        <p:nvSpPr>
          <p:cNvPr id="18" name="Paso 3"/>
          <p:cNvSpPr/>
          <p:nvPr/>
        </p:nvSpPr>
        <p:spPr>
          <a:xfrm>
            <a:off x="6390437" y="4526280"/>
            <a:ext cx="2331720" cy="1234440"/>
          </a:xfrm>
          <a:prstGeom prst="roundRect">
            <a:avLst>
              <a:gd name="adj" fmla="val 8889"/>
            </a:avLst>
          </a:prstGeom>
          <a:solidFill>
            <a:schemeClr val="bg1"/>
          </a:solidFill>
          <a:ln w="12700">
            <a:solidFill>
              <a:schemeClr val="bg1"/>
            </a:solidFill>
            <a:prstDash val="solid"/>
          </a:ln>
        </p:spPr>
      </p:sp>
      <p:sp>
        <p:nvSpPr>
          <p:cNvPr id="19" name="Círculo de ícono"/>
          <p:cNvSpPr/>
          <p:nvPr/>
        </p:nvSpPr>
        <p:spPr>
          <a:xfrm>
            <a:off x="6573317" y="4846320"/>
            <a:ext cx="594360" cy="594360"/>
          </a:xfrm>
          <a:prstGeom prst="ellipse">
            <a:avLst/>
          </a:prstGeom>
          <a:solidFill>
            <a:schemeClr val="accent1"/>
          </a:solidFill>
          <a:ln w="12700">
            <a:solidFill>
              <a:schemeClr val="accent1"/>
            </a:solidFill>
            <a:prstDash val="solid"/>
          </a:ln>
        </p:spPr>
      </p:sp>
      <p:pic>
        <p:nvPicPr>
          <p:cNvPr id="20" name="Image 3" descr="Ícono ShoppingCart">    </p:cNvPr>
          <p:cNvPicPr>
            <a:picLocks noChangeAspect="1"/>
          </p:cNvPicPr>
          <p:nvPr/>
        </p:nvPicPr>
        <p:blipFill>
          <a:blip r:embed="rId4"/>
          <a:stretch>
            <a:fillRect/>
          </a:stretch>
        </p:blipFill>
        <p:spPr>
          <a:xfrm>
            <a:off x="6715963" y="4988966"/>
            <a:ext cx="309067" cy="309067"/>
          </a:xfrm>
          <a:prstGeom prst="rect">
            <a:avLst/>
          </a:prstGeom>
        </p:spPr>
      </p:pic>
      <p:sp>
        <p:nvSpPr>
          <p:cNvPr id="21" name="Text 15"/>
          <p:cNvSpPr txBox="1"/>
          <p:nvPr/>
        </p:nvSpPr>
        <p:spPr>
          <a:xfrm>
            <a:off x="7304837" y="4709160"/>
            <a:ext cx="1280160" cy="868680"/>
          </a:xfrm>
          <a:prstGeom prst="rect">
            <a:avLst/>
          </a:prstGeom>
          <a:noFill/>
          <a:ln/>
        </p:spPr>
        <p:txBody>
          <a:bodyPr wrap="square" lIns="0" tIns="0" rIns="0" bIns="0" rtlCol="0" anchor="ctr"/>
          <a:lstStyle/>
          <a:p>
            <a:pPr indent="0" marL="0">
              <a:buNone/>
            </a:pPr>
            <a:r>
              <a:rPr lang="en-US" sz="1500" b="1" dirty="0">
                <a:solidFill>
                  <a:schemeClr val="tx1"/>
                </a:solidFill>
              </a:rPr>
              <a:t>Reposición y pago</a:t>
            </a:r>
            <a:endParaRPr lang="en-US" sz="1500" dirty="0"/>
          </a:p>
        </p:txBody>
      </p:sp>
      <p:sp>
        <p:nvSpPr>
          <p:cNvPr id="22" name="Conector"/>
          <p:cNvSpPr/>
          <p:nvPr/>
        </p:nvSpPr>
        <p:spPr>
          <a:xfrm>
            <a:off x="8795309" y="5143500"/>
            <a:ext cx="442874" cy="914"/>
          </a:xfrm>
          <a:prstGeom prst="line">
            <a:avLst/>
          </a:prstGeom>
          <a:noFill/>
          <a:ln w="25400">
            <a:solidFill>
              <a:schemeClr val="tx2"/>
            </a:solidFill>
            <a:prstDash val="solid"/>
            <a:tailEnd type="triangle"/>
          </a:ln>
        </p:spPr>
      </p:sp>
      <p:sp>
        <p:nvSpPr>
          <p:cNvPr id="23" name="Paso 4"/>
          <p:cNvSpPr/>
          <p:nvPr/>
        </p:nvSpPr>
        <p:spPr>
          <a:xfrm>
            <a:off x="9311335" y="4526280"/>
            <a:ext cx="2331720" cy="1234440"/>
          </a:xfrm>
          <a:prstGeom prst="roundRect">
            <a:avLst>
              <a:gd name="adj" fmla="val 8889"/>
            </a:avLst>
          </a:prstGeom>
          <a:solidFill>
            <a:schemeClr val="bg1"/>
          </a:solidFill>
          <a:ln w="12700">
            <a:solidFill>
              <a:schemeClr val="bg1"/>
            </a:solidFill>
            <a:prstDash val="solid"/>
          </a:ln>
        </p:spPr>
      </p:sp>
      <p:sp>
        <p:nvSpPr>
          <p:cNvPr id="24" name="Círculo de ícono"/>
          <p:cNvSpPr/>
          <p:nvPr/>
        </p:nvSpPr>
        <p:spPr>
          <a:xfrm>
            <a:off x="9494215" y="4846320"/>
            <a:ext cx="594360" cy="594360"/>
          </a:xfrm>
          <a:prstGeom prst="ellipse">
            <a:avLst/>
          </a:prstGeom>
          <a:solidFill>
            <a:schemeClr val="accent1"/>
          </a:solidFill>
          <a:ln w="12700">
            <a:solidFill>
              <a:schemeClr val="accent1"/>
            </a:solidFill>
            <a:prstDash val="solid"/>
          </a:ln>
        </p:spPr>
      </p:sp>
      <p:pic>
        <p:nvPicPr>
          <p:cNvPr id="25" name="Image 4" descr="Ícono MonitorSmartphone">    </p:cNvPr>
          <p:cNvPicPr>
            <a:picLocks noChangeAspect="1"/>
          </p:cNvPicPr>
          <p:nvPr/>
        </p:nvPicPr>
        <p:blipFill>
          <a:blip r:embed="rId5"/>
          <a:stretch>
            <a:fillRect/>
          </a:stretch>
        </p:blipFill>
        <p:spPr>
          <a:xfrm>
            <a:off x="9636862" y="4988966"/>
            <a:ext cx="309067" cy="309067"/>
          </a:xfrm>
          <a:prstGeom prst="rect">
            <a:avLst/>
          </a:prstGeom>
        </p:spPr>
      </p:pic>
      <p:sp>
        <p:nvSpPr>
          <p:cNvPr id="26" name="Text 19"/>
          <p:cNvSpPr txBox="1"/>
          <p:nvPr/>
        </p:nvSpPr>
        <p:spPr>
          <a:xfrm>
            <a:off x="10225735" y="4709160"/>
            <a:ext cx="1280160" cy="868680"/>
          </a:xfrm>
          <a:prstGeom prst="rect">
            <a:avLst/>
          </a:prstGeom>
          <a:noFill/>
          <a:ln/>
        </p:spPr>
        <p:txBody>
          <a:bodyPr wrap="square" lIns="0" tIns="0" rIns="0" bIns="0" rtlCol="0" anchor="ctr"/>
          <a:lstStyle/>
          <a:p>
            <a:pPr indent="0" marL="0">
              <a:buNone/>
            </a:pPr>
            <a:r>
              <a:rPr lang="en-US" sz="1500" b="1" dirty="0">
                <a:solidFill>
                  <a:schemeClr val="tx1"/>
                </a:solidFill>
              </a:rPr>
              <a:t>Entorno de demostración</a:t>
            </a:r>
            <a:endParaRPr lang="en-US" sz="1500" dirty="0"/>
          </a:p>
        </p:txBody>
      </p:sp>
      <p:sp>
        <p:nvSpPr>
          <p:cNvPr id="27" name="Text 20"/>
          <p:cNvSpPr txBox="1"/>
          <p:nvPr/>
        </p:nvSpPr>
        <p:spPr>
          <a:xfrm>
            <a:off x="548640" y="5897880"/>
            <a:ext cx="7315200" cy="274320"/>
          </a:xfrm>
          <a:prstGeom prst="rect">
            <a:avLst/>
          </a:prstGeom>
          <a:noFill/>
          <a:ln/>
        </p:spPr>
        <p:txBody>
          <a:bodyPr wrap="square" lIns="0" tIns="0" rIns="0" bIns="0" rtlCol="0" anchor="t"/>
          <a:lstStyle/>
          <a:p>
            <a:pPr indent="0" marL="0">
              <a:buNone/>
            </a:pPr>
            <a:r>
              <a:rPr lang="en-US" sz="1100" dirty="0">
                <a:solidFill>
                  <a:schemeClr val="accent3"/>
                </a:solidFill>
              </a:rPr>
              <a:t>Fuente: presentación de la Fase 1, lámina de objetivos.</a:t>
            </a:r>
            <a:endParaRPr lang="en-US" sz="11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OBJETIVOS ESPECÍFICOS</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Siete objetivos, cada uno con su sprint</a:t>
            </a:r>
            <a:endParaRPr lang="en-US" sz="3200" dirty="0"/>
          </a:p>
        </p:txBody>
      </p:sp>
      <p:sp>
        <p:nvSpPr>
          <p:cNvPr id="4" name="Text 2"/>
          <p:cNvSpPr txBox="1"/>
          <p:nvPr/>
        </p:nvSpPr>
        <p:spPr>
          <a:xfrm>
            <a:off x="1417320" y="1481328"/>
            <a:ext cx="2743200" cy="274320"/>
          </a:xfrm>
          <a:prstGeom prst="rect">
            <a:avLst/>
          </a:prstGeom>
          <a:noFill/>
          <a:ln/>
        </p:spPr>
        <p:txBody>
          <a:bodyPr wrap="square" lIns="0" tIns="0" rIns="0" bIns="0" rtlCol="0" anchor="t"/>
          <a:lstStyle/>
          <a:p>
            <a:pPr indent="0" marL="0">
              <a:buNone/>
            </a:pPr>
            <a:r>
              <a:rPr lang="en-US" sz="1300" b="1" dirty="0">
                <a:solidFill>
                  <a:schemeClr val="accent3"/>
                </a:solidFill>
              </a:rPr>
              <a:t>Objetivo</a:t>
            </a:r>
            <a:endParaRPr lang="en-US" sz="1300" dirty="0"/>
          </a:p>
        </p:txBody>
      </p:sp>
      <p:sp>
        <p:nvSpPr>
          <p:cNvPr id="5" name="Text 3"/>
          <p:cNvSpPr txBox="1"/>
          <p:nvPr/>
        </p:nvSpPr>
        <p:spPr>
          <a:xfrm>
            <a:off x="8366760" y="1481328"/>
            <a:ext cx="1280160" cy="274320"/>
          </a:xfrm>
          <a:prstGeom prst="rect">
            <a:avLst/>
          </a:prstGeom>
          <a:noFill/>
          <a:ln/>
        </p:spPr>
        <p:txBody>
          <a:bodyPr wrap="square" lIns="0" tIns="0" rIns="0" bIns="0" rtlCol="0" anchor="t"/>
          <a:lstStyle/>
          <a:p>
            <a:pPr algn="ctr" indent="0" marL="0">
              <a:buNone/>
            </a:pPr>
            <a:r>
              <a:rPr lang="en-US" sz="1300" b="1" dirty="0">
                <a:solidFill>
                  <a:schemeClr val="accent3"/>
                </a:solidFill>
              </a:rPr>
              <a:t>Sprint</a:t>
            </a:r>
            <a:endParaRPr lang="en-US" sz="1300" dirty="0"/>
          </a:p>
        </p:txBody>
      </p:sp>
      <p:sp>
        <p:nvSpPr>
          <p:cNvPr id="6" name="Text 4"/>
          <p:cNvSpPr txBox="1"/>
          <p:nvPr/>
        </p:nvSpPr>
        <p:spPr>
          <a:xfrm>
            <a:off x="9829800" y="1481328"/>
            <a:ext cx="1600200" cy="274320"/>
          </a:xfrm>
          <a:prstGeom prst="rect">
            <a:avLst/>
          </a:prstGeom>
          <a:noFill/>
          <a:ln/>
        </p:spPr>
        <p:txBody>
          <a:bodyPr wrap="square" lIns="0" tIns="0" rIns="0" bIns="0" rtlCol="0" anchor="t"/>
          <a:lstStyle/>
          <a:p>
            <a:pPr algn="ctr" indent="0" marL="0">
              <a:buNone/>
            </a:pPr>
            <a:r>
              <a:rPr lang="en-US" sz="1300" b="1" dirty="0">
                <a:solidFill>
                  <a:schemeClr val="accent3"/>
                </a:solidFill>
              </a:rPr>
              <a:t>Estado</a:t>
            </a:r>
            <a:endParaRPr lang="en-US" sz="1300" dirty="0"/>
          </a:p>
        </p:txBody>
      </p:sp>
      <p:sp>
        <p:nvSpPr>
          <p:cNvPr id="7" name="Objetivo 1"/>
          <p:cNvSpPr/>
          <p:nvPr/>
        </p:nvSpPr>
        <p:spPr>
          <a:xfrm>
            <a:off x="548640" y="1810512"/>
            <a:ext cx="11094415" cy="512064"/>
          </a:xfrm>
          <a:prstGeom prst="roundRect">
            <a:avLst>
              <a:gd name="adj" fmla="val 21429"/>
            </a:avLst>
          </a:prstGeom>
          <a:solidFill>
            <a:schemeClr val="bg1"/>
          </a:solidFill>
          <a:ln w="12700">
            <a:solidFill>
              <a:schemeClr val="bg1"/>
            </a:solidFill>
            <a:prstDash val="solid"/>
          </a:ln>
        </p:spPr>
      </p:sp>
      <p:sp>
        <p:nvSpPr>
          <p:cNvPr id="8" name="Número"/>
          <p:cNvSpPr txBox="1"/>
          <p:nvPr/>
        </p:nvSpPr>
        <p:spPr>
          <a:xfrm>
            <a:off x="777240" y="1892808"/>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17320" y="1865376"/>
            <a:ext cx="7315200" cy="402336"/>
          </a:xfrm>
          <a:prstGeom prst="rect">
            <a:avLst/>
          </a:prstGeom>
          <a:noFill/>
          <a:ln/>
        </p:spPr>
        <p:txBody>
          <a:bodyPr wrap="square" lIns="0" tIns="0" rIns="0" bIns="0" rtlCol="0" anchor="ctr"/>
          <a:lstStyle/>
          <a:p>
            <a:pPr indent="0" marL="0">
              <a:buNone/>
            </a:pPr>
            <a:r>
              <a:rPr lang="en-US" sz="1600" dirty="0">
                <a:solidFill>
                  <a:schemeClr val="tx1"/>
                </a:solidFill>
              </a:rPr>
              <a:t>Validar las siete hipótesis con criterios de falsación escritos</a:t>
            </a:r>
            <a:endParaRPr lang="en-US" sz="1600" dirty="0"/>
          </a:p>
        </p:txBody>
      </p:sp>
      <p:sp>
        <p:nvSpPr>
          <p:cNvPr id="10" name="Etiqueta"/>
          <p:cNvSpPr txBox="1"/>
          <p:nvPr/>
        </p:nvSpPr>
        <p:spPr>
          <a:xfrm>
            <a:off x="8366760" y="1901952"/>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Fase 1</a:t>
            </a:r>
            <a:endParaRPr lang="en-US" sz="1300" dirty="0"/>
          </a:p>
        </p:txBody>
      </p:sp>
      <p:sp>
        <p:nvSpPr>
          <p:cNvPr id="11" name="Etiqueta"/>
          <p:cNvSpPr txBox="1"/>
          <p:nvPr/>
        </p:nvSpPr>
        <p:spPr>
          <a:xfrm>
            <a:off x="9829800" y="1901952"/>
            <a:ext cx="1600200" cy="329184"/>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300" b="1" dirty="0">
                <a:solidFill>
                  <a:schemeClr val="bg1"/>
                </a:solidFill>
              </a:rPr>
              <a:t>● Cumplido</a:t>
            </a:r>
            <a:endParaRPr lang="en-US" sz="1300" dirty="0"/>
          </a:p>
        </p:txBody>
      </p:sp>
      <p:sp>
        <p:nvSpPr>
          <p:cNvPr id="12" name="Objetivo 2"/>
          <p:cNvSpPr/>
          <p:nvPr/>
        </p:nvSpPr>
        <p:spPr>
          <a:xfrm>
            <a:off x="548640" y="2414016"/>
            <a:ext cx="11094415" cy="512064"/>
          </a:xfrm>
          <a:prstGeom prst="roundRect">
            <a:avLst>
              <a:gd name="adj" fmla="val 21429"/>
            </a:avLst>
          </a:prstGeom>
          <a:solidFill>
            <a:schemeClr val="bg1"/>
          </a:solidFill>
          <a:ln w="12700">
            <a:solidFill>
              <a:schemeClr val="bg1"/>
            </a:solidFill>
            <a:prstDash val="solid"/>
          </a:ln>
        </p:spPr>
      </p:sp>
      <p:sp>
        <p:nvSpPr>
          <p:cNvPr id="13" name="Número"/>
          <p:cNvSpPr txBox="1"/>
          <p:nvPr/>
        </p:nvSpPr>
        <p:spPr>
          <a:xfrm>
            <a:off x="777240" y="2496312"/>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2"/>
          <p:cNvSpPr txBox="1"/>
          <p:nvPr/>
        </p:nvSpPr>
        <p:spPr>
          <a:xfrm>
            <a:off x="1417320" y="2468880"/>
            <a:ext cx="7315200" cy="402336"/>
          </a:xfrm>
          <a:prstGeom prst="rect">
            <a:avLst/>
          </a:prstGeom>
          <a:noFill/>
          <a:ln/>
        </p:spPr>
        <p:txBody>
          <a:bodyPr wrap="square" lIns="0" tIns="0" rIns="0" bIns="0" rtlCol="0" anchor="ctr"/>
          <a:lstStyle/>
          <a:p>
            <a:pPr indent="0" marL="0">
              <a:buNone/>
            </a:pPr>
            <a:r>
              <a:rPr lang="en-US" sz="1600" dirty="0">
                <a:solidFill>
                  <a:schemeClr val="tx1"/>
                </a:solidFill>
              </a:rPr>
              <a:t>Modelo de datos multi-inquilino con aislamiento probado</a:t>
            </a:r>
            <a:endParaRPr lang="en-US" sz="1600" dirty="0"/>
          </a:p>
        </p:txBody>
      </p:sp>
      <p:sp>
        <p:nvSpPr>
          <p:cNvPr id="15" name="Etiqueta"/>
          <p:cNvSpPr txBox="1"/>
          <p:nvPr/>
        </p:nvSpPr>
        <p:spPr>
          <a:xfrm>
            <a:off x="8366760" y="2505456"/>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Sprint 1</a:t>
            </a:r>
            <a:endParaRPr lang="en-US" sz="1300" dirty="0"/>
          </a:p>
        </p:txBody>
      </p:sp>
      <p:sp>
        <p:nvSpPr>
          <p:cNvPr id="16" name="Etiqueta"/>
          <p:cNvSpPr txBox="1"/>
          <p:nvPr/>
        </p:nvSpPr>
        <p:spPr>
          <a:xfrm>
            <a:off x="9829800" y="2505456"/>
            <a:ext cx="1600200" cy="329184"/>
          </a:xfrm>
          <a:prstGeom prst="roundRect">
            <a:avLst>
              <a:gd name="adj" fmla="val 50000"/>
            </a:avLst>
          </a:prstGeom>
          <a:solidFill>
            <a:schemeClr val="accent5"/>
          </a:solidFill>
          <a:ln>
            <a:solidFill>
              <a:schemeClr val="accent5"/>
            </a:solidFill>
          </a:ln>
        </p:spPr>
        <p:txBody>
          <a:bodyPr wrap="square" lIns="0" tIns="0" rIns="0" bIns="0" rtlCol="0" anchor="ctr"/>
          <a:lstStyle/>
          <a:p>
            <a:pPr algn="ctr" indent="0" marL="0">
              <a:buNone/>
            </a:pPr>
            <a:r>
              <a:rPr lang="en-US" sz="1300" b="1" dirty="0">
                <a:solidFill>
                  <a:schemeClr val="bg1"/>
                </a:solidFill>
              </a:rPr>
              <a:t>● Cumplido</a:t>
            </a:r>
            <a:endParaRPr lang="en-US" sz="1300" dirty="0"/>
          </a:p>
        </p:txBody>
      </p:sp>
      <p:sp>
        <p:nvSpPr>
          <p:cNvPr id="17" name="Objetivo 3"/>
          <p:cNvSpPr/>
          <p:nvPr/>
        </p:nvSpPr>
        <p:spPr>
          <a:xfrm>
            <a:off x="548640" y="3017520"/>
            <a:ext cx="11094415" cy="512064"/>
          </a:xfrm>
          <a:prstGeom prst="roundRect">
            <a:avLst>
              <a:gd name="adj" fmla="val 21429"/>
            </a:avLst>
          </a:prstGeom>
          <a:solidFill>
            <a:schemeClr val="bg1"/>
          </a:solidFill>
          <a:ln w="12700">
            <a:solidFill>
              <a:schemeClr val="bg1"/>
            </a:solidFill>
            <a:prstDash val="solid"/>
          </a:ln>
        </p:spPr>
      </p:sp>
      <p:sp>
        <p:nvSpPr>
          <p:cNvPr id="18" name="Número"/>
          <p:cNvSpPr txBox="1"/>
          <p:nvPr/>
        </p:nvSpPr>
        <p:spPr>
          <a:xfrm>
            <a:off x="777240" y="3099816"/>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7"/>
          <p:cNvSpPr txBox="1"/>
          <p:nvPr/>
        </p:nvSpPr>
        <p:spPr>
          <a:xfrm>
            <a:off x="1417320" y="3072384"/>
            <a:ext cx="7315200" cy="402336"/>
          </a:xfrm>
          <a:prstGeom prst="rect">
            <a:avLst/>
          </a:prstGeom>
          <a:noFill/>
          <a:ln/>
        </p:spPr>
        <p:txBody>
          <a:bodyPr wrap="square" lIns="0" tIns="0" rIns="0" bIns="0" rtlCol="0" anchor="ctr"/>
          <a:lstStyle/>
          <a:p>
            <a:pPr indent="0" marL="0">
              <a:buNone/>
            </a:pPr>
            <a:r>
              <a:rPr lang="en-US" sz="1600" dirty="0">
                <a:solidFill>
                  <a:schemeClr val="tx1"/>
                </a:solidFill>
              </a:rPr>
              <a:t>Plan de cuidado con relevo revocable y trazabilidad</a:t>
            </a:r>
            <a:endParaRPr lang="en-US" sz="1600" dirty="0"/>
          </a:p>
        </p:txBody>
      </p:sp>
      <p:sp>
        <p:nvSpPr>
          <p:cNvPr id="20" name="Etiqueta"/>
          <p:cNvSpPr txBox="1"/>
          <p:nvPr/>
        </p:nvSpPr>
        <p:spPr>
          <a:xfrm>
            <a:off x="8366760" y="3108960"/>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Sprint 2</a:t>
            </a:r>
            <a:endParaRPr lang="en-US" sz="1300" dirty="0"/>
          </a:p>
        </p:txBody>
      </p:sp>
      <p:sp>
        <p:nvSpPr>
          <p:cNvPr id="21" name="Etiqueta"/>
          <p:cNvSpPr txBox="1"/>
          <p:nvPr/>
        </p:nvSpPr>
        <p:spPr>
          <a:xfrm>
            <a:off x="9829800" y="3108960"/>
            <a:ext cx="1600200" cy="329184"/>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tx1"/>
                </a:solidFill>
              </a:rPr>
              <a:t>◐ En curso</a:t>
            </a:r>
            <a:endParaRPr lang="en-US" sz="1300" dirty="0"/>
          </a:p>
        </p:txBody>
      </p:sp>
      <p:sp>
        <p:nvSpPr>
          <p:cNvPr id="22" name="Objetivo 4"/>
          <p:cNvSpPr/>
          <p:nvPr/>
        </p:nvSpPr>
        <p:spPr>
          <a:xfrm>
            <a:off x="548640" y="3621024"/>
            <a:ext cx="11094415" cy="512064"/>
          </a:xfrm>
          <a:prstGeom prst="roundRect">
            <a:avLst>
              <a:gd name="adj" fmla="val 21429"/>
            </a:avLst>
          </a:prstGeom>
          <a:solidFill>
            <a:schemeClr val="bg1"/>
          </a:solidFill>
          <a:ln w="12700">
            <a:solidFill>
              <a:schemeClr val="bg1"/>
            </a:solidFill>
            <a:prstDash val="solid"/>
          </a:ln>
        </p:spPr>
      </p:sp>
      <p:sp>
        <p:nvSpPr>
          <p:cNvPr id="23" name="Número"/>
          <p:cNvSpPr txBox="1"/>
          <p:nvPr/>
        </p:nvSpPr>
        <p:spPr>
          <a:xfrm>
            <a:off x="777240" y="3703320"/>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1417320" y="3675888"/>
            <a:ext cx="7315200" cy="402336"/>
          </a:xfrm>
          <a:prstGeom prst="rect">
            <a:avLst/>
          </a:prstGeom>
          <a:noFill/>
          <a:ln/>
        </p:spPr>
        <p:txBody>
          <a:bodyPr wrap="square" lIns="0" tIns="0" rIns="0" bIns="0" rtlCol="0" anchor="ctr"/>
          <a:lstStyle/>
          <a:p>
            <a:pPr indent="0" marL="0">
              <a:buNone/>
            </a:pPr>
            <a:r>
              <a:rPr lang="en-US" sz="1600" dirty="0">
                <a:solidFill>
                  <a:schemeClr val="tx1"/>
                </a:solidFill>
              </a:rPr>
              <a:t>Cálculo de fecha de quiebre y alerta anticipada por insumo</a:t>
            </a:r>
            <a:endParaRPr lang="en-US" sz="1600" dirty="0"/>
          </a:p>
        </p:txBody>
      </p:sp>
      <p:sp>
        <p:nvSpPr>
          <p:cNvPr id="25" name="Etiqueta"/>
          <p:cNvSpPr txBox="1"/>
          <p:nvPr/>
        </p:nvSpPr>
        <p:spPr>
          <a:xfrm>
            <a:off x="8366760" y="3712464"/>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Sprint 3</a:t>
            </a:r>
            <a:endParaRPr lang="en-US" sz="1300" dirty="0"/>
          </a:p>
        </p:txBody>
      </p:sp>
      <p:sp>
        <p:nvSpPr>
          <p:cNvPr id="26" name="Etiqueta"/>
          <p:cNvSpPr txBox="1"/>
          <p:nvPr/>
        </p:nvSpPr>
        <p:spPr>
          <a:xfrm>
            <a:off x="9829800" y="3712464"/>
            <a:ext cx="1600200" cy="329184"/>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300" b="1" dirty="0">
                <a:solidFill>
                  <a:schemeClr val="accent3"/>
                </a:solidFill>
              </a:rPr>
              <a:t>○ Planificado</a:t>
            </a:r>
            <a:endParaRPr lang="en-US" sz="1300" dirty="0"/>
          </a:p>
        </p:txBody>
      </p:sp>
      <p:sp>
        <p:nvSpPr>
          <p:cNvPr id="27" name="Objetivo 5"/>
          <p:cNvSpPr/>
          <p:nvPr/>
        </p:nvSpPr>
        <p:spPr>
          <a:xfrm>
            <a:off x="548640" y="4224528"/>
            <a:ext cx="11094415" cy="512064"/>
          </a:xfrm>
          <a:prstGeom prst="roundRect">
            <a:avLst>
              <a:gd name="adj" fmla="val 21429"/>
            </a:avLst>
          </a:prstGeom>
          <a:solidFill>
            <a:schemeClr val="bg1"/>
          </a:solidFill>
          <a:ln w="12700">
            <a:solidFill>
              <a:schemeClr val="bg1"/>
            </a:solidFill>
            <a:prstDash val="solid"/>
          </a:ln>
        </p:spPr>
      </p:sp>
      <p:sp>
        <p:nvSpPr>
          <p:cNvPr id="28" name="Número"/>
          <p:cNvSpPr txBox="1"/>
          <p:nvPr/>
        </p:nvSpPr>
        <p:spPr>
          <a:xfrm>
            <a:off x="777240" y="4306824"/>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9" name="Text 27"/>
          <p:cNvSpPr txBox="1"/>
          <p:nvPr/>
        </p:nvSpPr>
        <p:spPr>
          <a:xfrm>
            <a:off x="1417320" y="4279392"/>
            <a:ext cx="7315200" cy="402336"/>
          </a:xfrm>
          <a:prstGeom prst="rect">
            <a:avLst/>
          </a:prstGeom>
          <a:noFill/>
          <a:ln/>
        </p:spPr>
        <p:txBody>
          <a:bodyPr wrap="square" lIns="0" tIns="0" rIns="0" bIns="0" rtlCol="0" anchor="ctr"/>
          <a:lstStyle/>
          <a:p>
            <a:pPr indent="0" marL="0">
              <a:buNone/>
            </a:pPr>
            <a:r>
              <a:rPr lang="en-US" sz="1600" dirty="0">
                <a:solidFill>
                  <a:schemeClr val="tx1"/>
                </a:solidFill>
              </a:rPr>
              <a:t>Lista de reposición exportable sin convenio comercial</a:t>
            </a:r>
            <a:endParaRPr lang="en-US" sz="1600" dirty="0"/>
          </a:p>
        </p:txBody>
      </p:sp>
      <p:sp>
        <p:nvSpPr>
          <p:cNvPr id="30" name="Etiqueta"/>
          <p:cNvSpPr txBox="1"/>
          <p:nvPr/>
        </p:nvSpPr>
        <p:spPr>
          <a:xfrm>
            <a:off x="8366760" y="4315968"/>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Sprint 4</a:t>
            </a:r>
            <a:endParaRPr lang="en-US" sz="1300" dirty="0"/>
          </a:p>
        </p:txBody>
      </p:sp>
      <p:sp>
        <p:nvSpPr>
          <p:cNvPr id="31" name="Etiqueta"/>
          <p:cNvSpPr txBox="1"/>
          <p:nvPr/>
        </p:nvSpPr>
        <p:spPr>
          <a:xfrm>
            <a:off x="9829800" y="4315968"/>
            <a:ext cx="1600200" cy="329184"/>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300" b="1" dirty="0">
                <a:solidFill>
                  <a:schemeClr val="accent3"/>
                </a:solidFill>
              </a:rPr>
              <a:t>○ Planificado</a:t>
            </a:r>
            <a:endParaRPr lang="en-US" sz="1300" dirty="0"/>
          </a:p>
        </p:txBody>
      </p:sp>
      <p:sp>
        <p:nvSpPr>
          <p:cNvPr id="32" name="Objetivo 6"/>
          <p:cNvSpPr/>
          <p:nvPr/>
        </p:nvSpPr>
        <p:spPr>
          <a:xfrm>
            <a:off x="548640" y="4828032"/>
            <a:ext cx="11094415" cy="512064"/>
          </a:xfrm>
          <a:prstGeom prst="roundRect">
            <a:avLst>
              <a:gd name="adj" fmla="val 21429"/>
            </a:avLst>
          </a:prstGeom>
          <a:solidFill>
            <a:schemeClr val="bg1"/>
          </a:solidFill>
          <a:ln w="12700">
            <a:solidFill>
              <a:schemeClr val="bg1"/>
            </a:solidFill>
            <a:prstDash val="solid"/>
          </a:ln>
        </p:spPr>
      </p:sp>
      <p:sp>
        <p:nvSpPr>
          <p:cNvPr id="33" name="Número"/>
          <p:cNvSpPr txBox="1"/>
          <p:nvPr/>
        </p:nvSpPr>
        <p:spPr>
          <a:xfrm>
            <a:off x="777240" y="4910328"/>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4" name="Text 32"/>
          <p:cNvSpPr txBox="1"/>
          <p:nvPr/>
        </p:nvSpPr>
        <p:spPr>
          <a:xfrm>
            <a:off x="1417320" y="4882896"/>
            <a:ext cx="7315200" cy="402336"/>
          </a:xfrm>
          <a:prstGeom prst="rect">
            <a:avLst/>
          </a:prstGeom>
          <a:noFill/>
          <a:ln/>
        </p:spPr>
        <p:txBody>
          <a:bodyPr wrap="square" lIns="0" tIns="0" rIns="0" bIns="0" rtlCol="0" anchor="ctr"/>
          <a:lstStyle/>
          <a:p>
            <a:pPr indent="0" marL="0">
              <a:buNone/>
            </a:pPr>
            <a:r>
              <a:rPr lang="en-US" sz="1600" dirty="0">
                <a:solidFill>
                  <a:schemeClr val="tx1"/>
                </a:solidFill>
              </a:rPr>
              <a:t>Flujo de pedido con cobro único del total confirmado (ADR-027)</a:t>
            </a:r>
            <a:endParaRPr lang="en-US" sz="1600" dirty="0"/>
          </a:p>
        </p:txBody>
      </p:sp>
      <p:sp>
        <p:nvSpPr>
          <p:cNvPr id="35" name="Etiqueta"/>
          <p:cNvSpPr txBox="1"/>
          <p:nvPr/>
        </p:nvSpPr>
        <p:spPr>
          <a:xfrm>
            <a:off x="8366760" y="4919472"/>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Sprint 4</a:t>
            </a:r>
            <a:endParaRPr lang="en-US" sz="1300" dirty="0"/>
          </a:p>
        </p:txBody>
      </p:sp>
      <p:sp>
        <p:nvSpPr>
          <p:cNvPr id="36" name="Etiqueta"/>
          <p:cNvSpPr txBox="1"/>
          <p:nvPr/>
        </p:nvSpPr>
        <p:spPr>
          <a:xfrm>
            <a:off x="9829800" y="4919472"/>
            <a:ext cx="1600200" cy="329184"/>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300" b="1" dirty="0">
                <a:solidFill>
                  <a:schemeClr val="accent3"/>
                </a:solidFill>
              </a:rPr>
              <a:t>○ Planificado</a:t>
            </a:r>
            <a:endParaRPr lang="en-US" sz="1300" dirty="0"/>
          </a:p>
        </p:txBody>
      </p:sp>
      <p:sp>
        <p:nvSpPr>
          <p:cNvPr id="37" name="Objetivo 7"/>
          <p:cNvSpPr/>
          <p:nvPr/>
        </p:nvSpPr>
        <p:spPr>
          <a:xfrm>
            <a:off x="548640" y="5431536"/>
            <a:ext cx="11094415" cy="512064"/>
          </a:xfrm>
          <a:prstGeom prst="roundRect">
            <a:avLst>
              <a:gd name="adj" fmla="val 21429"/>
            </a:avLst>
          </a:prstGeom>
          <a:solidFill>
            <a:schemeClr val="bg1"/>
          </a:solidFill>
          <a:ln w="12700">
            <a:solidFill>
              <a:schemeClr val="bg1"/>
            </a:solidFill>
            <a:prstDash val="solid"/>
          </a:ln>
        </p:spPr>
      </p:sp>
      <p:sp>
        <p:nvSpPr>
          <p:cNvPr id="38" name="Número"/>
          <p:cNvSpPr txBox="1"/>
          <p:nvPr/>
        </p:nvSpPr>
        <p:spPr>
          <a:xfrm>
            <a:off x="777240" y="5513832"/>
            <a:ext cx="347472" cy="347472"/>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9" name="Text 37"/>
          <p:cNvSpPr txBox="1"/>
          <p:nvPr/>
        </p:nvSpPr>
        <p:spPr>
          <a:xfrm>
            <a:off x="1417320" y="5486400"/>
            <a:ext cx="7315200" cy="402336"/>
          </a:xfrm>
          <a:prstGeom prst="rect">
            <a:avLst/>
          </a:prstGeom>
          <a:noFill/>
          <a:ln/>
        </p:spPr>
        <p:txBody>
          <a:bodyPr wrap="square" lIns="0" tIns="0" rIns="0" bIns="0" rtlCol="0" anchor="ctr"/>
          <a:lstStyle/>
          <a:p>
            <a:pPr indent="0" marL="0">
              <a:buNone/>
            </a:pPr>
            <a:r>
              <a:rPr lang="en-US" sz="1600" dirty="0">
                <a:solidFill>
                  <a:schemeClr val="tx1"/>
                </a:solidFill>
              </a:rPr>
              <a:t>Sistema desplegado con seis recorridos críticos operativos</a:t>
            </a:r>
            <a:endParaRPr lang="en-US" sz="1600" dirty="0"/>
          </a:p>
        </p:txBody>
      </p:sp>
      <p:sp>
        <p:nvSpPr>
          <p:cNvPr id="40" name="Etiqueta"/>
          <p:cNvSpPr txBox="1"/>
          <p:nvPr/>
        </p:nvSpPr>
        <p:spPr>
          <a:xfrm>
            <a:off x="8366760" y="5522976"/>
            <a:ext cx="1280160" cy="329184"/>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300" b="1" dirty="0">
                <a:solidFill>
                  <a:schemeClr val="tx2"/>
                </a:solidFill>
              </a:rPr>
              <a:t>Sprint 5</a:t>
            </a:r>
            <a:endParaRPr lang="en-US" sz="1300" dirty="0"/>
          </a:p>
        </p:txBody>
      </p:sp>
      <p:sp>
        <p:nvSpPr>
          <p:cNvPr id="41" name="Etiqueta"/>
          <p:cNvSpPr txBox="1"/>
          <p:nvPr/>
        </p:nvSpPr>
        <p:spPr>
          <a:xfrm>
            <a:off x="9829800" y="5522976"/>
            <a:ext cx="1600200" cy="329184"/>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300" b="1" dirty="0">
                <a:solidFill>
                  <a:schemeClr val="accent3"/>
                </a:solidFill>
              </a:rPr>
              <a:t>○ Planificado</a:t>
            </a:r>
            <a:endParaRPr lang="en-US" sz="1300" dirty="0"/>
          </a:p>
        </p:txBody>
      </p:sp>
      <p:sp>
        <p:nvSpPr>
          <p:cNvPr id="42" name="Text 40"/>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100" dirty="0">
                <a:solidFill>
                  <a:schemeClr val="accent3"/>
                </a:solidFill>
              </a:rPr>
              <a:t>Sprints según el calendario v1.3. El objetivo 6 decía "captura del monto real" en la Fase 1 y cambió con el ADR-027.</a:t>
            </a:r>
            <a:endParaRPr lang="en-US" sz="11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ALCANCE</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Qué entra en el semestre y qué no</a:t>
            </a:r>
            <a:endParaRPr lang="en-US" sz="3200" dirty="0"/>
          </a:p>
        </p:txBody>
      </p:sp>
      <p:sp>
        <p:nvSpPr>
          <p:cNvPr id="4" name="Funcionalidades"/>
          <p:cNvSpPr/>
          <p:nvPr/>
        </p:nvSpPr>
        <p:spPr>
          <a:xfrm>
            <a:off x="548640" y="1600200"/>
            <a:ext cx="5394960" cy="4526280"/>
          </a:xfrm>
          <a:prstGeom prst="roundRect">
            <a:avLst>
              <a:gd name="adj" fmla="val 2424"/>
            </a:avLst>
          </a:prstGeom>
          <a:solidFill>
            <a:schemeClr val="bg1"/>
          </a:solidFill>
          <a:ln w="12700">
            <a:solidFill>
              <a:schemeClr val="bg1"/>
            </a:solidFill>
            <a:prstDash val="solid"/>
          </a:ln>
        </p:spPr>
      </p:sp>
      <p:sp>
        <p:nvSpPr>
          <p:cNvPr id="5" name="Círculo de ícono"/>
          <p:cNvSpPr/>
          <p:nvPr/>
        </p:nvSpPr>
        <p:spPr>
          <a:xfrm>
            <a:off x="822960" y="1856232"/>
            <a:ext cx="566928" cy="566928"/>
          </a:xfrm>
          <a:prstGeom prst="ellipse">
            <a:avLst/>
          </a:prstGeom>
          <a:solidFill>
            <a:schemeClr val="tx2"/>
          </a:solidFill>
          <a:ln w="12700">
            <a:solidFill>
              <a:schemeClr val="tx2"/>
            </a:solidFill>
            <a:prstDash val="solid"/>
          </a:ln>
        </p:spPr>
      </p:sp>
      <p:pic>
        <p:nvPicPr>
          <p:cNvPr id="6" name="Image 0" descr="Ícono ListChecks">    </p:cNvPr>
          <p:cNvPicPr>
            <a:picLocks noChangeAspect="1"/>
          </p:cNvPicPr>
          <p:nvPr/>
        </p:nvPicPr>
        <p:blipFill>
          <a:blip r:embed="rId1"/>
          <a:stretch>
            <a:fillRect/>
          </a:stretch>
        </p:blipFill>
        <p:spPr>
          <a:xfrm>
            <a:off x="959023" y="1992295"/>
            <a:ext cx="294803" cy="294803"/>
          </a:xfrm>
          <a:prstGeom prst="rect">
            <a:avLst/>
          </a:prstGeom>
        </p:spPr>
      </p:pic>
      <p:sp>
        <p:nvSpPr>
          <p:cNvPr id="7" name="Text 4"/>
          <p:cNvSpPr txBox="1"/>
          <p:nvPr/>
        </p:nvSpPr>
        <p:spPr>
          <a:xfrm>
            <a:off x="1554480" y="1856232"/>
            <a:ext cx="4114800" cy="566928"/>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Funcionalidades</a:t>
            </a:r>
            <a:endParaRPr lang="en-US" sz="2200" dirty="0"/>
          </a:p>
        </p:txBody>
      </p:sp>
      <p:pic>
        <p:nvPicPr>
          <p:cNvPr id="8" name="Image 1" descr="Incluido">    </p:cNvPr>
          <p:cNvPicPr>
            <a:picLocks noChangeAspect="1"/>
          </p:cNvPicPr>
          <p:nvPr/>
        </p:nvPicPr>
        <p:blipFill>
          <a:blip r:embed="rId2"/>
          <a:stretch>
            <a:fillRect/>
          </a:stretch>
        </p:blipFill>
        <p:spPr>
          <a:xfrm>
            <a:off x="868680" y="2688336"/>
            <a:ext cx="274320" cy="274320"/>
          </a:xfrm>
          <a:prstGeom prst="rect">
            <a:avLst/>
          </a:prstGeom>
        </p:spPr>
      </p:pic>
      <p:sp>
        <p:nvSpPr>
          <p:cNvPr id="9" name="Text 5"/>
          <p:cNvSpPr txBox="1"/>
          <p:nvPr/>
        </p:nvSpPr>
        <p:spPr>
          <a:xfrm>
            <a:off x="1325880" y="2651760"/>
            <a:ext cx="4343400" cy="640080"/>
          </a:xfrm>
          <a:prstGeom prst="rect">
            <a:avLst/>
          </a:prstGeom>
          <a:noFill/>
          <a:ln/>
        </p:spPr>
        <p:txBody>
          <a:bodyPr wrap="square" lIns="0" tIns="0" rIns="0" bIns="0" rtlCol="0" anchor="t"/>
          <a:lstStyle/>
          <a:p>
            <a:pPr indent="0" marL="0">
              <a:buNone/>
            </a:pPr>
            <a:r>
              <a:rPr lang="en-US" sz="1600" dirty="0">
                <a:solidFill>
                  <a:schemeClr val="tx1"/>
                </a:solidFill>
              </a:rPr>
              <a:t>Ficha de relevo de tres campos, cifrada y con llenado asistido</a:t>
            </a:r>
            <a:endParaRPr lang="en-US" sz="1600" dirty="0"/>
          </a:p>
        </p:txBody>
      </p:sp>
      <p:pic>
        <p:nvPicPr>
          <p:cNvPr id="10" name="Image 2" descr="Incluido">    </p:cNvPr>
          <p:cNvPicPr>
            <a:picLocks noChangeAspect="1"/>
          </p:cNvPicPr>
          <p:nvPr/>
        </p:nvPicPr>
        <p:blipFill>
          <a:blip r:embed="rId3"/>
          <a:stretch>
            <a:fillRect/>
          </a:stretch>
        </p:blipFill>
        <p:spPr>
          <a:xfrm>
            <a:off x="868680" y="3374136"/>
            <a:ext cx="274320" cy="274320"/>
          </a:xfrm>
          <a:prstGeom prst="rect">
            <a:avLst/>
          </a:prstGeom>
        </p:spPr>
      </p:pic>
      <p:sp>
        <p:nvSpPr>
          <p:cNvPr id="11" name="Text 6"/>
          <p:cNvSpPr txBox="1"/>
          <p:nvPr/>
        </p:nvSpPr>
        <p:spPr>
          <a:xfrm>
            <a:off x="1325880" y="3337560"/>
            <a:ext cx="4343400" cy="640080"/>
          </a:xfrm>
          <a:prstGeom prst="rect">
            <a:avLst/>
          </a:prstGeom>
          <a:noFill/>
          <a:ln/>
        </p:spPr>
        <p:txBody>
          <a:bodyPr wrap="square" lIns="0" tIns="0" rIns="0" bIns="0" rtlCol="0" anchor="t"/>
          <a:lstStyle/>
          <a:p>
            <a:pPr indent="0" marL="0">
              <a:buNone/>
            </a:pPr>
            <a:r>
              <a:rPr lang="en-US" sz="1600" dirty="0">
                <a:solidFill>
                  <a:schemeClr val="tx1"/>
                </a:solidFill>
              </a:rPr>
              <a:t>Enlace de relevo con PIN, que vence y se puede cortar, y "Quién la vio"</a:t>
            </a:r>
            <a:endParaRPr lang="en-US" sz="1600" dirty="0"/>
          </a:p>
        </p:txBody>
      </p:sp>
      <p:pic>
        <p:nvPicPr>
          <p:cNvPr id="12" name="Image 3" descr="Incluido">    </p:cNvPr>
          <p:cNvPicPr>
            <a:picLocks noChangeAspect="1"/>
          </p:cNvPicPr>
          <p:nvPr/>
        </p:nvPicPr>
        <p:blipFill>
          <a:blip r:embed="rId4"/>
          <a:stretch>
            <a:fillRect/>
          </a:stretch>
        </p:blipFill>
        <p:spPr>
          <a:xfrm>
            <a:off x="868680" y="4059936"/>
            <a:ext cx="274320" cy="274320"/>
          </a:xfrm>
          <a:prstGeom prst="rect">
            <a:avLst/>
          </a:prstGeom>
        </p:spPr>
      </p:pic>
      <p:sp>
        <p:nvSpPr>
          <p:cNvPr id="13" name="Text 7"/>
          <p:cNvSpPr txBox="1"/>
          <p:nvPr/>
        </p:nvSpPr>
        <p:spPr>
          <a:xfrm>
            <a:off x="1325880" y="4023360"/>
            <a:ext cx="4343400" cy="640080"/>
          </a:xfrm>
          <a:prstGeom prst="rect">
            <a:avLst/>
          </a:prstGeom>
          <a:noFill/>
          <a:ln/>
        </p:spPr>
        <p:txBody>
          <a:bodyPr wrap="square" lIns="0" tIns="0" rIns="0" bIns="0" rtlCol="0" anchor="t"/>
          <a:lstStyle/>
          <a:p>
            <a:pPr indent="0" marL="0">
              <a:buNone/>
            </a:pPr>
            <a:r>
              <a:rPr lang="en-US" sz="1600" dirty="0">
                <a:solidFill>
                  <a:schemeClr val="tx1"/>
                </a:solidFill>
              </a:rPr>
              <a:t>Consumo declarado, aviso antes de que se acabe y lista exportable</a:t>
            </a:r>
            <a:endParaRPr lang="en-US" sz="1600" dirty="0"/>
          </a:p>
        </p:txBody>
      </p:sp>
      <p:pic>
        <p:nvPicPr>
          <p:cNvPr id="14" name="Image 4" descr="Incluido">    </p:cNvPr>
          <p:cNvPicPr>
            <a:picLocks noChangeAspect="1"/>
          </p:cNvPicPr>
          <p:nvPr/>
        </p:nvPicPr>
        <p:blipFill>
          <a:blip r:embed="rId5"/>
          <a:stretch>
            <a:fillRect/>
          </a:stretch>
        </p:blipFill>
        <p:spPr>
          <a:xfrm>
            <a:off x="868680" y="4745736"/>
            <a:ext cx="274320" cy="274320"/>
          </a:xfrm>
          <a:prstGeom prst="rect">
            <a:avLst/>
          </a:prstGeom>
        </p:spPr>
      </p:pic>
      <p:sp>
        <p:nvSpPr>
          <p:cNvPr id="15" name="Text 8"/>
          <p:cNvSpPr txBox="1"/>
          <p:nvPr/>
        </p:nvSpPr>
        <p:spPr>
          <a:xfrm>
            <a:off x="1325880" y="4709160"/>
            <a:ext cx="4343400" cy="640080"/>
          </a:xfrm>
          <a:prstGeom prst="rect">
            <a:avLst/>
          </a:prstGeom>
          <a:noFill/>
          <a:ln/>
        </p:spPr>
        <p:txBody>
          <a:bodyPr wrap="square" lIns="0" tIns="0" rIns="0" bIns="0" rtlCol="0" anchor="t"/>
          <a:lstStyle/>
          <a:p>
            <a:pPr indent="0" marL="0">
              <a:buNone/>
            </a:pPr>
            <a:r>
              <a:rPr lang="en-US" sz="1600" dirty="0">
                <a:solidFill>
                  <a:schemeClr val="tx1"/>
                </a:solidFill>
              </a:rPr>
              <a:t>Catálogo con precios exactos, pedido y un solo cobro del total</a:t>
            </a:r>
            <a:endParaRPr lang="en-US" sz="1600" dirty="0"/>
          </a:p>
        </p:txBody>
      </p:sp>
      <p:pic>
        <p:nvPicPr>
          <p:cNvPr id="16" name="Image 5" descr="Incluido">    </p:cNvPr>
          <p:cNvPicPr>
            <a:picLocks noChangeAspect="1"/>
          </p:cNvPicPr>
          <p:nvPr/>
        </p:nvPicPr>
        <p:blipFill>
          <a:blip r:embed="rId6"/>
          <a:stretch>
            <a:fillRect/>
          </a:stretch>
        </p:blipFill>
        <p:spPr>
          <a:xfrm>
            <a:off x="868680" y="5431536"/>
            <a:ext cx="274320" cy="274320"/>
          </a:xfrm>
          <a:prstGeom prst="rect">
            <a:avLst/>
          </a:prstGeom>
        </p:spPr>
      </p:pic>
      <p:sp>
        <p:nvSpPr>
          <p:cNvPr id="17" name="Text 9"/>
          <p:cNvSpPr txBox="1"/>
          <p:nvPr/>
        </p:nvSpPr>
        <p:spPr>
          <a:xfrm>
            <a:off x="1325880" y="5394960"/>
            <a:ext cx="4343400" cy="640080"/>
          </a:xfrm>
          <a:prstGeom prst="rect">
            <a:avLst/>
          </a:prstGeom>
          <a:noFill/>
          <a:ln/>
        </p:spPr>
        <p:txBody>
          <a:bodyPr wrap="square" lIns="0" tIns="0" rIns="0" bIns="0" rtlCol="0" anchor="t"/>
          <a:lstStyle/>
          <a:p>
            <a:pPr indent="0" marL="0">
              <a:buNone/>
            </a:pPr>
            <a:r>
              <a:rPr lang="en-US" sz="1600" dirty="0">
                <a:solidFill>
                  <a:schemeClr val="tx1"/>
                </a:solidFill>
              </a:rPr>
              <a:t>Vista de comercio para preparar el pedido con código de retiro</a:t>
            </a:r>
            <a:endParaRPr lang="en-US" sz="1600" dirty="0"/>
          </a:p>
        </p:txBody>
      </p:sp>
      <p:sp>
        <p:nvSpPr>
          <p:cNvPr id="18" name="Restricciones"/>
          <p:cNvSpPr/>
          <p:nvPr/>
        </p:nvSpPr>
        <p:spPr>
          <a:xfrm>
            <a:off x="6190488" y="1600200"/>
            <a:ext cx="5394960" cy="4526280"/>
          </a:xfrm>
          <a:prstGeom prst="roundRect">
            <a:avLst>
              <a:gd name="adj" fmla="val 2424"/>
            </a:avLst>
          </a:prstGeom>
          <a:solidFill>
            <a:schemeClr val="bg1"/>
          </a:solidFill>
          <a:ln w="12700">
            <a:solidFill>
              <a:schemeClr val="bg1"/>
            </a:solidFill>
            <a:prstDash val="solid"/>
          </a:ln>
        </p:spPr>
      </p:sp>
      <p:sp>
        <p:nvSpPr>
          <p:cNvPr id="19" name="Círculo de ícono"/>
          <p:cNvSpPr/>
          <p:nvPr/>
        </p:nvSpPr>
        <p:spPr>
          <a:xfrm>
            <a:off x="6464808" y="1856232"/>
            <a:ext cx="566928" cy="566928"/>
          </a:xfrm>
          <a:prstGeom prst="ellipse">
            <a:avLst/>
          </a:prstGeom>
          <a:solidFill>
            <a:schemeClr val="accent2"/>
          </a:solidFill>
          <a:ln w="12700">
            <a:solidFill>
              <a:schemeClr val="accent2"/>
            </a:solidFill>
            <a:prstDash val="solid"/>
          </a:ln>
        </p:spPr>
      </p:sp>
      <p:pic>
        <p:nvPicPr>
          <p:cNvPr id="20" name="Image 6" descr="Ícono ShieldAlert">    </p:cNvPr>
          <p:cNvPicPr>
            <a:picLocks noChangeAspect="1"/>
          </p:cNvPicPr>
          <p:nvPr/>
        </p:nvPicPr>
        <p:blipFill>
          <a:blip r:embed="rId7"/>
          <a:stretch>
            <a:fillRect/>
          </a:stretch>
        </p:blipFill>
        <p:spPr>
          <a:xfrm>
            <a:off x="6600871" y="1992295"/>
            <a:ext cx="294803" cy="294803"/>
          </a:xfrm>
          <a:prstGeom prst="rect">
            <a:avLst/>
          </a:prstGeom>
        </p:spPr>
      </p:pic>
      <p:sp>
        <p:nvSpPr>
          <p:cNvPr id="21" name="Text 12"/>
          <p:cNvSpPr txBox="1"/>
          <p:nvPr/>
        </p:nvSpPr>
        <p:spPr>
          <a:xfrm>
            <a:off x="7196328" y="1856232"/>
            <a:ext cx="4114800" cy="566928"/>
          </a:xfrm>
          <a:prstGeom prst="rect">
            <a:avLst/>
          </a:prstGeom>
          <a:noFill/>
          <a:ln/>
        </p:spPr>
        <p:txBody>
          <a:bodyPr wrap="square" lIns="0" tIns="0" rIns="0" bIns="0" rtlCol="0" anchor="ctr"/>
          <a:lstStyle/>
          <a:p>
            <a:pPr indent="0" marL="0">
              <a:buNone/>
            </a:pPr>
            <a:r>
              <a:rPr lang="en-US" sz="2200" b="1" dirty="0">
                <a:solidFill>
                  <a:schemeClr val="tx1"/>
                </a:solidFill>
                <a:latin typeface="+mj-lt" pitchFamily="34" charset="0"/>
                <a:ea typeface="+mj-lt" pitchFamily="34" charset="-122"/>
                <a:cs typeface="+mj-lt" pitchFamily="34" charset="-120"/>
              </a:rPr>
              <a:t>Restricciones</a:t>
            </a:r>
            <a:endParaRPr lang="en-US" sz="2200" dirty="0"/>
          </a:p>
        </p:txBody>
      </p:sp>
      <p:pic>
        <p:nvPicPr>
          <p:cNvPr id="22" name="Image 7" descr="Restricción">    </p:cNvPr>
          <p:cNvPicPr>
            <a:picLocks noChangeAspect="1"/>
          </p:cNvPicPr>
          <p:nvPr/>
        </p:nvPicPr>
        <p:blipFill>
          <a:blip r:embed="rId8"/>
          <a:stretch>
            <a:fillRect/>
          </a:stretch>
        </p:blipFill>
        <p:spPr>
          <a:xfrm>
            <a:off x="6510528" y="2688336"/>
            <a:ext cx="274320" cy="274320"/>
          </a:xfrm>
          <a:prstGeom prst="rect">
            <a:avLst/>
          </a:prstGeom>
        </p:spPr>
      </p:pic>
      <p:sp>
        <p:nvSpPr>
          <p:cNvPr id="23" name="Text 13"/>
          <p:cNvSpPr txBox="1"/>
          <p:nvPr/>
        </p:nvSpPr>
        <p:spPr>
          <a:xfrm>
            <a:off x="6967728" y="2651760"/>
            <a:ext cx="4343400" cy="640080"/>
          </a:xfrm>
          <a:prstGeom prst="rect">
            <a:avLst/>
          </a:prstGeom>
          <a:noFill/>
          <a:ln/>
        </p:spPr>
        <p:txBody>
          <a:bodyPr wrap="square" lIns="0" tIns="0" rIns="0" bIns="0" rtlCol="0" anchor="t"/>
          <a:lstStyle/>
          <a:p>
            <a:pPr indent="0" marL="0">
              <a:buNone/>
            </a:pPr>
            <a:r>
              <a:rPr lang="en-US" sz="1600" dirty="0">
                <a:solidFill>
                  <a:schemeClr val="tx1"/>
                </a:solidFill>
              </a:rPr>
              <a:t>Dos personas, sprints de una semana y 23 horas reales por sprint</a:t>
            </a:r>
            <a:endParaRPr lang="en-US" sz="1600" dirty="0"/>
          </a:p>
        </p:txBody>
      </p:sp>
      <p:pic>
        <p:nvPicPr>
          <p:cNvPr id="24" name="Image 8" descr="Restricción">    </p:cNvPr>
          <p:cNvPicPr>
            <a:picLocks noChangeAspect="1"/>
          </p:cNvPicPr>
          <p:nvPr/>
        </p:nvPicPr>
        <p:blipFill>
          <a:blip r:embed="rId9"/>
          <a:stretch>
            <a:fillRect/>
          </a:stretch>
        </p:blipFill>
        <p:spPr>
          <a:xfrm>
            <a:off x="6510528" y="3374136"/>
            <a:ext cx="274320" cy="274320"/>
          </a:xfrm>
          <a:prstGeom prst="rect">
            <a:avLst/>
          </a:prstGeom>
        </p:spPr>
      </p:pic>
      <p:sp>
        <p:nvSpPr>
          <p:cNvPr id="25" name="Text 14"/>
          <p:cNvSpPr txBox="1"/>
          <p:nvPr/>
        </p:nvSpPr>
        <p:spPr>
          <a:xfrm>
            <a:off x="6967728" y="3337560"/>
            <a:ext cx="4343400" cy="640080"/>
          </a:xfrm>
          <a:prstGeom prst="rect">
            <a:avLst/>
          </a:prstGeom>
          <a:noFill/>
          <a:ln/>
        </p:spPr>
        <p:txBody>
          <a:bodyPr wrap="square" lIns="0" tIns="0" rIns="0" bIns="0" rtlCol="0" anchor="t"/>
          <a:lstStyle/>
          <a:p>
            <a:pPr indent="0" marL="0">
              <a:buNone/>
            </a:pPr>
            <a:r>
              <a:rPr lang="en-US" sz="1600" dirty="0">
                <a:solidFill>
                  <a:schemeClr val="tx1"/>
                </a:solidFill>
              </a:rPr>
              <a:t>Piloto académico: solo datos sintéticos y sin dinero real</a:t>
            </a:r>
            <a:endParaRPr lang="en-US" sz="1600" dirty="0"/>
          </a:p>
        </p:txBody>
      </p:sp>
      <p:pic>
        <p:nvPicPr>
          <p:cNvPr id="26" name="Image 9" descr="Restricción">    </p:cNvPr>
          <p:cNvPicPr>
            <a:picLocks noChangeAspect="1"/>
          </p:cNvPicPr>
          <p:nvPr/>
        </p:nvPicPr>
        <p:blipFill>
          <a:blip r:embed="rId10"/>
          <a:stretch>
            <a:fillRect/>
          </a:stretch>
        </p:blipFill>
        <p:spPr>
          <a:xfrm>
            <a:off x="6510528" y="4059936"/>
            <a:ext cx="274320" cy="274320"/>
          </a:xfrm>
          <a:prstGeom prst="rect">
            <a:avLst/>
          </a:prstGeom>
        </p:spPr>
      </p:pic>
      <p:sp>
        <p:nvSpPr>
          <p:cNvPr id="27" name="Text 15"/>
          <p:cNvSpPr txBox="1"/>
          <p:nvPr/>
        </p:nvSpPr>
        <p:spPr>
          <a:xfrm>
            <a:off x="6967728" y="4023360"/>
            <a:ext cx="4343400" cy="640080"/>
          </a:xfrm>
          <a:prstGeom prst="rect">
            <a:avLst/>
          </a:prstGeom>
          <a:noFill/>
          <a:ln/>
        </p:spPr>
        <p:txBody>
          <a:bodyPr wrap="square" lIns="0" tIns="0" rIns="0" bIns="0" rtlCol="0" anchor="t"/>
          <a:lstStyle/>
          <a:p>
            <a:pPr indent="0" marL="0">
              <a:buNone/>
            </a:pPr>
            <a:r>
              <a:rPr lang="en-US" sz="1600" dirty="0">
                <a:solidFill>
                  <a:schemeClr val="tx1"/>
                </a:solidFill>
              </a:rPr>
              <a:t>Sin convenio con comercios: catálogo simulado con precios de ejemplo</a:t>
            </a:r>
            <a:endParaRPr lang="en-US" sz="1600" dirty="0"/>
          </a:p>
        </p:txBody>
      </p:sp>
      <p:pic>
        <p:nvPicPr>
          <p:cNvPr id="28" name="Image 10" descr="Restricción">    </p:cNvPr>
          <p:cNvPicPr>
            <a:picLocks noChangeAspect="1"/>
          </p:cNvPicPr>
          <p:nvPr/>
        </p:nvPicPr>
        <p:blipFill>
          <a:blip r:embed="rId11"/>
          <a:stretch>
            <a:fillRect/>
          </a:stretch>
        </p:blipFill>
        <p:spPr>
          <a:xfrm>
            <a:off x="6510528" y="4745736"/>
            <a:ext cx="274320" cy="274320"/>
          </a:xfrm>
          <a:prstGeom prst="rect">
            <a:avLst/>
          </a:prstGeom>
        </p:spPr>
      </p:pic>
      <p:sp>
        <p:nvSpPr>
          <p:cNvPr id="29" name="Text 16"/>
          <p:cNvSpPr txBox="1"/>
          <p:nvPr/>
        </p:nvSpPr>
        <p:spPr>
          <a:xfrm>
            <a:off x="6967728" y="4709160"/>
            <a:ext cx="4343400" cy="640080"/>
          </a:xfrm>
          <a:prstGeom prst="rect">
            <a:avLst/>
          </a:prstGeom>
          <a:noFill/>
          <a:ln/>
        </p:spPr>
        <p:txBody>
          <a:bodyPr wrap="square" lIns="0" tIns="0" rIns="0" bIns="0" rtlCol="0" anchor="t"/>
          <a:lstStyle/>
          <a:p>
            <a:pPr indent="0" marL="0">
              <a:buNone/>
            </a:pPr>
            <a:r>
              <a:rPr lang="en-US" sz="1600" dirty="0">
                <a:solidFill>
                  <a:schemeClr val="tx1"/>
                </a:solidFill>
              </a:rPr>
              <a:t>App web mobile first. La app nativa viene después (ADR-026)</a:t>
            </a:r>
            <a:endParaRPr lang="en-US" sz="1600" dirty="0"/>
          </a:p>
        </p:txBody>
      </p:sp>
      <p:pic>
        <p:nvPicPr>
          <p:cNvPr id="30" name="Image 11" descr="Restricción">    </p:cNvPr>
          <p:cNvPicPr>
            <a:picLocks noChangeAspect="1"/>
          </p:cNvPicPr>
          <p:nvPr/>
        </p:nvPicPr>
        <p:blipFill>
          <a:blip r:embed="rId12"/>
          <a:stretch>
            <a:fillRect/>
          </a:stretch>
        </p:blipFill>
        <p:spPr>
          <a:xfrm>
            <a:off x="6510528" y="5431536"/>
            <a:ext cx="274320" cy="274320"/>
          </a:xfrm>
          <a:prstGeom prst="rect">
            <a:avLst/>
          </a:prstGeom>
        </p:spPr>
      </p:pic>
      <p:sp>
        <p:nvSpPr>
          <p:cNvPr id="31" name="Text 17"/>
          <p:cNvSpPr txBox="1"/>
          <p:nvPr/>
        </p:nvSpPr>
        <p:spPr>
          <a:xfrm>
            <a:off x="6967728" y="5394960"/>
            <a:ext cx="4343400" cy="640080"/>
          </a:xfrm>
          <a:prstGeom prst="rect">
            <a:avLst/>
          </a:prstGeom>
          <a:noFill/>
          <a:ln/>
        </p:spPr>
        <p:txBody>
          <a:bodyPr wrap="square" lIns="0" tIns="0" rIns="0" bIns="0" rtlCol="0" anchor="t"/>
          <a:lstStyle/>
          <a:p>
            <a:pPr indent="0" marL="0">
              <a:buNone/>
            </a:pPr>
            <a:r>
              <a:rPr lang="en-US" sz="1600" dirty="0">
                <a:solidFill>
                  <a:schemeClr val="tx1"/>
                </a:solidFill>
              </a:rPr>
              <a:t>Fuera del semestre: pago dividido, reposición programada, app de repartidor y medicamentos</a:t>
            </a:r>
            <a:endParaRPr lang="en-US" sz="16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REQUERIMIENTOS</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Requerimientos funcionales y no funcionales</a:t>
            </a:r>
            <a:endParaRPr lang="en-US" sz="3200" dirty="0"/>
          </a:p>
        </p:txBody>
      </p:sp>
      <p:sp>
        <p:nvSpPr>
          <p:cNvPr id="4" name="Text 2"/>
          <p:cNvSpPr txBox="1"/>
          <p:nvPr/>
        </p:nvSpPr>
        <p:spPr>
          <a:xfrm>
            <a:off x="548640" y="1481328"/>
            <a:ext cx="5989320" cy="320040"/>
          </a:xfrm>
          <a:prstGeom prst="rect">
            <a:avLst/>
          </a:prstGeom>
          <a:noFill/>
          <a:ln/>
        </p:spPr>
        <p:txBody>
          <a:bodyPr wrap="square" lIns="0" tIns="0" rIns="0" bIns="0" rtlCol="0" anchor="t"/>
          <a:lstStyle/>
          <a:p>
            <a:pPr indent="0" marL="0">
              <a:buNone/>
            </a:pPr>
            <a:r>
              <a:rPr lang="en-US" sz="1600" b="1" dirty="0">
                <a:solidFill>
                  <a:schemeClr val="tx2"/>
                </a:solidFill>
              </a:rPr>
              <a:t>Funcionales</a:t>
            </a:r>
            <a:pPr indent="0" marL="0">
              <a:buNone/>
            </a:pPr>
            <a:r>
              <a:rPr lang="en-US" sz="1600" dirty="0">
                <a:solidFill>
                  <a:schemeClr val="accent3"/>
                </a:solidFill>
              </a:rPr>
              <a:t>  ·  42 en el catálogo, 26 obligatorios (Debe)</a:t>
            </a:r>
            <a:endParaRPr lang="en-US" sz="1600" dirty="0"/>
          </a:p>
        </p:txBody>
      </p:sp>
      <p:sp>
        <p:nvSpPr>
          <p:cNvPr id="5" name="Capa 1"/>
          <p:cNvSpPr/>
          <p:nvPr/>
        </p:nvSpPr>
        <p:spPr>
          <a:xfrm>
            <a:off x="548640" y="1874520"/>
            <a:ext cx="5989320" cy="969264"/>
          </a:xfrm>
          <a:prstGeom prst="roundRect">
            <a:avLst>
              <a:gd name="adj" fmla="val 11321"/>
            </a:avLst>
          </a:prstGeom>
          <a:solidFill>
            <a:schemeClr val="bg1"/>
          </a:solidFill>
          <a:ln w="12700">
            <a:solidFill>
              <a:schemeClr val="bg1"/>
            </a:solidFill>
            <a:prstDash val="solid"/>
          </a:ln>
        </p:spPr>
      </p:sp>
      <p:sp>
        <p:nvSpPr>
          <p:cNvPr id="6" name="Etiqueta"/>
          <p:cNvSpPr txBox="1"/>
          <p:nvPr/>
        </p:nvSpPr>
        <p:spPr>
          <a:xfrm>
            <a:off x="731520" y="2176272"/>
            <a:ext cx="1417320" cy="36576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Capa 1</a:t>
            </a:r>
            <a:endParaRPr lang="en-US" sz="1300" dirty="0"/>
          </a:p>
        </p:txBody>
      </p:sp>
      <p:sp>
        <p:nvSpPr>
          <p:cNvPr id="7" name="Text 5"/>
          <p:cNvSpPr txBox="1"/>
          <p:nvPr/>
        </p:nvSpPr>
        <p:spPr>
          <a:xfrm>
            <a:off x="2331720" y="1965960"/>
            <a:ext cx="4023360" cy="786384"/>
          </a:xfrm>
          <a:prstGeom prst="rect">
            <a:avLst/>
          </a:prstGeom>
          <a:noFill/>
          <a:ln/>
        </p:spPr>
        <p:txBody>
          <a:bodyPr wrap="square" lIns="0" tIns="0" rIns="0" bIns="0" rtlCol="0" anchor="ctr"/>
          <a:lstStyle/>
          <a:p>
            <a:pPr indent="0" marL="0">
              <a:buNone/>
            </a:pPr>
            <a:r>
              <a:rPr lang="en-US" sz="1400" dirty="0">
                <a:solidFill>
                  <a:schemeClr val="tx1"/>
                </a:solidFill>
              </a:rPr>
              <a:t>RF-02 ficha de tres campos · RF-05 y RF-06 acceso de relevo sin cuenta · RF-07 cortarlo · RF-08 registro de cada acceso · RF-42 llenado asistido</a:t>
            </a:r>
            <a:endParaRPr lang="en-US" sz="1400" dirty="0"/>
          </a:p>
        </p:txBody>
      </p:sp>
      <p:sp>
        <p:nvSpPr>
          <p:cNvPr id="8" name="Capa 2"/>
          <p:cNvSpPr/>
          <p:nvPr/>
        </p:nvSpPr>
        <p:spPr>
          <a:xfrm>
            <a:off x="548640" y="2953512"/>
            <a:ext cx="5989320" cy="969264"/>
          </a:xfrm>
          <a:prstGeom prst="roundRect">
            <a:avLst>
              <a:gd name="adj" fmla="val 11321"/>
            </a:avLst>
          </a:prstGeom>
          <a:solidFill>
            <a:schemeClr val="bg1"/>
          </a:solidFill>
          <a:ln w="12700">
            <a:solidFill>
              <a:schemeClr val="bg1"/>
            </a:solidFill>
            <a:prstDash val="solid"/>
          </a:ln>
        </p:spPr>
      </p:sp>
      <p:sp>
        <p:nvSpPr>
          <p:cNvPr id="9" name="Etiqueta"/>
          <p:cNvSpPr txBox="1"/>
          <p:nvPr/>
        </p:nvSpPr>
        <p:spPr>
          <a:xfrm>
            <a:off x="731520" y="3255264"/>
            <a:ext cx="1417320" cy="36576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Capa 2</a:t>
            </a:r>
            <a:endParaRPr lang="en-US" sz="1300" dirty="0"/>
          </a:p>
        </p:txBody>
      </p:sp>
      <p:sp>
        <p:nvSpPr>
          <p:cNvPr id="10" name="Text 8"/>
          <p:cNvSpPr txBox="1"/>
          <p:nvPr/>
        </p:nvSpPr>
        <p:spPr>
          <a:xfrm>
            <a:off x="2331720" y="3044952"/>
            <a:ext cx="4023360" cy="786384"/>
          </a:xfrm>
          <a:prstGeom prst="rect">
            <a:avLst/>
          </a:prstGeom>
          <a:noFill/>
          <a:ln/>
        </p:spPr>
        <p:txBody>
          <a:bodyPr wrap="square" lIns="0" tIns="0" rIns="0" bIns="0" rtlCol="0" anchor="ctr"/>
          <a:lstStyle/>
          <a:p>
            <a:pPr indent="0" marL="0">
              <a:buNone/>
            </a:pPr>
            <a:r>
              <a:rPr lang="en-US" sz="1400" dirty="0">
                <a:solidFill>
                  <a:schemeClr val="tx1"/>
                </a:solidFill>
              </a:rPr>
              <a:t>RF-10 declarar el consumo · RF-11 fecha en que se acaba · RF-12 aviso anticipado · RF-14 y RF-15 lista exportable</a:t>
            </a:r>
            <a:endParaRPr lang="en-US" sz="1400" dirty="0"/>
          </a:p>
        </p:txBody>
      </p:sp>
      <p:sp>
        <p:nvSpPr>
          <p:cNvPr id="11" name="Capa 3"/>
          <p:cNvSpPr/>
          <p:nvPr/>
        </p:nvSpPr>
        <p:spPr>
          <a:xfrm>
            <a:off x="548640" y="4032504"/>
            <a:ext cx="5989320" cy="969264"/>
          </a:xfrm>
          <a:prstGeom prst="roundRect">
            <a:avLst>
              <a:gd name="adj" fmla="val 11321"/>
            </a:avLst>
          </a:prstGeom>
          <a:solidFill>
            <a:schemeClr val="bg1"/>
          </a:solidFill>
          <a:ln w="12700">
            <a:solidFill>
              <a:schemeClr val="bg1"/>
            </a:solidFill>
            <a:prstDash val="solid"/>
          </a:ln>
        </p:spPr>
      </p:sp>
      <p:sp>
        <p:nvSpPr>
          <p:cNvPr id="12" name="Etiqueta"/>
          <p:cNvSpPr txBox="1"/>
          <p:nvPr/>
        </p:nvSpPr>
        <p:spPr>
          <a:xfrm>
            <a:off x="731520" y="4334256"/>
            <a:ext cx="1417320" cy="36576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Capa 3</a:t>
            </a:r>
            <a:endParaRPr lang="en-US" sz="1300" dirty="0"/>
          </a:p>
        </p:txBody>
      </p:sp>
      <p:sp>
        <p:nvSpPr>
          <p:cNvPr id="13" name="Text 11"/>
          <p:cNvSpPr txBox="1"/>
          <p:nvPr/>
        </p:nvSpPr>
        <p:spPr>
          <a:xfrm>
            <a:off x="2331720" y="4123944"/>
            <a:ext cx="4023360" cy="786384"/>
          </a:xfrm>
          <a:prstGeom prst="rect">
            <a:avLst/>
          </a:prstGeom>
          <a:noFill/>
          <a:ln/>
        </p:spPr>
        <p:txBody>
          <a:bodyPr wrap="square" lIns="0" tIns="0" rIns="0" bIns="0" rtlCol="0" anchor="ctr"/>
          <a:lstStyle/>
          <a:p>
            <a:pPr indent="0" marL="0">
              <a:buNone/>
            </a:pPr>
            <a:r>
              <a:rPr lang="en-US" sz="1400" dirty="0">
                <a:solidFill>
                  <a:schemeClr val="tx1"/>
                </a:solidFill>
              </a:rPr>
              <a:t>RF-20 pedido desde el catálogo · RF-21 qué hacer si falta un producto · RF-25 un solo cobro del total · RF-26 vista de comercio</a:t>
            </a:r>
            <a:endParaRPr lang="en-US" sz="1400" dirty="0"/>
          </a:p>
        </p:txBody>
      </p:sp>
      <p:sp>
        <p:nvSpPr>
          <p:cNvPr id="14" name="Transversales"/>
          <p:cNvSpPr/>
          <p:nvPr/>
        </p:nvSpPr>
        <p:spPr>
          <a:xfrm>
            <a:off x="548640" y="5111496"/>
            <a:ext cx="5989320" cy="969264"/>
          </a:xfrm>
          <a:prstGeom prst="roundRect">
            <a:avLst>
              <a:gd name="adj" fmla="val 11321"/>
            </a:avLst>
          </a:prstGeom>
          <a:solidFill>
            <a:schemeClr val="bg1"/>
          </a:solidFill>
          <a:ln w="12700">
            <a:solidFill>
              <a:schemeClr val="bg1"/>
            </a:solidFill>
            <a:prstDash val="solid"/>
          </a:ln>
        </p:spPr>
      </p:sp>
      <p:sp>
        <p:nvSpPr>
          <p:cNvPr id="15" name="Etiqueta"/>
          <p:cNvSpPr txBox="1"/>
          <p:nvPr/>
        </p:nvSpPr>
        <p:spPr>
          <a:xfrm>
            <a:off x="731520" y="5413248"/>
            <a:ext cx="1417320" cy="365760"/>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Transversales</a:t>
            </a:r>
            <a:endParaRPr lang="en-US" sz="1300" dirty="0"/>
          </a:p>
        </p:txBody>
      </p:sp>
      <p:sp>
        <p:nvSpPr>
          <p:cNvPr id="16" name="Text 14"/>
          <p:cNvSpPr txBox="1"/>
          <p:nvPr/>
        </p:nvSpPr>
        <p:spPr>
          <a:xfrm>
            <a:off x="2331720" y="5202936"/>
            <a:ext cx="4023360" cy="786384"/>
          </a:xfrm>
          <a:prstGeom prst="rect">
            <a:avLst/>
          </a:prstGeom>
          <a:noFill/>
          <a:ln/>
        </p:spPr>
        <p:txBody>
          <a:bodyPr wrap="square" lIns="0" tIns="0" rIns="0" bIns="0" rtlCol="0" anchor="ctr"/>
          <a:lstStyle/>
          <a:p>
            <a:pPr indent="0" marL="0">
              <a:buNone/>
            </a:pPr>
            <a:r>
              <a:rPr lang="en-US" sz="1400" dirty="0">
                <a:solidFill>
                  <a:schemeClr val="tx1"/>
                </a:solidFill>
              </a:rPr>
              <a:t>RF-37 registro y sesión · RF-38 invitar miembros con su rol · RF-39 avisos por push y correo</a:t>
            </a:r>
            <a:endParaRPr lang="en-US" sz="1400" dirty="0"/>
          </a:p>
        </p:txBody>
      </p:sp>
      <p:sp>
        <p:nvSpPr>
          <p:cNvPr id="17" name="Text 15"/>
          <p:cNvSpPr txBox="1"/>
          <p:nvPr/>
        </p:nvSpPr>
        <p:spPr>
          <a:xfrm>
            <a:off x="6812280" y="1481328"/>
            <a:ext cx="4830775" cy="320040"/>
          </a:xfrm>
          <a:prstGeom prst="rect">
            <a:avLst/>
          </a:prstGeom>
          <a:noFill/>
          <a:ln/>
        </p:spPr>
        <p:txBody>
          <a:bodyPr wrap="square" lIns="0" tIns="0" rIns="0" bIns="0" rtlCol="0" anchor="t"/>
          <a:lstStyle/>
          <a:p>
            <a:pPr indent="0" marL="0">
              <a:buNone/>
            </a:pPr>
            <a:r>
              <a:rPr lang="en-US" sz="1600" b="1" dirty="0">
                <a:solidFill>
                  <a:schemeClr val="tx2"/>
                </a:solidFill>
              </a:rPr>
              <a:t>No funcionales</a:t>
            </a:r>
            <a:pPr indent="0" marL="0">
              <a:buNone/>
            </a:pPr>
            <a:r>
              <a:rPr lang="en-US" sz="1600" dirty="0">
                <a:solidFill>
                  <a:schemeClr val="accent3"/>
                </a:solidFill>
              </a:rPr>
              <a:t>  ·  atributos de calidad</a:t>
            </a:r>
            <a:endParaRPr lang="en-US" sz="1600" dirty="0"/>
          </a:p>
        </p:txBody>
      </p:sp>
      <p:sp>
        <p:nvSpPr>
          <p:cNvPr id="18" name="No funcionales"/>
          <p:cNvSpPr/>
          <p:nvPr/>
        </p:nvSpPr>
        <p:spPr>
          <a:xfrm>
            <a:off x="6812280" y="1874520"/>
            <a:ext cx="4830775" cy="4206240"/>
          </a:xfrm>
          <a:prstGeom prst="roundRect">
            <a:avLst>
              <a:gd name="adj" fmla="val 2609"/>
            </a:avLst>
          </a:prstGeom>
          <a:solidFill>
            <a:schemeClr val="bg1"/>
          </a:solidFill>
          <a:ln w="12700">
            <a:solidFill>
              <a:schemeClr val="bg1"/>
            </a:solidFill>
            <a:prstDash val="solid"/>
          </a:ln>
        </p:spPr>
      </p:sp>
      <p:sp>
        <p:nvSpPr>
          <p:cNvPr id="19" name="Círculo de ícono"/>
          <p:cNvSpPr/>
          <p:nvPr/>
        </p:nvSpPr>
        <p:spPr>
          <a:xfrm>
            <a:off x="6995160" y="2066544"/>
            <a:ext cx="457200" cy="457200"/>
          </a:xfrm>
          <a:prstGeom prst="ellipse">
            <a:avLst/>
          </a:prstGeom>
          <a:solidFill>
            <a:schemeClr val="accent1"/>
          </a:solidFill>
          <a:ln w="12700">
            <a:solidFill>
              <a:schemeClr val="accent1"/>
            </a:solidFill>
            <a:prstDash val="solid"/>
          </a:ln>
        </p:spPr>
      </p:sp>
      <p:pic>
        <p:nvPicPr>
          <p:cNvPr id="20" name="Image 0" descr="Ícono CreditCard">    </p:cNvPr>
          <p:cNvPicPr>
            <a:picLocks noChangeAspect="1"/>
          </p:cNvPicPr>
          <p:nvPr/>
        </p:nvPicPr>
        <p:blipFill>
          <a:blip r:embed="rId1"/>
          <a:stretch>
            <a:fillRect/>
          </a:stretch>
        </p:blipFill>
        <p:spPr>
          <a:xfrm>
            <a:off x="7104888" y="2176272"/>
            <a:ext cx="237744" cy="237744"/>
          </a:xfrm>
          <a:prstGeom prst="rect">
            <a:avLst/>
          </a:prstGeom>
        </p:spPr>
      </p:pic>
      <p:sp>
        <p:nvSpPr>
          <p:cNvPr id="21" name="Text 18"/>
          <p:cNvSpPr txBox="1"/>
          <p:nvPr/>
        </p:nvSpPr>
        <p:spPr>
          <a:xfrm>
            <a:off x="7589520" y="2011680"/>
            <a:ext cx="3916375" cy="603504"/>
          </a:xfrm>
          <a:prstGeom prst="rect">
            <a:avLst/>
          </a:prstGeom>
          <a:noFill/>
          <a:ln/>
        </p:spPr>
        <p:txBody>
          <a:bodyPr wrap="square" lIns="0" tIns="0" rIns="0" bIns="0" rtlCol="0" anchor="ctr"/>
          <a:lstStyle/>
          <a:p>
            <a:pPr indent="0" marL="0">
              <a:buNone/>
            </a:pPr>
            <a:r>
              <a:rPr lang="en-US" sz="1400" b="1" dirty="0">
                <a:solidFill>
                  <a:schemeClr val="tx1"/>
                </a:solidFill>
              </a:rPr>
              <a:t>Integridad del pago</a:t>
            </a:r>
            <a:endParaRPr lang="en-US" sz="1400" dirty="0"/>
          </a:p>
          <a:p>
            <a:pPr indent="0" marL="0">
              <a:buNone/>
            </a:pPr>
            <a:r>
              <a:rPr lang="en-US" sz="1400" dirty="0">
                <a:solidFill>
                  <a:schemeClr val="tx1"/>
                </a:solidFill>
              </a:rPr>
              <a:t>ningún pedido pagado sin registrar</a:t>
            </a:r>
            <a:endParaRPr lang="en-US" sz="1400" dirty="0"/>
          </a:p>
        </p:txBody>
      </p:sp>
      <p:sp>
        <p:nvSpPr>
          <p:cNvPr id="22" name="Círculo de ícono"/>
          <p:cNvSpPr/>
          <p:nvPr/>
        </p:nvSpPr>
        <p:spPr>
          <a:xfrm>
            <a:off x="6995160" y="2734056"/>
            <a:ext cx="457200" cy="457200"/>
          </a:xfrm>
          <a:prstGeom prst="ellipse">
            <a:avLst/>
          </a:prstGeom>
          <a:solidFill>
            <a:schemeClr val="accent1"/>
          </a:solidFill>
          <a:ln w="12700">
            <a:solidFill>
              <a:schemeClr val="accent1"/>
            </a:solidFill>
            <a:prstDash val="solid"/>
          </a:ln>
        </p:spPr>
      </p:sp>
      <p:pic>
        <p:nvPicPr>
          <p:cNvPr id="23" name="Image 1" descr="Ícono Lock">    </p:cNvPr>
          <p:cNvPicPr>
            <a:picLocks noChangeAspect="1"/>
          </p:cNvPicPr>
          <p:nvPr/>
        </p:nvPicPr>
        <p:blipFill>
          <a:blip r:embed="rId2"/>
          <a:stretch>
            <a:fillRect/>
          </a:stretch>
        </p:blipFill>
        <p:spPr>
          <a:xfrm>
            <a:off x="7104888" y="2843784"/>
            <a:ext cx="237744" cy="237744"/>
          </a:xfrm>
          <a:prstGeom prst="rect">
            <a:avLst/>
          </a:prstGeom>
        </p:spPr>
      </p:pic>
      <p:sp>
        <p:nvSpPr>
          <p:cNvPr id="24" name="Text 20"/>
          <p:cNvSpPr txBox="1"/>
          <p:nvPr/>
        </p:nvSpPr>
        <p:spPr>
          <a:xfrm>
            <a:off x="7589520" y="2679192"/>
            <a:ext cx="3916375" cy="603504"/>
          </a:xfrm>
          <a:prstGeom prst="rect">
            <a:avLst/>
          </a:prstGeom>
          <a:noFill/>
          <a:ln/>
        </p:spPr>
        <p:txBody>
          <a:bodyPr wrap="square" lIns="0" tIns="0" rIns="0" bIns="0" rtlCol="0" anchor="ctr"/>
          <a:lstStyle/>
          <a:p>
            <a:pPr indent="0" marL="0">
              <a:buNone/>
            </a:pPr>
            <a:r>
              <a:rPr lang="en-US" sz="1400" b="1" dirty="0">
                <a:solidFill>
                  <a:schemeClr val="tx1"/>
                </a:solidFill>
              </a:rPr>
              <a:t>Confidencialidad</a:t>
            </a:r>
            <a:endParaRPr lang="en-US" sz="1400" dirty="0"/>
          </a:p>
          <a:p>
            <a:pPr indent="0" marL="0">
              <a:buNone/>
            </a:pPr>
            <a:r>
              <a:rPr lang="en-US" sz="1400" dirty="0">
                <a:solidFill>
                  <a:schemeClr val="tx1"/>
                </a:solidFill>
              </a:rPr>
              <a:t>cada acceso a la ficha queda registrado</a:t>
            </a:r>
            <a:endParaRPr lang="en-US" sz="1400" dirty="0"/>
          </a:p>
        </p:txBody>
      </p:sp>
      <p:sp>
        <p:nvSpPr>
          <p:cNvPr id="25" name="Círculo de ícono"/>
          <p:cNvSpPr/>
          <p:nvPr/>
        </p:nvSpPr>
        <p:spPr>
          <a:xfrm>
            <a:off x="6995160" y="3401568"/>
            <a:ext cx="457200" cy="457200"/>
          </a:xfrm>
          <a:prstGeom prst="ellipse">
            <a:avLst/>
          </a:prstGeom>
          <a:solidFill>
            <a:schemeClr val="accent1"/>
          </a:solidFill>
          <a:ln w="12700">
            <a:solidFill>
              <a:schemeClr val="accent1"/>
            </a:solidFill>
            <a:prstDash val="solid"/>
          </a:ln>
        </p:spPr>
      </p:sp>
      <p:pic>
        <p:nvPicPr>
          <p:cNvPr id="26" name="Image 2" descr="Ícono Accessibility">    </p:cNvPr>
          <p:cNvPicPr>
            <a:picLocks noChangeAspect="1"/>
          </p:cNvPicPr>
          <p:nvPr/>
        </p:nvPicPr>
        <p:blipFill>
          <a:blip r:embed="rId3"/>
          <a:stretch>
            <a:fillRect/>
          </a:stretch>
        </p:blipFill>
        <p:spPr>
          <a:xfrm>
            <a:off x="7104888" y="3511296"/>
            <a:ext cx="237744" cy="237744"/>
          </a:xfrm>
          <a:prstGeom prst="rect">
            <a:avLst/>
          </a:prstGeom>
        </p:spPr>
      </p:pic>
      <p:sp>
        <p:nvSpPr>
          <p:cNvPr id="27" name="Text 22"/>
          <p:cNvSpPr txBox="1"/>
          <p:nvPr/>
        </p:nvSpPr>
        <p:spPr>
          <a:xfrm>
            <a:off x="7589520" y="3346704"/>
            <a:ext cx="3916375" cy="603504"/>
          </a:xfrm>
          <a:prstGeom prst="rect">
            <a:avLst/>
          </a:prstGeom>
          <a:noFill/>
          <a:ln/>
        </p:spPr>
        <p:txBody>
          <a:bodyPr wrap="square" lIns="0" tIns="0" rIns="0" bIns="0" rtlCol="0" anchor="ctr"/>
          <a:lstStyle/>
          <a:p>
            <a:pPr indent="0" marL="0">
              <a:buNone/>
            </a:pPr>
            <a:r>
              <a:rPr lang="en-US" sz="1400" b="1" dirty="0">
                <a:solidFill>
                  <a:schemeClr val="tx1"/>
                </a:solidFill>
              </a:rPr>
              <a:t>Accesibilidad</a:t>
            </a:r>
            <a:endParaRPr lang="en-US" sz="1400" dirty="0"/>
          </a:p>
          <a:p>
            <a:pPr indent="0" marL="0">
              <a:buNone/>
            </a:pPr>
            <a:r>
              <a:rPr lang="en-US" sz="1400" dirty="0">
                <a:solidFill>
                  <a:schemeClr val="tx1"/>
                </a:solidFill>
              </a:rPr>
              <a:t>ficha en menos de 3 min, texto al 200%</a:t>
            </a:r>
            <a:endParaRPr lang="en-US" sz="1400" dirty="0"/>
          </a:p>
        </p:txBody>
      </p:sp>
      <p:sp>
        <p:nvSpPr>
          <p:cNvPr id="28" name="Círculo de ícono"/>
          <p:cNvSpPr/>
          <p:nvPr/>
        </p:nvSpPr>
        <p:spPr>
          <a:xfrm>
            <a:off x="6995160" y="4069080"/>
            <a:ext cx="457200" cy="457200"/>
          </a:xfrm>
          <a:prstGeom prst="ellipse">
            <a:avLst/>
          </a:prstGeom>
          <a:solidFill>
            <a:schemeClr val="accent1"/>
          </a:solidFill>
          <a:ln w="12700">
            <a:solidFill>
              <a:schemeClr val="accent1"/>
            </a:solidFill>
            <a:prstDash val="solid"/>
          </a:ln>
        </p:spPr>
      </p:sp>
      <p:pic>
        <p:nvPicPr>
          <p:cNvPr id="29" name="Image 3" descr="Ícono Blocks">    </p:cNvPr>
          <p:cNvPicPr>
            <a:picLocks noChangeAspect="1"/>
          </p:cNvPicPr>
          <p:nvPr/>
        </p:nvPicPr>
        <p:blipFill>
          <a:blip r:embed="rId4"/>
          <a:stretch>
            <a:fillRect/>
          </a:stretch>
        </p:blipFill>
        <p:spPr>
          <a:xfrm>
            <a:off x="7104888" y="4178808"/>
            <a:ext cx="237744" cy="237744"/>
          </a:xfrm>
          <a:prstGeom prst="rect">
            <a:avLst/>
          </a:prstGeom>
        </p:spPr>
      </p:pic>
      <p:sp>
        <p:nvSpPr>
          <p:cNvPr id="30" name="Text 24"/>
          <p:cNvSpPr txBox="1"/>
          <p:nvPr/>
        </p:nvSpPr>
        <p:spPr>
          <a:xfrm>
            <a:off x="7589520" y="4014216"/>
            <a:ext cx="3916375" cy="603504"/>
          </a:xfrm>
          <a:prstGeom prst="rect">
            <a:avLst/>
          </a:prstGeom>
          <a:noFill/>
          <a:ln/>
        </p:spPr>
        <p:txBody>
          <a:bodyPr wrap="square" lIns="0" tIns="0" rIns="0" bIns="0" rtlCol="0" anchor="ctr"/>
          <a:lstStyle/>
          <a:p>
            <a:pPr indent="0" marL="0">
              <a:buNone/>
            </a:pPr>
            <a:r>
              <a:rPr lang="en-US" sz="1400" b="1" dirty="0">
                <a:solidFill>
                  <a:schemeClr val="tx1"/>
                </a:solidFill>
              </a:rPr>
              <a:t>Modularidad</a:t>
            </a:r>
            <a:endParaRPr lang="en-US" sz="1400" dirty="0"/>
          </a:p>
          <a:p>
            <a:pPr indent="0" marL="0">
              <a:buNone/>
            </a:pPr>
            <a:r>
              <a:rPr lang="en-US" sz="1400" dirty="0">
                <a:solidFill>
                  <a:schemeClr val="tx1"/>
                </a:solidFill>
              </a:rPr>
              <a:t>la capa 3 se quita sin romper el resto</a:t>
            </a:r>
            <a:endParaRPr lang="en-US" sz="1400" dirty="0"/>
          </a:p>
        </p:txBody>
      </p:sp>
      <p:sp>
        <p:nvSpPr>
          <p:cNvPr id="31" name="Círculo de ícono"/>
          <p:cNvSpPr/>
          <p:nvPr/>
        </p:nvSpPr>
        <p:spPr>
          <a:xfrm>
            <a:off x="6995160" y="4736592"/>
            <a:ext cx="457200" cy="457200"/>
          </a:xfrm>
          <a:prstGeom prst="ellipse">
            <a:avLst/>
          </a:prstGeom>
          <a:solidFill>
            <a:schemeClr val="accent1"/>
          </a:solidFill>
          <a:ln w="12700">
            <a:solidFill>
              <a:schemeClr val="accent1"/>
            </a:solidFill>
            <a:prstDash val="solid"/>
          </a:ln>
        </p:spPr>
      </p:sp>
      <p:pic>
        <p:nvPicPr>
          <p:cNvPr id="32" name="Image 4" descr="Ícono Gauge">    </p:cNvPr>
          <p:cNvPicPr>
            <a:picLocks noChangeAspect="1"/>
          </p:cNvPicPr>
          <p:nvPr/>
        </p:nvPicPr>
        <p:blipFill>
          <a:blip r:embed="rId5"/>
          <a:stretch>
            <a:fillRect/>
          </a:stretch>
        </p:blipFill>
        <p:spPr>
          <a:xfrm>
            <a:off x="7104888" y="4846320"/>
            <a:ext cx="237744" cy="237744"/>
          </a:xfrm>
          <a:prstGeom prst="rect">
            <a:avLst/>
          </a:prstGeom>
        </p:spPr>
      </p:pic>
      <p:sp>
        <p:nvSpPr>
          <p:cNvPr id="33" name="Text 26"/>
          <p:cNvSpPr txBox="1"/>
          <p:nvPr/>
        </p:nvSpPr>
        <p:spPr>
          <a:xfrm>
            <a:off x="7589520" y="4681728"/>
            <a:ext cx="3916375" cy="603504"/>
          </a:xfrm>
          <a:prstGeom prst="rect">
            <a:avLst/>
          </a:prstGeom>
          <a:noFill/>
          <a:ln/>
        </p:spPr>
        <p:txBody>
          <a:bodyPr wrap="square" lIns="0" tIns="0" rIns="0" bIns="0" rtlCol="0" anchor="ctr"/>
          <a:lstStyle/>
          <a:p>
            <a:pPr indent="0" marL="0">
              <a:buNone/>
            </a:pPr>
            <a:r>
              <a:rPr lang="en-US" sz="1400" b="1" dirty="0">
                <a:solidFill>
                  <a:schemeClr val="tx1"/>
                </a:solidFill>
              </a:rPr>
              <a:t>Rendimiento</a:t>
            </a:r>
            <a:endParaRPr lang="en-US" sz="1400" dirty="0"/>
          </a:p>
          <a:p>
            <a:pPr indent="0" marL="0">
              <a:buNone/>
            </a:pPr>
            <a:r>
              <a:rPr lang="en-US" sz="1400" dirty="0">
                <a:solidFill>
                  <a:schemeClr val="tx1"/>
                </a:solidFill>
              </a:rPr>
              <a:t>bajo 800 ms en p95 con 50 usuarios</a:t>
            </a:r>
            <a:endParaRPr lang="en-US" sz="1400" dirty="0"/>
          </a:p>
        </p:txBody>
      </p:sp>
      <p:sp>
        <p:nvSpPr>
          <p:cNvPr id="34" name="Círculo de ícono"/>
          <p:cNvSpPr/>
          <p:nvPr/>
        </p:nvSpPr>
        <p:spPr>
          <a:xfrm>
            <a:off x="6995160" y="5404104"/>
            <a:ext cx="457200" cy="457200"/>
          </a:xfrm>
          <a:prstGeom prst="ellipse">
            <a:avLst/>
          </a:prstGeom>
          <a:solidFill>
            <a:schemeClr val="accent1"/>
          </a:solidFill>
          <a:ln w="12700">
            <a:solidFill>
              <a:schemeClr val="accent1"/>
            </a:solidFill>
            <a:prstDash val="solid"/>
          </a:ln>
        </p:spPr>
      </p:sp>
      <p:pic>
        <p:nvPicPr>
          <p:cNvPr id="35" name="Image 5" descr="Ícono Activity">    </p:cNvPr>
          <p:cNvPicPr>
            <a:picLocks noChangeAspect="1"/>
          </p:cNvPicPr>
          <p:nvPr/>
        </p:nvPicPr>
        <p:blipFill>
          <a:blip r:embed="rId6"/>
          <a:stretch>
            <a:fillRect/>
          </a:stretch>
        </p:blipFill>
        <p:spPr>
          <a:xfrm>
            <a:off x="7104888" y="5513832"/>
            <a:ext cx="237744" cy="237744"/>
          </a:xfrm>
          <a:prstGeom prst="rect">
            <a:avLst/>
          </a:prstGeom>
        </p:spPr>
      </p:pic>
      <p:sp>
        <p:nvSpPr>
          <p:cNvPr id="36" name="Text 28"/>
          <p:cNvSpPr txBox="1"/>
          <p:nvPr/>
        </p:nvSpPr>
        <p:spPr>
          <a:xfrm>
            <a:off x="7589520" y="5349240"/>
            <a:ext cx="3916375" cy="603504"/>
          </a:xfrm>
          <a:prstGeom prst="rect">
            <a:avLst/>
          </a:prstGeom>
          <a:noFill/>
          <a:ln/>
        </p:spPr>
        <p:txBody>
          <a:bodyPr wrap="square" lIns="0" tIns="0" rIns="0" bIns="0" rtlCol="0" anchor="ctr"/>
          <a:lstStyle/>
          <a:p>
            <a:pPr indent="0" marL="0">
              <a:buNone/>
            </a:pPr>
            <a:r>
              <a:rPr lang="en-US" sz="1400" b="1" dirty="0">
                <a:solidFill>
                  <a:schemeClr val="tx1"/>
                </a:solidFill>
              </a:rPr>
              <a:t>Observabilidad</a:t>
            </a:r>
            <a:endParaRPr lang="en-US" sz="1400" dirty="0"/>
          </a:p>
          <a:p>
            <a:pPr indent="0" marL="0">
              <a:buNone/>
            </a:pPr>
            <a:r>
              <a:rPr lang="en-US" sz="1400" dirty="0">
                <a:solidFill>
                  <a:schemeClr val="tx1"/>
                </a:solidFill>
              </a:rPr>
              <a:t>cada pedido se reconstruye sin tocar la base</a:t>
            </a:r>
            <a:endParaRPr lang="en-US" sz="14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REQUERIMIENTOS</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Requerimientos funcionales y no funcionales</a:t>
            </a:r>
            <a:endParaRPr lang="en-US" sz="3200" dirty="0"/>
          </a:p>
        </p:txBody>
      </p:sp>
      <p:sp>
        <p:nvSpPr>
          <p:cNvPr id="4" name="Marca alternativa simplificada"/>
          <p:cNvSpPr txBox="1"/>
          <p:nvPr/>
        </p:nvSpPr>
        <p:spPr>
          <a:xfrm>
            <a:off x="8899855" y="329184"/>
            <a:ext cx="2743200" cy="347472"/>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tx1"/>
                </a:solidFill>
              </a:rPr>
              <a:t>Alternativa simplificada</a:t>
            </a:r>
            <a:endParaRPr lang="en-US" sz="1300" dirty="0"/>
          </a:p>
        </p:txBody>
      </p:sp>
      <p:sp>
        <p:nvSpPr>
          <p:cNvPr id="5" name="Text 3"/>
          <p:cNvSpPr txBox="1"/>
          <p:nvPr/>
        </p:nvSpPr>
        <p:spPr>
          <a:xfrm>
            <a:off x="548640" y="1481328"/>
            <a:ext cx="6309360" cy="320040"/>
          </a:xfrm>
          <a:prstGeom prst="rect">
            <a:avLst/>
          </a:prstGeom>
          <a:noFill/>
          <a:ln/>
        </p:spPr>
        <p:txBody>
          <a:bodyPr wrap="square" lIns="0" tIns="0" rIns="0" bIns="0" rtlCol="0" anchor="t"/>
          <a:lstStyle/>
          <a:p>
            <a:pPr indent="0" marL="0">
              <a:buNone/>
            </a:pPr>
            <a:r>
              <a:rPr lang="en-US" sz="1800" b="1" dirty="0">
                <a:solidFill>
                  <a:schemeClr val="tx2"/>
                </a:solidFill>
              </a:rPr>
              <a:t>Funcionales</a:t>
            </a:r>
            <a:pPr indent="0" marL="0">
              <a:buNone/>
            </a:pPr>
            <a:r>
              <a:rPr lang="en-US" sz="1800" dirty="0">
                <a:solidFill>
                  <a:schemeClr val="accent3"/>
                </a:solidFill>
              </a:rPr>
              <a:t>  ·  26 obligatorios de 42</a:t>
            </a:r>
            <a:endParaRPr lang="en-US" sz="1800" dirty="0"/>
          </a:p>
        </p:txBody>
      </p:sp>
      <p:sp>
        <p:nvSpPr>
          <p:cNvPr id="6" name="Capa 1 · Ficha y relevo"/>
          <p:cNvSpPr/>
          <p:nvPr/>
        </p:nvSpPr>
        <p:spPr>
          <a:xfrm>
            <a:off x="548640" y="1920240"/>
            <a:ext cx="6309360" cy="932688"/>
          </a:xfrm>
          <a:prstGeom prst="roundRect">
            <a:avLst>
              <a:gd name="adj" fmla="val 11765"/>
            </a:avLst>
          </a:prstGeom>
          <a:solidFill>
            <a:schemeClr val="accent4"/>
          </a:solidFill>
          <a:ln w="12700">
            <a:solidFill>
              <a:schemeClr val="accent4"/>
            </a:solidFill>
            <a:prstDash val="solid"/>
          </a:ln>
        </p:spPr>
      </p:sp>
      <p:sp>
        <p:nvSpPr>
          <p:cNvPr id="7" name="Círculo de ícono"/>
          <p:cNvSpPr/>
          <p:nvPr/>
        </p:nvSpPr>
        <p:spPr>
          <a:xfrm>
            <a:off x="749808" y="2103120"/>
            <a:ext cx="566928" cy="566928"/>
          </a:xfrm>
          <a:prstGeom prst="ellipse">
            <a:avLst/>
          </a:prstGeom>
          <a:solidFill>
            <a:schemeClr val="tx2"/>
          </a:solidFill>
          <a:ln w="12700">
            <a:solidFill>
              <a:schemeClr val="tx2"/>
            </a:solidFill>
            <a:prstDash val="solid"/>
          </a:ln>
        </p:spPr>
      </p:sp>
      <p:pic>
        <p:nvPicPr>
          <p:cNvPr id="8" name="Image 0" descr="Ícono ClipboardList">    </p:cNvPr>
          <p:cNvPicPr>
            <a:picLocks noChangeAspect="1"/>
          </p:cNvPicPr>
          <p:nvPr/>
        </p:nvPicPr>
        <p:blipFill>
          <a:blip r:embed="rId1"/>
          <a:stretch>
            <a:fillRect/>
          </a:stretch>
        </p:blipFill>
        <p:spPr>
          <a:xfrm>
            <a:off x="885871" y="2239183"/>
            <a:ext cx="294803" cy="294803"/>
          </a:xfrm>
          <a:prstGeom prst="rect">
            <a:avLst/>
          </a:prstGeom>
        </p:spPr>
      </p:pic>
      <p:sp>
        <p:nvSpPr>
          <p:cNvPr id="9" name="Text 6"/>
          <p:cNvSpPr txBox="1"/>
          <p:nvPr/>
        </p:nvSpPr>
        <p:spPr>
          <a:xfrm>
            <a:off x="1508760" y="1975104"/>
            <a:ext cx="5166360" cy="822960"/>
          </a:xfrm>
          <a:prstGeom prst="rect">
            <a:avLst/>
          </a:prstGeom>
          <a:noFill/>
          <a:ln/>
        </p:spPr>
        <p:txBody>
          <a:bodyPr wrap="square" lIns="0" tIns="0" rIns="0" bIns="0" rtlCol="0" anchor="ctr"/>
          <a:lstStyle/>
          <a:p>
            <a:pPr indent="0" marL="0">
              <a:buNone/>
            </a:pPr>
            <a:r>
              <a:rPr lang="en-US" sz="1600" b="1" dirty="0">
                <a:solidFill>
                  <a:schemeClr val="tx1"/>
                </a:solidFill>
              </a:rPr>
              <a:t>Capa 1 · Ficha y relevo</a:t>
            </a:r>
            <a:endParaRPr lang="en-US" sz="1600" dirty="0"/>
          </a:p>
          <a:p>
            <a:pPr indent="0" marL="0">
              <a:buNone/>
            </a:pPr>
            <a:r>
              <a:rPr lang="en-US" sz="1600" dirty="0">
                <a:solidFill>
                  <a:schemeClr val="tx1"/>
                </a:solidFill>
              </a:rPr>
              <a:t>Tres campos, enlace con PIN que vence y se corta, y registro de cada acceso</a:t>
            </a:r>
            <a:endParaRPr lang="en-US" sz="1600" dirty="0"/>
          </a:p>
        </p:txBody>
      </p:sp>
      <p:sp>
        <p:nvSpPr>
          <p:cNvPr id="10" name="Capa 2 · Consumo y predicción"/>
          <p:cNvSpPr/>
          <p:nvPr/>
        </p:nvSpPr>
        <p:spPr>
          <a:xfrm>
            <a:off x="548640" y="2971800"/>
            <a:ext cx="6309360" cy="932688"/>
          </a:xfrm>
          <a:prstGeom prst="roundRect">
            <a:avLst>
              <a:gd name="adj" fmla="val 11765"/>
            </a:avLst>
          </a:prstGeom>
          <a:solidFill>
            <a:schemeClr val="bg1"/>
          </a:solidFill>
          <a:ln w="12700">
            <a:solidFill>
              <a:schemeClr val="bg1"/>
            </a:solidFill>
            <a:prstDash val="solid"/>
          </a:ln>
        </p:spPr>
      </p:sp>
      <p:sp>
        <p:nvSpPr>
          <p:cNvPr id="11" name="Círculo de ícono"/>
          <p:cNvSpPr/>
          <p:nvPr/>
        </p:nvSpPr>
        <p:spPr>
          <a:xfrm>
            <a:off x="749808" y="3154680"/>
            <a:ext cx="566928" cy="566928"/>
          </a:xfrm>
          <a:prstGeom prst="ellipse">
            <a:avLst/>
          </a:prstGeom>
          <a:solidFill>
            <a:schemeClr val="tx2"/>
          </a:solidFill>
          <a:ln w="12700">
            <a:solidFill>
              <a:schemeClr val="tx2"/>
            </a:solidFill>
            <a:prstDash val="solid"/>
          </a:ln>
        </p:spPr>
      </p:sp>
      <p:pic>
        <p:nvPicPr>
          <p:cNvPr id="12" name="Image 1" descr="Ícono CalendarClock">    </p:cNvPr>
          <p:cNvPicPr>
            <a:picLocks noChangeAspect="1"/>
          </p:cNvPicPr>
          <p:nvPr/>
        </p:nvPicPr>
        <p:blipFill>
          <a:blip r:embed="rId2"/>
          <a:stretch>
            <a:fillRect/>
          </a:stretch>
        </p:blipFill>
        <p:spPr>
          <a:xfrm>
            <a:off x="885871" y="3290743"/>
            <a:ext cx="294803" cy="294803"/>
          </a:xfrm>
          <a:prstGeom prst="rect">
            <a:avLst/>
          </a:prstGeom>
        </p:spPr>
      </p:pic>
      <p:sp>
        <p:nvSpPr>
          <p:cNvPr id="13" name="Text 9"/>
          <p:cNvSpPr txBox="1"/>
          <p:nvPr/>
        </p:nvSpPr>
        <p:spPr>
          <a:xfrm>
            <a:off x="1508760" y="3026664"/>
            <a:ext cx="5166360" cy="822960"/>
          </a:xfrm>
          <a:prstGeom prst="rect">
            <a:avLst/>
          </a:prstGeom>
          <a:noFill/>
          <a:ln/>
        </p:spPr>
        <p:txBody>
          <a:bodyPr wrap="square" lIns="0" tIns="0" rIns="0" bIns="0" rtlCol="0" anchor="ctr"/>
          <a:lstStyle/>
          <a:p>
            <a:pPr indent="0" marL="0">
              <a:buNone/>
            </a:pPr>
            <a:r>
              <a:rPr lang="en-US" sz="1600" b="1" dirty="0">
                <a:solidFill>
                  <a:schemeClr val="tx1"/>
                </a:solidFill>
              </a:rPr>
              <a:t>Capa 2 · Consumo y predicción</a:t>
            </a:r>
            <a:endParaRPr lang="en-US" sz="1600" dirty="0"/>
          </a:p>
          <a:p>
            <a:pPr indent="0" marL="0">
              <a:buNone/>
            </a:pPr>
            <a:r>
              <a:rPr lang="en-US" sz="1600" dirty="0">
                <a:solidFill>
                  <a:schemeClr val="tx1"/>
                </a:solidFill>
              </a:rPr>
              <a:t>Declarar el consumo, saber cuándo se acaba y exportar la lista</a:t>
            </a:r>
            <a:endParaRPr lang="en-US" sz="1600" dirty="0"/>
          </a:p>
        </p:txBody>
      </p:sp>
      <p:sp>
        <p:nvSpPr>
          <p:cNvPr id="14" name="Capa 3 · Despacho"/>
          <p:cNvSpPr/>
          <p:nvPr/>
        </p:nvSpPr>
        <p:spPr>
          <a:xfrm>
            <a:off x="548640" y="4023360"/>
            <a:ext cx="6309360" cy="932688"/>
          </a:xfrm>
          <a:prstGeom prst="roundRect">
            <a:avLst>
              <a:gd name="adj" fmla="val 11765"/>
            </a:avLst>
          </a:prstGeom>
          <a:solidFill>
            <a:schemeClr val="bg1"/>
          </a:solidFill>
          <a:ln w="12700">
            <a:solidFill>
              <a:schemeClr val="bg1"/>
            </a:solidFill>
            <a:prstDash val="solid"/>
          </a:ln>
        </p:spPr>
      </p:sp>
      <p:sp>
        <p:nvSpPr>
          <p:cNvPr id="15" name="Círculo de ícono"/>
          <p:cNvSpPr/>
          <p:nvPr/>
        </p:nvSpPr>
        <p:spPr>
          <a:xfrm>
            <a:off x="749808" y="4206240"/>
            <a:ext cx="566928" cy="566928"/>
          </a:xfrm>
          <a:prstGeom prst="ellipse">
            <a:avLst/>
          </a:prstGeom>
          <a:solidFill>
            <a:schemeClr val="tx2"/>
          </a:solidFill>
          <a:ln w="12700">
            <a:solidFill>
              <a:schemeClr val="tx2"/>
            </a:solidFill>
            <a:prstDash val="solid"/>
          </a:ln>
        </p:spPr>
      </p:sp>
      <p:pic>
        <p:nvPicPr>
          <p:cNvPr id="16" name="Image 2" descr="Ícono ShoppingCart">    </p:cNvPr>
          <p:cNvPicPr>
            <a:picLocks noChangeAspect="1"/>
          </p:cNvPicPr>
          <p:nvPr/>
        </p:nvPicPr>
        <p:blipFill>
          <a:blip r:embed="rId3"/>
          <a:stretch>
            <a:fillRect/>
          </a:stretch>
        </p:blipFill>
        <p:spPr>
          <a:xfrm>
            <a:off x="885871" y="4342303"/>
            <a:ext cx="294803" cy="294803"/>
          </a:xfrm>
          <a:prstGeom prst="rect">
            <a:avLst/>
          </a:prstGeom>
        </p:spPr>
      </p:pic>
      <p:sp>
        <p:nvSpPr>
          <p:cNvPr id="17" name="Text 12"/>
          <p:cNvSpPr txBox="1"/>
          <p:nvPr/>
        </p:nvSpPr>
        <p:spPr>
          <a:xfrm>
            <a:off x="1508760" y="4078224"/>
            <a:ext cx="5166360" cy="822960"/>
          </a:xfrm>
          <a:prstGeom prst="rect">
            <a:avLst/>
          </a:prstGeom>
          <a:noFill/>
          <a:ln/>
        </p:spPr>
        <p:txBody>
          <a:bodyPr wrap="square" lIns="0" tIns="0" rIns="0" bIns="0" rtlCol="0" anchor="ctr"/>
          <a:lstStyle/>
          <a:p>
            <a:pPr indent="0" marL="0">
              <a:buNone/>
            </a:pPr>
            <a:r>
              <a:rPr lang="en-US" sz="1600" b="1" dirty="0">
                <a:solidFill>
                  <a:schemeClr val="tx1"/>
                </a:solidFill>
              </a:rPr>
              <a:t>Capa 3 · Despacho</a:t>
            </a:r>
            <a:endParaRPr lang="en-US" sz="1600" dirty="0"/>
          </a:p>
          <a:p>
            <a:pPr indent="0" marL="0">
              <a:buNone/>
            </a:pPr>
            <a:r>
              <a:rPr lang="en-US" sz="1600" dirty="0">
                <a:solidFill>
                  <a:schemeClr val="tx1"/>
                </a:solidFill>
              </a:rPr>
              <a:t>Pedido con precio exacto y un solo cobro</a:t>
            </a:r>
            <a:endParaRPr lang="en-US" sz="1600" dirty="0"/>
          </a:p>
        </p:txBody>
      </p:sp>
      <p:sp>
        <p:nvSpPr>
          <p:cNvPr id="18" name="Cuenta y grupo"/>
          <p:cNvSpPr/>
          <p:nvPr/>
        </p:nvSpPr>
        <p:spPr>
          <a:xfrm>
            <a:off x="548640" y="5074920"/>
            <a:ext cx="6309360" cy="932688"/>
          </a:xfrm>
          <a:prstGeom prst="roundRect">
            <a:avLst>
              <a:gd name="adj" fmla="val 11765"/>
            </a:avLst>
          </a:prstGeom>
          <a:solidFill>
            <a:schemeClr val="bg1"/>
          </a:solidFill>
          <a:ln w="12700">
            <a:solidFill>
              <a:schemeClr val="bg1"/>
            </a:solidFill>
            <a:prstDash val="solid"/>
          </a:ln>
        </p:spPr>
      </p:sp>
      <p:sp>
        <p:nvSpPr>
          <p:cNvPr id="19" name="Círculo de ícono"/>
          <p:cNvSpPr/>
          <p:nvPr/>
        </p:nvSpPr>
        <p:spPr>
          <a:xfrm>
            <a:off x="749808" y="5257800"/>
            <a:ext cx="566928" cy="566928"/>
          </a:xfrm>
          <a:prstGeom prst="ellipse">
            <a:avLst/>
          </a:prstGeom>
          <a:solidFill>
            <a:schemeClr val="accent3"/>
          </a:solidFill>
          <a:ln w="12700">
            <a:solidFill>
              <a:schemeClr val="accent3"/>
            </a:solidFill>
            <a:prstDash val="solid"/>
          </a:ln>
        </p:spPr>
      </p:sp>
      <p:pic>
        <p:nvPicPr>
          <p:cNvPr id="20" name="Image 3" descr="Ícono Users">    </p:cNvPr>
          <p:cNvPicPr>
            <a:picLocks noChangeAspect="1"/>
          </p:cNvPicPr>
          <p:nvPr/>
        </p:nvPicPr>
        <p:blipFill>
          <a:blip r:embed="rId4"/>
          <a:stretch>
            <a:fillRect/>
          </a:stretch>
        </p:blipFill>
        <p:spPr>
          <a:xfrm>
            <a:off x="885871" y="5393863"/>
            <a:ext cx="294803" cy="294803"/>
          </a:xfrm>
          <a:prstGeom prst="rect">
            <a:avLst/>
          </a:prstGeom>
        </p:spPr>
      </p:pic>
      <p:sp>
        <p:nvSpPr>
          <p:cNvPr id="21" name="Text 15"/>
          <p:cNvSpPr txBox="1"/>
          <p:nvPr/>
        </p:nvSpPr>
        <p:spPr>
          <a:xfrm>
            <a:off x="1508760" y="5129784"/>
            <a:ext cx="5166360" cy="822960"/>
          </a:xfrm>
          <a:prstGeom prst="rect">
            <a:avLst/>
          </a:prstGeom>
          <a:noFill/>
          <a:ln/>
        </p:spPr>
        <p:txBody>
          <a:bodyPr wrap="square" lIns="0" tIns="0" rIns="0" bIns="0" rtlCol="0" anchor="ctr"/>
          <a:lstStyle/>
          <a:p>
            <a:pPr indent="0" marL="0">
              <a:buNone/>
            </a:pPr>
            <a:r>
              <a:rPr lang="en-US" sz="1600" b="1" dirty="0">
                <a:solidFill>
                  <a:schemeClr val="tx1"/>
                </a:solidFill>
              </a:rPr>
              <a:t>Cuenta y grupo</a:t>
            </a:r>
            <a:endParaRPr lang="en-US" sz="1600" dirty="0"/>
          </a:p>
          <a:p>
            <a:pPr indent="0" marL="0">
              <a:buNone/>
            </a:pPr>
            <a:r>
              <a:rPr lang="en-US" sz="1600" dirty="0">
                <a:solidFill>
                  <a:schemeClr val="tx1"/>
                </a:solidFill>
              </a:rPr>
              <a:t>Registro, sesión y grupo familiar con roles</a:t>
            </a:r>
            <a:endParaRPr lang="en-US" sz="1600" dirty="0"/>
          </a:p>
        </p:txBody>
      </p:sp>
      <p:sp>
        <p:nvSpPr>
          <p:cNvPr id="22" name="Text 16"/>
          <p:cNvSpPr txBox="1"/>
          <p:nvPr/>
        </p:nvSpPr>
        <p:spPr>
          <a:xfrm>
            <a:off x="7132320" y="1481328"/>
            <a:ext cx="4510735" cy="320040"/>
          </a:xfrm>
          <a:prstGeom prst="rect">
            <a:avLst/>
          </a:prstGeom>
          <a:noFill/>
          <a:ln/>
        </p:spPr>
        <p:txBody>
          <a:bodyPr wrap="square" lIns="0" tIns="0" rIns="0" bIns="0" rtlCol="0" anchor="t"/>
          <a:lstStyle/>
          <a:p>
            <a:pPr indent="0" marL="0">
              <a:buNone/>
            </a:pPr>
            <a:r>
              <a:rPr lang="en-US" sz="1800" b="1" dirty="0">
                <a:solidFill>
                  <a:schemeClr val="tx2"/>
                </a:solidFill>
              </a:rPr>
              <a:t>No funcionales</a:t>
            </a:r>
            <a:pPr indent="0" marL="0">
              <a:buNone/>
            </a:pPr>
            <a:r>
              <a:rPr lang="en-US" sz="1800" dirty="0">
                <a:solidFill>
                  <a:schemeClr val="accent3"/>
                </a:solidFill>
              </a:rPr>
              <a:t>  ·  los clave</a:t>
            </a:r>
            <a:endParaRPr lang="en-US" sz="1800" dirty="0"/>
          </a:p>
        </p:txBody>
      </p:sp>
      <p:sp>
        <p:nvSpPr>
          <p:cNvPr id="23" name="Integridad del pago"/>
          <p:cNvSpPr/>
          <p:nvPr/>
        </p:nvSpPr>
        <p:spPr>
          <a:xfrm>
            <a:off x="7132320" y="1920240"/>
            <a:ext cx="4510735" cy="932688"/>
          </a:xfrm>
          <a:prstGeom prst="roundRect">
            <a:avLst>
              <a:gd name="adj" fmla="val 11765"/>
            </a:avLst>
          </a:prstGeom>
          <a:solidFill>
            <a:schemeClr val="bg1"/>
          </a:solidFill>
          <a:ln w="12700">
            <a:solidFill>
              <a:schemeClr val="bg1"/>
            </a:solidFill>
            <a:prstDash val="solid"/>
          </a:ln>
        </p:spPr>
      </p:sp>
      <p:sp>
        <p:nvSpPr>
          <p:cNvPr id="24" name="Círculo de ícono"/>
          <p:cNvSpPr/>
          <p:nvPr/>
        </p:nvSpPr>
        <p:spPr>
          <a:xfrm>
            <a:off x="7333488" y="2103120"/>
            <a:ext cx="566928" cy="566928"/>
          </a:xfrm>
          <a:prstGeom prst="ellipse">
            <a:avLst/>
          </a:prstGeom>
          <a:solidFill>
            <a:schemeClr val="accent1"/>
          </a:solidFill>
          <a:ln w="12700">
            <a:solidFill>
              <a:schemeClr val="accent1"/>
            </a:solidFill>
            <a:prstDash val="solid"/>
          </a:ln>
        </p:spPr>
      </p:sp>
      <p:pic>
        <p:nvPicPr>
          <p:cNvPr id="25" name="Image 4" descr="Ícono CreditCard">    </p:cNvPr>
          <p:cNvPicPr>
            <a:picLocks noChangeAspect="1"/>
          </p:cNvPicPr>
          <p:nvPr/>
        </p:nvPicPr>
        <p:blipFill>
          <a:blip r:embed="rId5"/>
          <a:stretch>
            <a:fillRect/>
          </a:stretch>
        </p:blipFill>
        <p:spPr>
          <a:xfrm>
            <a:off x="7469551" y="2239183"/>
            <a:ext cx="294803" cy="294803"/>
          </a:xfrm>
          <a:prstGeom prst="rect">
            <a:avLst/>
          </a:prstGeom>
        </p:spPr>
      </p:pic>
      <p:sp>
        <p:nvSpPr>
          <p:cNvPr id="26" name="Text 19"/>
          <p:cNvSpPr txBox="1"/>
          <p:nvPr/>
        </p:nvSpPr>
        <p:spPr>
          <a:xfrm>
            <a:off x="8092440" y="1975104"/>
            <a:ext cx="3413455" cy="822960"/>
          </a:xfrm>
          <a:prstGeom prst="rect">
            <a:avLst/>
          </a:prstGeom>
          <a:noFill/>
          <a:ln/>
        </p:spPr>
        <p:txBody>
          <a:bodyPr wrap="square" lIns="0" tIns="0" rIns="0" bIns="0" rtlCol="0" anchor="ctr"/>
          <a:lstStyle/>
          <a:p>
            <a:pPr indent="0" marL="0">
              <a:buNone/>
            </a:pPr>
            <a:r>
              <a:rPr lang="en-US" sz="1600" b="1" dirty="0">
                <a:solidFill>
                  <a:schemeClr val="tx1"/>
                </a:solidFill>
              </a:rPr>
              <a:t>Integridad del pago</a:t>
            </a:r>
            <a:endParaRPr lang="en-US" sz="1600" dirty="0"/>
          </a:p>
          <a:p>
            <a:pPr indent="0" marL="0">
              <a:buNone/>
            </a:pPr>
            <a:r>
              <a:rPr lang="en-US" sz="1600" dirty="0">
                <a:solidFill>
                  <a:schemeClr val="tx1"/>
                </a:solidFill>
              </a:rPr>
              <a:t>ningún pedido pagado sin registrar</a:t>
            </a:r>
            <a:endParaRPr lang="en-US" sz="1600" dirty="0"/>
          </a:p>
        </p:txBody>
      </p:sp>
      <p:sp>
        <p:nvSpPr>
          <p:cNvPr id="27" name="Confidencialidad"/>
          <p:cNvSpPr/>
          <p:nvPr/>
        </p:nvSpPr>
        <p:spPr>
          <a:xfrm>
            <a:off x="7132320" y="2971800"/>
            <a:ext cx="4510735" cy="932688"/>
          </a:xfrm>
          <a:prstGeom prst="roundRect">
            <a:avLst>
              <a:gd name="adj" fmla="val 11765"/>
            </a:avLst>
          </a:prstGeom>
          <a:solidFill>
            <a:schemeClr val="bg1"/>
          </a:solidFill>
          <a:ln w="12700">
            <a:solidFill>
              <a:schemeClr val="bg1"/>
            </a:solidFill>
            <a:prstDash val="solid"/>
          </a:ln>
        </p:spPr>
      </p:sp>
      <p:sp>
        <p:nvSpPr>
          <p:cNvPr id="28" name="Círculo de ícono"/>
          <p:cNvSpPr/>
          <p:nvPr/>
        </p:nvSpPr>
        <p:spPr>
          <a:xfrm>
            <a:off x="7333488" y="3154680"/>
            <a:ext cx="566928" cy="566928"/>
          </a:xfrm>
          <a:prstGeom prst="ellipse">
            <a:avLst/>
          </a:prstGeom>
          <a:solidFill>
            <a:schemeClr val="accent1"/>
          </a:solidFill>
          <a:ln w="12700">
            <a:solidFill>
              <a:schemeClr val="accent1"/>
            </a:solidFill>
            <a:prstDash val="solid"/>
          </a:ln>
        </p:spPr>
      </p:sp>
      <p:pic>
        <p:nvPicPr>
          <p:cNvPr id="29" name="Image 5" descr="Ícono Lock">    </p:cNvPr>
          <p:cNvPicPr>
            <a:picLocks noChangeAspect="1"/>
          </p:cNvPicPr>
          <p:nvPr/>
        </p:nvPicPr>
        <p:blipFill>
          <a:blip r:embed="rId6"/>
          <a:stretch>
            <a:fillRect/>
          </a:stretch>
        </p:blipFill>
        <p:spPr>
          <a:xfrm>
            <a:off x="7469551" y="3290743"/>
            <a:ext cx="294803" cy="294803"/>
          </a:xfrm>
          <a:prstGeom prst="rect">
            <a:avLst/>
          </a:prstGeom>
        </p:spPr>
      </p:pic>
      <p:sp>
        <p:nvSpPr>
          <p:cNvPr id="30" name="Text 22"/>
          <p:cNvSpPr txBox="1"/>
          <p:nvPr/>
        </p:nvSpPr>
        <p:spPr>
          <a:xfrm>
            <a:off x="8092440" y="3026664"/>
            <a:ext cx="3413455" cy="822960"/>
          </a:xfrm>
          <a:prstGeom prst="rect">
            <a:avLst/>
          </a:prstGeom>
          <a:noFill/>
          <a:ln/>
        </p:spPr>
        <p:txBody>
          <a:bodyPr wrap="square" lIns="0" tIns="0" rIns="0" bIns="0" rtlCol="0" anchor="ctr"/>
          <a:lstStyle/>
          <a:p>
            <a:pPr indent="0" marL="0">
              <a:buNone/>
            </a:pPr>
            <a:r>
              <a:rPr lang="en-US" sz="1600" b="1" dirty="0">
                <a:solidFill>
                  <a:schemeClr val="tx1"/>
                </a:solidFill>
              </a:rPr>
              <a:t>Confidencialidad</a:t>
            </a:r>
            <a:endParaRPr lang="en-US" sz="1600" dirty="0"/>
          </a:p>
          <a:p>
            <a:pPr indent="0" marL="0">
              <a:buNone/>
            </a:pPr>
            <a:r>
              <a:rPr lang="en-US" sz="1600" dirty="0">
                <a:solidFill>
                  <a:schemeClr val="tx1"/>
                </a:solidFill>
              </a:rPr>
              <a:t>cada acceso a la ficha queda registrado</a:t>
            </a:r>
            <a:endParaRPr lang="en-US" sz="1600" dirty="0"/>
          </a:p>
        </p:txBody>
      </p:sp>
      <p:sp>
        <p:nvSpPr>
          <p:cNvPr id="31" name="Accesibilidad"/>
          <p:cNvSpPr/>
          <p:nvPr/>
        </p:nvSpPr>
        <p:spPr>
          <a:xfrm>
            <a:off x="7132320" y="4023360"/>
            <a:ext cx="4510735" cy="932688"/>
          </a:xfrm>
          <a:prstGeom prst="roundRect">
            <a:avLst>
              <a:gd name="adj" fmla="val 11765"/>
            </a:avLst>
          </a:prstGeom>
          <a:solidFill>
            <a:schemeClr val="bg1"/>
          </a:solidFill>
          <a:ln w="12700">
            <a:solidFill>
              <a:schemeClr val="bg1"/>
            </a:solidFill>
            <a:prstDash val="solid"/>
          </a:ln>
        </p:spPr>
      </p:sp>
      <p:sp>
        <p:nvSpPr>
          <p:cNvPr id="32" name="Círculo de ícono"/>
          <p:cNvSpPr/>
          <p:nvPr/>
        </p:nvSpPr>
        <p:spPr>
          <a:xfrm>
            <a:off x="7333488" y="4206240"/>
            <a:ext cx="566928" cy="566928"/>
          </a:xfrm>
          <a:prstGeom prst="ellipse">
            <a:avLst/>
          </a:prstGeom>
          <a:solidFill>
            <a:schemeClr val="accent1"/>
          </a:solidFill>
          <a:ln w="12700">
            <a:solidFill>
              <a:schemeClr val="accent1"/>
            </a:solidFill>
            <a:prstDash val="solid"/>
          </a:ln>
        </p:spPr>
      </p:sp>
      <p:pic>
        <p:nvPicPr>
          <p:cNvPr id="33" name="Image 6" descr="Ícono Accessibility">    </p:cNvPr>
          <p:cNvPicPr>
            <a:picLocks noChangeAspect="1"/>
          </p:cNvPicPr>
          <p:nvPr/>
        </p:nvPicPr>
        <p:blipFill>
          <a:blip r:embed="rId7"/>
          <a:stretch>
            <a:fillRect/>
          </a:stretch>
        </p:blipFill>
        <p:spPr>
          <a:xfrm>
            <a:off x="7469551" y="4342303"/>
            <a:ext cx="294803" cy="294803"/>
          </a:xfrm>
          <a:prstGeom prst="rect">
            <a:avLst/>
          </a:prstGeom>
        </p:spPr>
      </p:pic>
      <p:sp>
        <p:nvSpPr>
          <p:cNvPr id="34" name="Text 25"/>
          <p:cNvSpPr txBox="1"/>
          <p:nvPr/>
        </p:nvSpPr>
        <p:spPr>
          <a:xfrm>
            <a:off x="8092440" y="4078224"/>
            <a:ext cx="3413455" cy="822960"/>
          </a:xfrm>
          <a:prstGeom prst="rect">
            <a:avLst/>
          </a:prstGeom>
          <a:noFill/>
          <a:ln/>
        </p:spPr>
        <p:txBody>
          <a:bodyPr wrap="square" lIns="0" tIns="0" rIns="0" bIns="0" rtlCol="0" anchor="ctr"/>
          <a:lstStyle/>
          <a:p>
            <a:pPr indent="0" marL="0">
              <a:buNone/>
            </a:pPr>
            <a:r>
              <a:rPr lang="en-US" sz="1600" b="1" dirty="0">
                <a:solidFill>
                  <a:schemeClr val="tx1"/>
                </a:solidFill>
              </a:rPr>
              <a:t>Accesibilidad</a:t>
            </a:r>
            <a:endParaRPr lang="en-US" sz="1600" dirty="0"/>
          </a:p>
          <a:p>
            <a:pPr indent="0" marL="0">
              <a:buNone/>
            </a:pPr>
            <a:r>
              <a:rPr lang="en-US" sz="1600" dirty="0">
                <a:solidFill>
                  <a:schemeClr val="tx1"/>
                </a:solidFill>
              </a:rPr>
              <a:t>ficha en menos de 3 min, texto al 200%</a:t>
            </a:r>
            <a:endParaRPr lang="en-US" sz="1600" dirty="0"/>
          </a:p>
        </p:txBody>
      </p:sp>
      <p:sp>
        <p:nvSpPr>
          <p:cNvPr id="35" name="Modularidad"/>
          <p:cNvSpPr/>
          <p:nvPr/>
        </p:nvSpPr>
        <p:spPr>
          <a:xfrm>
            <a:off x="7132320" y="5074920"/>
            <a:ext cx="4510735" cy="932688"/>
          </a:xfrm>
          <a:prstGeom prst="roundRect">
            <a:avLst>
              <a:gd name="adj" fmla="val 11765"/>
            </a:avLst>
          </a:prstGeom>
          <a:solidFill>
            <a:schemeClr val="bg1"/>
          </a:solidFill>
          <a:ln w="12700">
            <a:solidFill>
              <a:schemeClr val="bg1"/>
            </a:solidFill>
            <a:prstDash val="solid"/>
          </a:ln>
        </p:spPr>
      </p:sp>
      <p:sp>
        <p:nvSpPr>
          <p:cNvPr id="36" name="Círculo de ícono"/>
          <p:cNvSpPr/>
          <p:nvPr/>
        </p:nvSpPr>
        <p:spPr>
          <a:xfrm>
            <a:off x="7333488" y="5257800"/>
            <a:ext cx="566928" cy="566928"/>
          </a:xfrm>
          <a:prstGeom prst="ellipse">
            <a:avLst/>
          </a:prstGeom>
          <a:solidFill>
            <a:schemeClr val="accent1"/>
          </a:solidFill>
          <a:ln w="12700">
            <a:solidFill>
              <a:schemeClr val="accent1"/>
            </a:solidFill>
            <a:prstDash val="solid"/>
          </a:ln>
        </p:spPr>
      </p:sp>
      <p:pic>
        <p:nvPicPr>
          <p:cNvPr id="37" name="Image 7" descr="Ícono Blocks">    </p:cNvPr>
          <p:cNvPicPr>
            <a:picLocks noChangeAspect="1"/>
          </p:cNvPicPr>
          <p:nvPr/>
        </p:nvPicPr>
        <p:blipFill>
          <a:blip r:embed="rId8"/>
          <a:stretch>
            <a:fillRect/>
          </a:stretch>
        </p:blipFill>
        <p:spPr>
          <a:xfrm>
            <a:off x="7469551" y="5393863"/>
            <a:ext cx="294803" cy="294803"/>
          </a:xfrm>
          <a:prstGeom prst="rect">
            <a:avLst/>
          </a:prstGeom>
        </p:spPr>
      </p:pic>
      <p:sp>
        <p:nvSpPr>
          <p:cNvPr id="38" name="Text 28"/>
          <p:cNvSpPr txBox="1"/>
          <p:nvPr/>
        </p:nvSpPr>
        <p:spPr>
          <a:xfrm>
            <a:off x="8092440" y="5129784"/>
            <a:ext cx="3413455" cy="822960"/>
          </a:xfrm>
          <a:prstGeom prst="rect">
            <a:avLst/>
          </a:prstGeom>
          <a:noFill/>
          <a:ln/>
        </p:spPr>
        <p:txBody>
          <a:bodyPr wrap="square" lIns="0" tIns="0" rIns="0" bIns="0" rtlCol="0" anchor="ctr"/>
          <a:lstStyle/>
          <a:p>
            <a:pPr indent="0" marL="0">
              <a:buNone/>
            </a:pPr>
            <a:r>
              <a:rPr lang="en-US" sz="1600" b="1" dirty="0">
                <a:solidFill>
                  <a:schemeClr val="tx1"/>
                </a:solidFill>
              </a:rPr>
              <a:t>Modularidad</a:t>
            </a:r>
            <a:endParaRPr lang="en-US" sz="1600" dirty="0"/>
          </a:p>
          <a:p>
            <a:pPr indent="0" marL="0">
              <a:buNone/>
            </a:pPr>
            <a:r>
              <a:rPr lang="en-US" sz="1600" dirty="0">
                <a:solidFill>
                  <a:schemeClr val="tx1"/>
                </a:solidFill>
              </a:rPr>
              <a:t>la capa 3 se quita sin romper el resto</a:t>
            </a:r>
            <a:endParaRPr lang="en-US" sz="16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METODOLOGÍA</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Scrum en sprints de una semana</a:t>
            </a:r>
            <a:endParaRPr lang="en-US" sz="3200" dirty="0"/>
          </a:p>
        </p:txBody>
      </p:sp>
      <p:sp>
        <p:nvSpPr>
          <p:cNvPr id="4" name="Paso Viernes"/>
          <p:cNvSpPr/>
          <p:nvPr/>
        </p:nvSpPr>
        <p:spPr>
          <a:xfrm>
            <a:off x="548640" y="1600200"/>
            <a:ext cx="2514600" cy="1737360"/>
          </a:xfrm>
          <a:prstGeom prst="roundRect">
            <a:avLst>
              <a:gd name="adj" fmla="val 6316"/>
            </a:avLst>
          </a:prstGeom>
          <a:solidFill>
            <a:schemeClr val="accent4"/>
          </a:solidFill>
          <a:ln w="12700">
            <a:solidFill>
              <a:schemeClr val="accent4"/>
            </a:solidFill>
            <a:prstDash val="solid"/>
          </a:ln>
        </p:spPr>
      </p:sp>
      <p:sp>
        <p:nvSpPr>
          <p:cNvPr id="5" name="Círculo de ícono"/>
          <p:cNvSpPr/>
          <p:nvPr/>
        </p:nvSpPr>
        <p:spPr>
          <a:xfrm>
            <a:off x="777240" y="1828800"/>
            <a:ext cx="566928" cy="566928"/>
          </a:xfrm>
          <a:prstGeom prst="ellipse">
            <a:avLst/>
          </a:prstGeom>
          <a:solidFill>
            <a:schemeClr val="tx2"/>
          </a:solidFill>
          <a:ln w="12700">
            <a:solidFill>
              <a:schemeClr val="tx2"/>
            </a:solidFill>
            <a:prstDash val="solid"/>
          </a:ln>
        </p:spPr>
      </p:sp>
      <p:pic>
        <p:nvPicPr>
          <p:cNvPr id="6" name="Image 0" descr="Ícono CalendarDays">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828800"/>
            <a:ext cx="1508760" cy="566928"/>
          </a:xfrm>
          <a:prstGeom prst="rect">
            <a:avLst/>
          </a:prstGeom>
          <a:noFill/>
          <a:ln/>
        </p:spPr>
        <p:txBody>
          <a:bodyPr wrap="square" lIns="0" tIns="0" rIns="0" bIns="0" rtlCol="0" anchor="ctr"/>
          <a:lstStyle/>
          <a:p>
            <a:pPr indent="0" marL="0">
              <a:buNone/>
            </a:pPr>
            <a:r>
              <a:rPr lang="en-US" sz="1900" b="1" dirty="0">
                <a:solidFill>
                  <a:schemeClr val="tx1"/>
                </a:solidFill>
              </a:rPr>
              <a:t>Viernes</a:t>
            </a:r>
            <a:endParaRPr lang="en-US" sz="1900" dirty="0"/>
          </a:p>
        </p:txBody>
      </p:sp>
      <p:sp>
        <p:nvSpPr>
          <p:cNvPr id="8" name="Text 5"/>
          <p:cNvSpPr txBox="1"/>
          <p:nvPr/>
        </p:nvSpPr>
        <p:spPr>
          <a:xfrm>
            <a:off x="777240" y="2514600"/>
            <a:ext cx="2103120" cy="731520"/>
          </a:xfrm>
          <a:prstGeom prst="rect">
            <a:avLst/>
          </a:prstGeom>
          <a:noFill/>
          <a:ln/>
        </p:spPr>
        <p:txBody>
          <a:bodyPr wrap="square" lIns="0" tIns="0" rIns="0" bIns="0" rtlCol="0" anchor="t"/>
          <a:lstStyle/>
          <a:p>
            <a:pPr indent="0" marL="0">
              <a:buNone/>
            </a:pPr>
            <a:r>
              <a:rPr lang="en-US" sz="1500" dirty="0">
                <a:solidFill>
                  <a:schemeClr val="tx1"/>
                </a:solidFill>
              </a:rPr>
              <a:t>Planificación del sprint</a:t>
            </a:r>
            <a:endParaRPr lang="en-US" sz="1500" dirty="0"/>
          </a:p>
        </p:txBody>
      </p:sp>
      <p:sp>
        <p:nvSpPr>
          <p:cNvPr id="9" name="Conector"/>
          <p:cNvSpPr/>
          <p:nvPr/>
        </p:nvSpPr>
        <p:spPr>
          <a:xfrm>
            <a:off x="3118104" y="2468880"/>
            <a:ext cx="235610" cy="914"/>
          </a:xfrm>
          <a:prstGeom prst="line">
            <a:avLst/>
          </a:prstGeom>
          <a:noFill/>
          <a:ln w="25400">
            <a:solidFill>
              <a:schemeClr val="tx2"/>
            </a:solidFill>
            <a:prstDash val="solid"/>
            <a:tailEnd type="triangle"/>
          </a:ln>
        </p:spPr>
      </p:sp>
      <p:sp>
        <p:nvSpPr>
          <p:cNvPr id="10" name="Paso Desarrollo"/>
          <p:cNvSpPr/>
          <p:nvPr/>
        </p:nvSpPr>
        <p:spPr>
          <a:xfrm>
            <a:off x="3408578" y="1600200"/>
            <a:ext cx="2514600" cy="1737360"/>
          </a:xfrm>
          <a:prstGeom prst="roundRect">
            <a:avLst>
              <a:gd name="adj" fmla="val 6316"/>
            </a:avLst>
          </a:prstGeom>
          <a:solidFill>
            <a:schemeClr val="bg1"/>
          </a:solidFill>
          <a:ln w="12700">
            <a:solidFill>
              <a:schemeClr val="bg1"/>
            </a:solidFill>
            <a:prstDash val="solid"/>
          </a:ln>
        </p:spPr>
      </p:sp>
      <p:sp>
        <p:nvSpPr>
          <p:cNvPr id="11" name="Círculo de ícono"/>
          <p:cNvSpPr/>
          <p:nvPr/>
        </p:nvSpPr>
        <p:spPr>
          <a:xfrm>
            <a:off x="3637178" y="1828800"/>
            <a:ext cx="566928" cy="566928"/>
          </a:xfrm>
          <a:prstGeom prst="ellipse">
            <a:avLst/>
          </a:prstGeom>
          <a:solidFill>
            <a:schemeClr val="tx2"/>
          </a:solidFill>
          <a:ln w="12700">
            <a:solidFill>
              <a:schemeClr val="tx2"/>
            </a:solidFill>
            <a:prstDash val="solid"/>
          </a:ln>
        </p:spPr>
      </p:sp>
      <p:pic>
        <p:nvPicPr>
          <p:cNvPr id="12" name="Image 1" descr="Ícono GitBranch">    </p:cNvPr>
          <p:cNvPicPr>
            <a:picLocks noChangeAspect="1"/>
          </p:cNvPicPr>
          <p:nvPr/>
        </p:nvPicPr>
        <p:blipFill>
          <a:blip r:embed="rId2"/>
          <a:stretch>
            <a:fillRect/>
          </a:stretch>
        </p:blipFill>
        <p:spPr>
          <a:xfrm>
            <a:off x="3773241" y="1964863"/>
            <a:ext cx="294803" cy="294803"/>
          </a:xfrm>
          <a:prstGeom prst="rect">
            <a:avLst/>
          </a:prstGeom>
        </p:spPr>
      </p:pic>
      <p:sp>
        <p:nvSpPr>
          <p:cNvPr id="13" name="Text 9"/>
          <p:cNvSpPr txBox="1"/>
          <p:nvPr/>
        </p:nvSpPr>
        <p:spPr>
          <a:xfrm>
            <a:off x="4322978" y="1828800"/>
            <a:ext cx="1508760" cy="566928"/>
          </a:xfrm>
          <a:prstGeom prst="rect">
            <a:avLst/>
          </a:prstGeom>
          <a:noFill/>
          <a:ln/>
        </p:spPr>
        <p:txBody>
          <a:bodyPr wrap="square" lIns="0" tIns="0" rIns="0" bIns="0" rtlCol="0" anchor="ctr"/>
          <a:lstStyle/>
          <a:p>
            <a:pPr indent="0" marL="0">
              <a:buNone/>
            </a:pPr>
            <a:r>
              <a:rPr lang="en-US" sz="1900" b="1" dirty="0">
                <a:solidFill>
                  <a:schemeClr val="tx1"/>
                </a:solidFill>
              </a:rPr>
              <a:t>Desarrollo</a:t>
            </a:r>
            <a:endParaRPr lang="en-US" sz="1900" dirty="0"/>
          </a:p>
        </p:txBody>
      </p:sp>
      <p:sp>
        <p:nvSpPr>
          <p:cNvPr id="14" name="Text 10"/>
          <p:cNvSpPr txBox="1"/>
          <p:nvPr/>
        </p:nvSpPr>
        <p:spPr>
          <a:xfrm>
            <a:off x="3637178" y="2514600"/>
            <a:ext cx="2103120" cy="731520"/>
          </a:xfrm>
          <a:prstGeom prst="rect">
            <a:avLst/>
          </a:prstGeom>
          <a:noFill/>
          <a:ln/>
        </p:spPr>
        <p:txBody>
          <a:bodyPr wrap="square" lIns="0" tIns="0" rIns="0" bIns="0" rtlCol="0" anchor="t"/>
          <a:lstStyle/>
          <a:p>
            <a:pPr indent="0" marL="0">
              <a:buNone/>
            </a:pPr>
            <a:r>
              <a:rPr lang="en-US" sz="1500" dirty="0">
                <a:solidFill>
                  <a:schemeClr val="tx1"/>
                </a:solidFill>
              </a:rPr>
              <a:t>Una rama por historia, con pruebas junto al código</a:t>
            </a:r>
            <a:endParaRPr lang="en-US" sz="1500" dirty="0"/>
          </a:p>
        </p:txBody>
      </p:sp>
      <p:sp>
        <p:nvSpPr>
          <p:cNvPr id="15" name="Conector"/>
          <p:cNvSpPr/>
          <p:nvPr/>
        </p:nvSpPr>
        <p:spPr>
          <a:xfrm>
            <a:off x="5978042" y="2468880"/>
            <a:ext cx="235610" cy="914"/>
          </a:xfrm>
          <a:prstGeom prst="line">
            <a:avLst/>
          </a:prstGeom>
          <a:noFill/>
          <a:ln w="25400">
            <a:solidFill>
              <a:schemeClr val="tx2"/>
            </a:solidFill>
            <a:prstDash val="solid"/>
            <a:tailEnd type="triangle"/>
          </a:ln>
        </p:spPr>
      </p:sp>
      <p:sp>
        <p:nvSpPr>
          <p:cNvPr id="16" name="Paso Pull request"/>
          <p:cNvSpPr/>
          <p:nvPr/>
        </p:nvSpPr>
        <p:spPr>
          <a:xfrm>
            <a:off x="6268517" y="1600200"/>
            <a:ext cx="2514600" cy="1737360"/>
          </a:xfrm>
          <a:prstGeom prst="roundRect">
            <a:avLst>
              <a:gd name="adj" fmla="val 6316"/>
            </a:avLst>
          </a:prstGeom>
          <a:solidFill>
            <a:schemeClr val="bg1"/>
          </a:solidFill>
          <a:ln w="12700">
            <a:solidFill>
              <a:schemeClr val="bg1"/>
            </a:solidFill>
            <a:prstDash val="solid"/>
          </a:ln>
        </p:spPr>
      </p:sp>
      <p:sp>
        <p:nvSpPr>
          <p:cNvPr id="17" name="Círculo de ícono"/>
          <p:cNvSpPr/>
          <p:nvPr/>
        </p:nvSpPr>
        <p:spPr>
          <a:xfrm>
            <a:off x="6497117" y="1828800"/>
            <a:ext cx="566928" cy="566928"/>
          </a:xfrm>
          <a:prstGeom prst="ellipse">
            <a:avLst/>
          </a:prstGeom>
          <a:solidFill>
            <a:schemeClr val="tx2"/>
          </a:solidFill>
          <a:ln w="12700">
            <a:solidFill>
              <a:schemeClr val="tx2"/>
            </a:solidFill>
            <a:prstDash val="solid"/>
          </a:ln>
        </p:spPr>
      </p:sp>
      <p:pic>
        <p:nvPicPr>
          <p:cNvPr id="18" name="Image 2" descr="Ícono GitPullRequest">    </p:cNvPr>
          <p:cNvPicPr>
            <a:picLocks noChangeAspect="1"/>
          </p:cNvPicPr>
          <p:nvPr/>
        </p:nvPicPr>
        <p:blipFill>
          <a:blip r:embed="rId3"/>
          <a:stretch>
            <a:fillRect/>
          </a:stretch>
        </p:blipFill>
        <p:spPr>
          <a:xfrm>
            <a:off x="6633180" y="1964863"/>
            <a:ext cx="294803" cy="294803"/>
          </a:xfrm>
          <a:prstGeom prst="rect">
            <a:avLst/>
          </a:prstGeom>
        </p:spPr>
      </p:pic>
      <p:sp>
        <p:nvSpPr>
          <p:cNvPr id="19" name="Text 14"/>
          <p:cNvSpPr txBox="1"/>
          <p:nvPr/>
        </p:nvSpPr>
        <p:spPr>
          <a:xfrm>
            <a:off x="7182917" y="1828800"/>
            <a:ext cx="1508760" cy="566928"/>
          </a:xfrm>
          <a:prstGeom prst="rect">
            <a:avLst/>
          </a:prstGeom>
          <a:noFill/>
          <a:ln/>
        </p:spPr>
        <p:txBody>
          <a:bodyPr wrap="square" lIns="0" tIns="0" rIns="0" bIns="0" rtlCol="0" anchor="ctr"/>
          <a:lstStyle/>
          <a:p>
            <a:pPr indent="0" marL="0">
              <a:buNone/>
            </a:pPr>
            <a:r>
              <a:rPr lang="en-US" sz="1900" b="1" dirty="0">
                <a:solidFill>
                  <a:schemeClr val="tx1"/>
                </a:solidFill>
              </a:rPr>
              <a:t>Pull request</a:t>
            </a:r>
            <a:endParaRPr lang="en-US" sz="1900" dirty="0"/>
          </a:p>
        </p:txBody>
      </p:sp>
      <p:sp>
        <p:nvSpPr>
          <p:cNvPr id="20" name="Text 15"/>
          <p:cNvSpPr txBox="1"/>
          <p:nvPr/>
        </p:nvSpPr>
        <p:spPr>
          <a:xfrm>
            <a:off x="6497117" y="2514600"/>
            <a:ext cx="2103120" cy="731520"/>
          </a:xfrm>
          <a:prstGeom prst="rect">
            <a:avLst/>
          </a:prstGeom>
          <a:noFill/>
          <a:ln/>
        </p:spPr>
        <p:txBody>
          <a:bodyPr wrap="square" lIns="0" tIns="0" rIns="0" bIns="0" rtlCol="0" anchor="t"/>
          <a:lstStyle/>
          <a:p>
            <a:pPr indent="0" marL="0">
              <a:buNone/>
            </a:pPr>
            <a:r>
              <a:rPr lang="en-US" sz="1500" dirty="0">
                <a:solidFill>
                  <a:schemeClr val="tx1"/>
                </a:solidFill>
              </a:rPr>
              <a:t>CI en verde. Lo revisa y fusiona la otra persona</a:t>
            </a:r>
            <a:endParaRPr lang="en-US" sz="1500" dirty="0"/>
          </a:p>
        </p:txBody>
      </p:sp>
      <p:sp>
        <p:nvSpPr>
          <p:cNvPr id="21" name="Conector"/>
          <p:cNvSpPr/>
          <p:nvPr/>
        </p:nvSpPr>
        <p:spPr>
          <a:xfrm>
            <a:off x="8837981" y="2468880"/>
            <a:ext cx="235610" cy="914"/>
          </a:xfrm>
          <a:prstGeom prst="line">
            <a:avLst/>
          </a:prstGeom>
          <a:noFill/>
          <a:ln w="25400">
            <a:solidFill>
              <a:schemeClr val="tx2"/>
            </a:solidFill>
            <a:prstDash val="solid"/>
            <a:tailEnd type="triangle"/>
          </a:ln>
        </p:spPr>
      </p:sp>
      <p:sp>
        <p:nvSpPr>
          <p:cNvPr id="22" name="Paso Jueves"/>
          <p:cNvSpPr/>
          <p:nvPr/>
        </p:nvSpPr>
        <p:spPr>
          <a:xfrm>
            <a:off x="9128455" y="1600200"/>
            <a:ext cx="2514600" cy="1737360"/>
          </a:xfrm>
          <a:prstGeom prst="roundRect">
            <a:avLst>
              <a:gd name="adj" fmla="val 6316"/>
            </a:avLst>
          </a:prstGeom>
          <a:solidFill>
            <a:schemeClr val="accent4"/>
          </a:solidFill>
          <a:ln w="12700">
            <a:solidFill>
              <a:schemeClr val="accent4"/>
            </a:solidFill>
            <a:prstDash val="solid"/>
          </a:ln>
        </p:spPr>
      </p:sp>
      <p:sp>
        <p:nvSpPr>
          <p:cNvPr id="23" name="Círculo de ícono"/>
          <p:cNvSpPr/>
          <p:nvPr/>
        </p:nvSpPr>
        <p:spPr>
          <a:xfrm>
            <a:off x="9357055" y="1828800"/>
            <a:ext cx="566928" cy="566928"/>
          </a:xfrm>
          <a:prstGeom prst="ellipse">
            <a:avLst/>
          </a:prstGeom>
          <a:solidFill>
            <a:schemeClr val="tx2"/>
          </a:solidFill>
          <a:ln w="12700">
            <a:solidFill>
              <a:schemeClr val="tx2"/>
            </a:solidFill>
            <a:prstDash val="solid"/>
          </a:ln>
        </p:spPr>
      </p:sp>
      <p:pic>
        <p:nvPicPr>
          <p:cNvPr id="24" name="Image 3" descr="Ícono RefreshCw">    </p:cNvPr>
          <p:cNvPicPr>
            <a:picLocks noChangeAspect="1"/>
          </p:cNvPicPr>
          <p:nvPr/>
        </p:nvPicPr>
        <p:blipFill>
          <a:blip r:embed="rId4"/>
          <a:stretch>
            <a:fillRect/>
          </a:stretch>
        </p:blipFill>
        <p:spPr>
          <a:xfrm>
            <a:off x="9493118" y="1964863"/>
            <a:ext cx="294803" cy="294803"/>
          </a:xfrm>
          <a:prstGeom prst="rect">
            <a:avLst/>
          </a:prstGeom>
        </p:spPr>
      </p:pic>
      <p:sp>
        <p:nvSpPr>
          <p:cNvPr id="25" name="Text 19"/>
          <p:cNvSpPr txBox="1"/>
          <p:nvPr/>
        </p:nvSpPr>
        <p:spPr>
          <a:xfrm>
            <a:off x="10042855" y="1828800"/>
            <a:ext cx="1508760" cy="566928"/>
          </a:xfrm>
          <a:prstGeom prst="rect">
            <a:avLst/>
          </a:prstGeom>
          <a:noFill/>
          <a:ln/>
        </p:spPr>
        <p:txBody>
          <a:bodyPr wrap="square" lIns="0" tIns="0" rIns="0" bIns="0" rtlCol="0" anchor="ctr"/>
          <a:lstStyle/>
          <a:p>
            <a:pPr indent="0" marL="0">
              <a:buNone/>
            </a:pPr>
            <a:r>
              <a:rPr lang="en-US" sz="1900" b="1" dirty="0">
                <a:solidFill>
                  <a:schemeClr val="tx1"/>
                </a:solidFill>
              </a:rPr>
              <a:t>Jueves</a:t>
            </a:r>
            <a:endParaRPr lang="en-US" sz="1900" dirty="0"/>
          </a:p>
        </p:txBody>
      </p:sp>
      <p:sp>
        <p:nvSpPr>
          <p:cNvPr id="26" name="Text 20"/>
          <p:cNvSpPr txBox="1"/>
          <p:nvPr/>
        </p:nvSpPr>
        <p:spPr>
          <a:xfrm>
            <a:off x="9357055" y="2514600"/>
            <a:ext cx="2103120" cy="731520"/>
          </a:xfrm>
          <a:prstGeom prst="rect">
            <a:avLst/>
          </a:prstGeom>
          <a:noFill/>
          <a:ln/>
        </p:spPr>
        <p:txBody>
          <a:bodyPr wrap="square" lIns="0" tIns="0" rIns="0" bIns="0" rtlCol="0" anchor="t"/>
          <a:lstStyle/>
          <a:p>
            <a:pPr indent="0" marL="0">
              <a:buNone/>
            </a:pPr>
            <a:r>
              <a:rPr lang="en-US" sz="1500" dirty="0">
                <a:solidFill>
                  <a:schemeClr val="tx1"/>
                </a:solidFill>
              </a:rPr>
              <a:t>Revisión y retrospectiva</a:t>
            </a:r>
            <a:endParaRPr lang="en-US" sz="1500" dirty="0"/>
          </a:p>
        </p:txBody>
      </p:sp>
      <p:sp>
        <p:nvSpPr>
          <p:cNvPr id="27" name="Roles y herramientas"/>
          <p:cNvSpPr/>
          <p:nvPr/>
        </p:nvSpPr>
        <p:spPr>
          <a:xfrm>
            <a:off x="548640" y="3611880"/>
            <a:ext cx="3545738" cy="2514600"/>
          </a:xfrm>
          <a:prstGeom prst="roundRect">
            <a:avLst>
              <a:gd name="adj" fmla="val 4364"/>
            </a:avLst>
          </a:prstGeom>
          <a:solidFill>
            <a:schemeClr val="bg1"/>
          </a:solidFill>
          <a:ln w="12700">
            <a:solidFill>
              <a:schemeClr val="bg1"/>
            </a:solidFill>
            <a:prstDash val="solid"/>
          </a:ln>
        </p:spPr>
      </p:sp>
      <p:sp>
        <p:nvSpPr>
          <p:cNvPr id="28" name="Círculo de ícono"/>
          <p:cNvSpPr/>
          <p:nvPr/>
        </p:nvSpPr>
        <p:spPr>
          <a:xfrm>
            <a:off x="777240" y="3840480"/>
            <a:ext cx="502920" cy="502920"/>
          </a:xfrm>
          <a:prstGeom prst="ellipse">
            <a:avLst/>
          </a:prstGeom>
          <a:solidFill>
            <a:schemeClr val="accent1"/>
          </a:solidFill>
          <a:ln w="12700">
            <a:solidFill>
              <a:schemeClr val="accent1"/>
            </a:solidFill>
            <a:prstDash val="solid"/>
          </a:ln>
        </p:spPr>
      </p:sp>
      <p:pic>
        <p:nvPicPr>
          <p:cNvPr id="29" name="Image 4" descr="Ícono Kanban">    </p:cNvPr>
          <p:cNvPicPr>
            <a:picLocks noChangeAspect="1"/>
          </p:cNvPicPr>
          <p:nvPr/>
        </p:nvPicPr>
        <p:blipFill>
          <a:blip r:embed="rId5"/>
          <a:stretch>
            <a:fillRect/>
          </a:stretch>
        </p:blipFill>
        <p:spPr>
          <a:xfrm>
            <a:off x="897941" y="3961181"/>
            <a:ext cx="261518" cy="261518"/>
          </a:xfrm>
          <a:prstGeom prst="rect">
            <a:avLst/>
          </a:prstGeom>
        </p:spPr>
      </p:pic>
      <p:sp>
        <p:nvSpPr>
          <p:cNvPr id="30" name="Text 23"/>
          <p:cNvSpPr txBox="1"/>
          <p:nvPr/>
        </p:nvSpPr>
        <p:spPr>
          <a:xfrm>
            <a:off x="1417320" y="3840480"/>
            <a:ext cx="2539898" cy="502920"/>
          </a:xfrm>
          <a:prstGeom prst="rect">
            <a:avLst/>
          </a:prstGeom>
          <a:noFill/>
          <a:ln/>
        </p:spPr>
        <p:txBody>
          <a:bodyPr wrap="square" lIns="0" tIns="0" rIns="0" bIns="0" rtlCol="0" anchor="ctr"/>
          <a:lstStyle/>
          <a:p>
            <a:pPr indent="0" marL="0">
              <a:buNone/>
            </a:pPr>
            <a:r>
              <a:rPr lang="en-US" sz="1800" b="1" dirty="0">
                <a:solidFill>
                  <a:schemeClr val="tx1"/>
                </a:solidFill>
              </a:rPr>
              <a:t>Roles y herramientas</a:t>
            </a:r>
            <a:endParaRPr lang="en-US" sz="1800" dirty="0"/>
          </a:p>
        </p:txBody>
      </p:sp>
      <p:sp>
        <p:nvSpPr>
          <p:cNvPr id="31" name="Text 24"/>
          <p:cNvSpPr txBox="1"/>
          <p:nvPr/>
        </p:nvSpPr>
        <p:spPr>
          <a:xfrm>
            <a:off x="777240" y="4507992"/>
            <a:ext cx="3088538" cy="1508760"/>
          </a:xfrm>
          <a:prstGeom prst="rect">
            <a:avLst/>
          </a:prstGeom>
          <a:noFill/>
          <a:ln/>
        </p:spPr>
        <p:txBody>
          <a:bodyPr wrap="square" lIns="0" tIns="0" rIns="0" bIns="0" rtlCol="0" anchor="t"/>
          <a:lstStyle/>
          <a:p>
            <a:pPr indent="0" marL="0">
              <a:buNone/>
            </a:pPr>
            <a:r>
              <a:rPr lang="en-US" sz="1500" dirty="0">
                <a:solidFill>
                  <a:schemeClr val="tx1"/>
                </a:solidFill>
              </a:rPr>
              <a:t>Jorge es Product Owner y Martín es Scrum Master. Tablero en Trello, código en GitHub y coordinación diaria asíncrona por Discord.</a:t>
            </a:r>
            <a:endParaRPr lang="en-US" sz="1500" dirty="0"/>
          </a:p>
        </p:txBody>
      </p:sp>
      <p:sp>
        <p:nvSpPr>
          <p:cNvPr id="32" name="Desarrollo asistido por IA"/>
          <p:cNvSpPr/>
          <p:nvPr/>
        </p:nvSpPr>
        <p:spPr>
          <a:xfrm>
            <a:off x="4322978" y="3611880"/>
            <a:ext cx="3545738" cy="2514600"/>
          </a:xfrm>
          <a:prstGeom prst="roundRect">
            <a:avLst>
              <a:gd name="adj" fmla="val 4364"/>
            </a:avLst>
          </a:prstGeom>
          <a:solidFill>
            <a:schemeClr val="bg1"/>
          </a:solidFill>
          <a:ln w="12700">
            <a:solidFill>
              <a:schemeClr val="bg1"/>
            </a:solidFill>
            <a:prstDash val="solid"/>
          </a:ln>
        </p:spPr>
      </p:sp>
      <p:sp>
        <p:nvSpPr>
          <p:cNvPr id="33" name="Círculo de ícono"/>
          <p:cNvSpPr/>
          <p:nvPr/>
        </p:nvSpPr>
        <p:spPr>
          <a:xfrm>
            <a:off x="4551578" y="3840480"/>
            <a:ext cx="502920" cy="502920"/>
          </a:xfrm>
          <a:prstGeom prst="ellipse">
            <a:avLst/>
          </a:prstGeom>
          <a:solidFill>
            <a:schemeClr val="accent1"/>
          </a:solidFill>
          <a:ln w="12700">
            <a:solidFill>
              <a:schemeClr val="accent1"/>
            </a:solidFill>
            <a:prstDash val="solid"/>
          </a:ln>
        </p:spPr>
      </p:sp>
      <p:pic>
        <p:nvPicPr>
          <p:cNvPr id="34" name="Image 5" descr="Ícono Bot">    </p:cNvPr>
          <p:cNvPicPr>
            <a:picLocks noChangeAspect="1"/>
          </p:cNvPicPr>
          <p:nvPr/>
        </p:nvPicPr>
        <p:blipFill>
          <a:blip r:embed="rId6"/>
          <a:stretch>
            <a:fillRect/>
          </a:stretch>
        </p:blipFill>
        <p:spPr>
          <a:xfrm>
            <a:off x="4672279" y="3961181"/>
            <a:ext cx="261518" cy="261518"/>
          </a:xfrm>
          <a:prstGeom prst="rect">
            <a:avLst/>
          </a:prstGeom>
        </p:spPr>
      </p:pic>
      <p:sp>
        <p:nvSpPr>
          <p:cNvPr id="35" name="Text 27"/>
          <p:cNvSpPr txBox="1"/>
          <p:nvPr/>
        </p:nvSpPr>
        <p:spPr>
          <a:xfrm>
            <a:off x="5191658" y="3840480"/>
            <a:ext cx="2539898" cy="502920"/>
          </a:xfrm>
          <a:prstGeom prst="rect">
            <a:avLst/>
          </a:prstGeom>
          <a:noFill/>
          <a:ln/>
        </p:spPr>
        <p:txBody>
          <a:bodyPr wrap="square" lIns="0" tIns="0" rIns="0" bIns="0" rtlCol="0" anchor="ctr"/>
          <a:lstStyle/>
          <a:p>
            <a:pPr indent="0" marL="0">
              <a:buNone/>
            </a:pPr>
            <a:r>
              <a:rPr lang="en-US" sz="1800" b="1" dirty="0">
                <a:solidFill>
                  <a:schemeClr val="tx1"/>
                </a:solidFill>
              </a:rPr>
              <a:t>Desarrollo asistido por IA</a:t>
            </a:r>
            <a:endParaRPr lang="en-US" sz="1800" dirty="0"/>
          </a:p>
        </p:txBody>
      </p:sp>
      <p:sp>
        <p:nvSpPr>
          <p:cNvPr id="36" name="Text 28"/>
          <p:cNvSpPr txBox="1"/>
          <p:nvPr/>
        </p:nvSpPr>
        <p:spPr>
          <a:xfrm>
            <a:off x="4551578" y="4507992"/>
            <a:ext cx="3088538" cy="1508760"/>
          </a:xfrm>
          <a:prstGeom prst="rect">
            <a:avLst/>
          </a:prstGeom>
          <a:noFill/>
          <a:ln/>
        </p:spPr>
        <p:txBody>
          <a:bodyPr wrap="square" lIns="0" tIns="0" rIns="0" bIns="0" rtlCol="0" anchor="t"/>
          <a:lstStyle/>
          <a:p>
            <a:pPr indent="0" marL="0">
              <a:buNone/>
            </a:pPr>
            <a:r>
              <a:rPr lang="en-US" sz="1500" dirty="0">
                <a:solidFill>
                  <a:schemeClr val="tx1"/>
                </a:solidFill>
              </a:rPr>
              <a:t>Claude Code con seis agentes. Las pruebas de las reglas críticas las define una persona, y nunca se usan datos reales.</a:t>
            </a:r>
            <a:endParaRPr lang="en-US" sz="1500" dirty="0"/>
          </a:p>
        </p:txBody>
      </p:sp>
      <p:sp>
        <p:nvSpPr>
          <p:cNvPr id="37" name="Factor de vibecoding"/>
          <p:cNvSpPr/>
          <p:nvPr/>
        </p:nvSpPr>
        <p:spPr>
          <a:xfrm>
            <a:off x="8097317" y="3611880"/>
            <a:ext cx="3545738" cy="2514600"/>
          </a:xfrm>
          <a:prstGeom prst="roundRect">
            <a:avLst>
              <a:gd name="adj" fmla="val 4364"/>
            </a:avLst>
          </a:prstGeom>
          <a:solidFill>
            <a:schemeClr val="bg1"/>
          </a:solidFill>
          <a:ln w="12700">
            <a:solidFill>
              <a:schemeClr val="bg1"/>
            </a:solidFill>
            <a:prstDash val="solid"/>
          </a:ln>
        </p:spPr>
      </p:sp>
      <p:sp>
        <p:nvSpPr>
          <p:cNvPr id="38" name="Círculo de ícono"/>
          <p:cNvSpPr/>
          <p:nvPr/>
        </p:nvSpPr>
        <p:spPr>
          <a:xfrm>
            <a:off x="8325917" y="3840480"/>
            <a:ext cx="502920" cy="502920"/>
          </a:xfrm>
          <a:prstGeom prst="ellipse">
            <a:avLst/>
          </a:prstGeom>
          <a:solidFill>
            <a:schemeClr val="accent1"/>
          </a:solidFill>
          <a:ln w="12700">
            <a:solidFill>
              <a:schemeClr val="accent1"/>
            </a:solidFill>
            <a:prstDash val="solid"/>
          </a:ln>
        </p:spPr>
      </p:sp>
      <p:pic>
        <p:nvPicPr>
          <p:cNvPr id="39" name="Image 6" descr="Ícono Gauge">    </p:cNvPr>
          <p:cNvPicPr>
            <a:picLocks noChangeAspect="1"/>
          </p:cNvPicPr>
          <p:nvPr/>
        </p:nvPicPr>
        <p:blipFill>
          <a:blip r:embed="rId7"/>
          <a:stretch>
            <a:fillRect/>
          </a:stretch>
        </p:blipFill>
        <p:spPr>
          <a:xfrm>
            <a:off x="8446618" y="3961181"/>
            <a:ext cx="261518" cy="261518"/>
          </a:xfrm>
          <a:prstGeom prst="rect">
            <a:avLst/>
          </a:prstGeom>
        </p:spPr>
      </p:pic>
      <p:sp>
        <p:nvSpPr>
          <p:cNvPr id="40" name="Text 31"/>
          <p:cNvSpPr txBox="1"/>
          <p:nvPr/>
        </p:nvSpPr>
        <p:spPr>
          <a:xfrm>
            <a:off x="8965997" y="3840480"/>
            <a:ext cx="2539898" cy="502920"/>
          </a:xfrm>
          <a:prstGeom prst="rect">
            <a:avLst/>
          </a:prstGeom>
          <a:noFill/>
          <a:ln/>
        </p:spPr>
        <p:txBody>
          <a:bodyPr wrap="square" lIns="0" tIns="0" rIns="0" bIns="0" rtlCol="0" anchor="ctr"/>
          <a:lstStyle/>
          <a:p>
            <a:pPr indent="0" marL="0">
              <a:buNone/>
            </a:pPr>
            <a:r>
              <a:rPr lang="en-US" sz="1800" b="1" dirty="0">
                <a:solidFill>
                  <a:schemeClr val="tx1"/>
                </a:solidFill>
              </a:rPr>
              <a:t>Factor de vibecoding</a:t>
            </a:r>
            <a:endParaRPr lang="en-US" sz="1800" dirty="0"/>
          </a:p>
        </p:txBody>
      </p:sp>
      <p:sp>
        <p:nvSpPr>
          <p:cNvPr id="41" name="Text 32"/>
          <p:cNvSpPr txBox="1"/>
          <p:nvPr/>
        </p:nvSpPr>
        <p:spPr>
          <a:xfrm>
            <a:off x="8325917" y="4507992"/>
            <a:ext cx="3088538" cy="1508760"/>
          </a:xfrm>
          <a:prstGeom prst="rect">
            <a:avLst/>
          </a:prstGeom>
          <a:noFill/>
          <a:ln/>
        </p:spPr>
        <p:txBody>
          <a:bodyPr wrap="square" lIns="0" tIns="0" rIns="0" bIns="0" rtlCol="0" anchor="t"/>
          <a:lstStyle/>
          <a:p>
            <a:pPr indent="0" marL="0">
              <a:buNone/>
            </a:pPr>
            <a:r>
              <a:rPr lang="en-US" sz="1500" dirty="0">
                <a:solidFill>
                  <a:schemeClr val="tx1"/>
                </a:solidFill>
              </a:rPr>
              <a:t>El factor 1,8 es una hipótesis, no un dato. Se mide en el sprint 1: horas estimadas sobre horas reales. Bajo 1,4 se recorta.</a:t>
            </a:r>
            <a:endParaRPr lang="en-US" sz="15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CRONOGRAMA</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Cinco sprints de construcción y dos de reserva</a:t>
            </a:r>
            <a:endParaRPr lang="en-US" sz="3200" dirty="0"/>
          </a:p>
        </p:txBody>
      </p:sp>
      <p:sp>
        <p:nvSpPr>
          <p:cNvPr id="4" name="Carta Gantt"/>
          <p:cNvSpPr/>
          <p:nvPr/>
        </p:nvSpPr>
        <p:spPr>
          <a:xfrm>
            <a:off x="548640" y="1508760"/>
            <a:ext cx="11094415" cy="4663440"/>
          </a:xfrm>
          <a:prstGeom prst="roundRect">
            <a:avLst>
              <a:gd name="adj" fmla="val 2353"/>
            </a:avLst>
          </a:prstGeom>
          <a:solidFill>
            <a:schemeClr val="bg1"/>
          </a:solidFill>
          <a:ln w="12700">
            <a:solidFill>
              <a:schemeClr val="bg1"/>
            </a:solidFill>
            <a:prstDash val="solid"/>
          </a:ln>
        </p:spPr>
      </p:sp>
      <p:sp>
        <p:nvSpPr>
          <p:cNvPr id="5" name="Text 3"/>
          <p:cNvSpPr txBox="1"/>
          <p:nvPr/>
        </p:nvSpPr>
        <p:spPr>
          <a:xfrm>
            <a:off x="4937760" y="1645920"/>
            <a:ext cx="548640" cy="274320"/>
          </a:xfrm>
          <a:prstGeom prst="rect">
            <a:avLst/>
          </a:prstGeom>
          <a:noFill/>
          <a:ln/>
        </p:spPr>
        <p:txBody>
          <a:bodyPr wrap="square" lIns="0" tIns="0" rIns="0" bIns="0" rtlCol="0" anchor="t"/>
          <a:lstStyle/>
          <a:p>
            <a:pPr indent="0" marL="0">
              <a:buNone/>
            </a:pPr>
            <a:r>
              <a:rPr lang="en-US" sz="1200" b="1" dirty="0">
                <a:solidFill>
                  <a:schemeClr val="accent3"/>
                </a:solidFill>
              </a:rPr>
              <a:t>Sep</a:t>
            </a:r>
            <a:endParaRPr lang="en-US" sz="1200" dirty="0"/>
          </a:p>
        </p:txBody>
      </p:sp>
      <p:sp>
        <p:nvSpPr>
          <p:cNvPr id="6" name="Conector"/>
          <p:cNvSpPr/>
          <p:nvPr/>
        </p:nvSpPr>
        <p:spPr>
          <a:xfrm>
            <a:off x="5792175" y="1691640"/>
            <a:ext cx="914" cy="3794760"/>
          </a:xfrm>
          <a:prstGeom prst="line">
            <a:avLst/>
          </a:prstGeom>
          <a:noFill/>
          <a:ln w="12700">
            <a:solidFill>
              <a:schemeClr val="accent4"/>
            </a:solidFill>
            <a:prstDash val="solid"/>
          </a:ln>
        </p:spPr>
      </p:sp>
      <p:sp>
        <p:nvSpPr>
          <p:cNvPr id="7" name="Text 5"/>
          <p:cNvSpPr txBox="1"/>
          <p:nvPr/>
        </p:nvSpPr>
        <p:spPr>
          <a:xfrm>
            <a:off x="5837895" y="1645920"/>
            <a:ext cx="548640" cy="274320"/>
          </a:xfrm>
          <a:prstGeom prst="rect">
            <a:avLst/>
          </a:prstGeom>
          <a:noFill/>
          <a:ln/>
        </p:spPr>
        <p:txBody>
          <a:bodyPr wrap="square" lIns="0" tIns="0" rIns="0" bIns="0" rtlCol="0" anchor="t"/>
          <a:lstStyle/>
          <a:p>
            <a:pPr indent="0" marL="0">
              <a:buNone/>
            </a:pPr>
            <a:r>
              <a:rPr lang="en-US" sz="1200" b="1" dirty="0">
                <a:solidFill>
                  <a:schemeClr val="accent3"/>
                </a:solidFill>
              </a:rPr>
              <a:t>Oct</a:t>
            </a:r>
            <a:endParaRPr lang="en-US" sz="1200" dirty="0"/>
          </a:p>
        </p:txBody>
      </p:sp>
      <p:sp>
        <p:nvSpPr>
          <p:cNvPr id="8" name="Conector"/>
          <p:cNvSpPr/>
          <p:nvPr/>
        </p:nvSpPr>
        <p:spPr>
          <a:xfrm>
            <a:off x="8582595" y="1691640"/>
            <a:ext cx="914" cy="3794760"/>
          </a:xfrm>
          <a:prstGeom prst="line">
            <a:avLst/>
          </a:prstGeom>
          <a:noFill/>
          <a:ln w="12700">
            <a:solidFill>
              <a:schemeClr val="accent4"/>
            </a:solidFill>
            <a:prstDash val="solid"/>
          </a:ln>
        </p:spPr>
      </p:sp>
      <p:sp>
        <p:nvSpPr>
          <p:cNvPr id="9" name="Text 7"/>
          <p:cNvSpPr txBox="1"/>
          <p:nvPr/>
        </p:nvSpPr>
        <p:spPr>
          <a:xfrm>
            <a:off x="8628315" y="1645920"/>
            <a:ext cx="548640" cy="274320"/>
          </a:xfrm>
          <a:prstGeom prst="rect">
            <a:avLst/>
          </a:prstGeom>
          <a:noFill/>
          <a:ln/>
        </p:spPr>
        <p:txBody>
          <a:bodyPr wrap="square" lIns="0" tIns="0" rIns="0" bIns="0" rtlCol="0" anchor="t"/>
          <a:lstStyle/>
          <a:p>
            <a:pPr indent="0" marL="0">
              <a:buNone/>
            </a:pPr>
            <a:r>
              <a:rPr lang="en-US" sz="1200" b="1" dirty="0">
                <a:solidFill>
                  <a:schemeClr val="accent3"/>
                </a:solidFill>
              </a:rPr>
              <a:t>Nov</a:t>
            </a:r>
            <a:endParaRPr lang="en-US" sz="1200" dirty="0"/>
          </a:p>
        </p:txBody>
      </p:sp>
      <p:sp>
        <p:nvSpPr>
          <p:cNvPr id="10" name="Conector"/>
          <p:cNvSpPr/>
          <p:nvPr/>
        </p:nvSpPr>
        <p:spPr>
          <a:xfrm>
            <a:off x="11283001" y="1691640"/>
            <a:ext cx="914" cy="3794760"/>
          </a:xfrm>
          <a:prstGeom prst="line">
            <a:avLst/>
          </a:prstGeom>
          <a:noFill/>
          <a:ln w="12700">
            <a:solidFill>
              <a:schemeClr val="accent4"/>
            </a:solidFill>
            <a:prstDash val="solid"/>
          </a:ln>
        </p:spPr>
      </p:sp>
      <p:sp>
        <p:nvSpPr>
          <p:cNvPr id="11" name="Text 9"/>
          <p:cNvSpPr txBox="1"/>
          <p:nvPr/>
        </p:nvSpPr>
        <p:spPr>
          <a:xfrm>
            <a:off x="11328721" y="1645920"/>
            <a:ext cx="548640" cy="274320"/>
          </a:xfrm>
          <a:prstGeom prst="rect">
            <a:avLst/>
          </a:prstGeom>
          <a:noFill/>
          <a:ln/>
        </p:spPr>
        <p:txBody>
          <a:bodyPr wrap="square" lIns="0" tIns="0" rIns="0" bIns="0" rtlCol="0" anchor="t"/>
          <a:lstStyle/>
          <a:p>
            <a:pPr indent="0" marL="0">
              <a:buNone/>
            </a:pPr>
            <a:r>
              <a:rPr lang="en-US" sz="1200" b="1" dirty="0">
                <a:solidFill>
                  <a:schemeClr val="accent3"/>
                </a:solidFill>
              </a:rPr>
              <a:t>Dic</a:t>
            </a:r>
            <a:endParaRPr lang="en-US" sz="1200" dirty="0"/>
          </a:p>
        </p:txBody>
      </p:sp>
      <p:sp>
        <p:nvSpPr>
          <p:cNvPr id="12" name="Text 10"/>
          <p:cNvSpPr txBox="1"/>
          <p:nvPr/>
        </p:nvSpPr>
        <p:spPr>
          <a:xfrm>
            <a:off x="777240" y="1965960"/>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0 · Preparación</a:t>
            </a:r>
            <a:endParaRPr lang="en-US" sz="1400" dirty="0"/>
          </a:p>
        </p:txBody>
      </p:sp>
      <p:sp>
        <p:nvSpPr>
          <p:cNvPr id="13" name="Text 11"/>
          <p:cNvSpPr txBox="1"/>
          <p:nvPr/>
        </p:nvSpPr>
        <p:spPr>
          <a:xfrm>
            <a:off x="3794760" y="1965960"/>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21 sep – 15 oct</a:t>
            </a:r>
            <a:endParaRPr lang="en-US" sz="1200" dirty="0"/>
          </a:p>
        </p:txBody>
      </p:sp>
      <p:sp>
        <p:nvSpPr>
          <p:cNvPr id="14" name="Barra Sprint 0 · Preparación"/>
          <p:cNvSpPr/>
          <p:nvPr/>
        </p:nvSpPr>
        <p:spPr>
          <a:xfrm>
            <a:off x="4892040" y="2011680"/>
            <a:ext cx="2222906" cy="256032"/>
          </a:xfrm>
          <a:prstGeom prst="roundRect">
            <a:avLst>
              <a:gd name="adj" fmla="val 21429"/>
            </a:avLst>
          </a:prstGeom>
          <a:solidFill>
            <a:schemeClr val="tx2"/>
          </a:solidFill>
          <a:ln w="15875">
            <a:solidFill>
              <a:schemeClr val="tx2"/>
            </a:solidFill>
            <a:prstDash val="solid"/>
          </a:ln>
        </p:spPr>
      </p:sp>
      <p:sp>
        <p:nvSpPr>
          <p:cNvPr id="15" name="Text 13"/>
          <p:cNvSpPr txBox="1"/>
          <p:nvPr/>
        </p:nvSpPr>
        <p:spPr>
          <a:xfrm>
            <a:off x="7197242" y="1965960"/>
            <a:ext cx="1005840" cy="347472"/>
          </a:xfrm>
          <a:prstGeom prst="rect">
            <a:avLst/>
          </a:prstGeom>
          <a:noFill/>
          <a:ln/>
        </p:spPr>
        <p:txBody>
          <a:bodyPr wrap="square" lIns="0" tIns="0" rIns="0" bIns="0" rtlCol="0" anchor="ctr"/>
          <a:lstStyle/>
          <a:p>
            <a:pPr indent="0" marL="0">
              <a:buNone/>
            </a:pPr>
            <a:r>
              <a:rPr lang="en-US" sz="1200" b="1" dirty="0">
                <a:solidFill>
                  <a:schemeClr val="tx2"/>
                </a:solidFill>
              </a:rPr>
              <a:t>Cerrado</a:t>
            </a:r>
            <a:endParaRPr lang="en-US" sz="1200" dirty="0"/>
          </a:p>
        </p:txBody>
      </p:sp>
      <p:sp>
        <p:nvSpPr>
          <p:cNvPr id="16" name="Text 14"/>
          <p:cNvSpPr txBox="1"/>
          <p:nvPr/>
        </p:nvSpPr>
        <p:spPr>
          <a:xfrm>
            <a:off x="777240" y="2395728"/>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1 · Identidad y grupo</a:t>
            </a:r>
            <a:endParaRPr lang="en-US" sz="1400" dirty="0"/>
          </a:p>
        </p:txBody>
      </p:sp>
      <p:sp>
        <p:nvSpPr>
          <p:cNvPr id="17" name="Text 15"/>
          <p:cNvSpPr txBox="1"/>
          <p:nvPr/>
        </p:nvSpPr>
        <p:spPr>
          <a:xfrm>
            <a:off x="3794760" y="2395728"/>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16 – 22 oct</a:t>
            </a:r>
            <a:endParaRPr lang="en-US" sz="1200" dirty="0"/>
          </a:p>
        </p:txBody>
      </p:sp>
      <p:sp>
        <p:nvSpPr>
          <p:cNvPr id="18" name="Barra Sprint 1 · Identidad y grupo"/>
          <p:cNvSpPr/>
          <p:nvPr/>
        </p:nvSpPr>
        <p:spPr>
          <a:xfrm>
            <a:off x="7142378" y="2441448"/>
            <a:ext cx="602663" cy="256032"/>
          </a:xfrm>
          <a:prstGeom prst="roundRect">
            <a:avLst>
              <a:gd name="adj" fmla="val 21429"/>
            </a:avLst>
          </a:prstGeom>
          <a:solidFill>
            <a:schemeClr val="tx2"/>
          </a:solidFill>
          <a:ln w="15875">
            <a:solidFill>
              <a:schemeClr val="tx2"/>
            </a:solidFill>
            <a:prstDash val="solid"/>
          </a:ln>
        </p:spPr>
      </p:sp>
      <p:sp>
        <p:nvSpPr>
          <p:cNvPr id="19" name="Text 17"/>
          <p:cNvSpPr txBox="1"/>
          <p:nvPr/>
        </p:nvSpPr>
        <p:spPr>
          <a:xfrm>
            <a:off x="7827337" y="2395728"/>
            <a:ext cx="1005840" cy="347472"/>
          </a:xfrm>
          <a:prstGeom prst="rect">
            <a:avLst/>
          </a:prstGeom>
          <a:noFill/>
          <a:ln/>
        </p:spPr>
        <p:txBody>
          <a:bodyPr wrap="square" lIns="0" tIns="0" rIns="0" bIns="0" rtlCol="0" anchor="ctr"/>
          <a:lstStyle/>
          <a:p>
            <a:pPr indent="0" marL="0">
              <a:buNone/>
            </a:pPr>
            <a:r>
              <a:rPr lang="en-US" sz="1200" b="1" dirty="0">
                <a:solidFill>
                  <a:schemeClr val="tx2"/>
                </a:solidFill>
              </a:rPr>
              <a:t>Cerrado</a:t>
            </a:r>
            <a:endParaRPr lang="en-US" sz="1200" dirty="0"/>
          </a:p>
        </p:txBody>
      </p:sp>
      <p:sp>
        <p:nvSpPr>
          <p:cNvPr id="20" name="Text 18"/>
          <p:cNvSpPr txBox="1"/>
          <p:nvPr/>
        </p:nvSpPr>
        <p:spPr>
          <a:xfrm>
            <a:off x="777240" y="2825496"/>
            <a:ext cx="3063240" cy="347472"/>
          </a:xfrm>
          <a:prstGeom prst="rect">
            <a:avLst/>
          </a:prstGeom>
          <a:noFill/>
          <a:ln/>
        </p:spPr>
        <p:txBody>
          <a:bodyPr wrap="square" lIns="0" tIns="0" rIns="0" bIns="0" rtlCol="0" anchor="ctr"/>
          <a:lstStyle/>
          <a:p>
            <a:pPr indent="0" marL="0">
              <a:buNone/>
            </a:pPr>
            <a:r>
              <a:rPr lang="en-US" sz="1400" b="1" dirty="0">
                <a:solidFill>
                  <a:schemeClr val="tx1"/>
                </a:solidFill>
              </a:rPr>
              <a:t>Sprint 2 · Ficha y acceso de relevo</a:t>
            </a:r>
            <a:endParaRPr lang="en-US" sz="1400" dirty="0"/>
          </a:p>
        </p:txBody>
      </p:sp>
      <p:sp>
        <p:nvSpPr>
          <p:cNvPr id="21" name="Text 19"/>
          <p:cNvSpPr txBox="1"/>
          <p:nvPr/>
        </p:nvSpPr>
        <p:spPr>
          <a:xfrm>
            <a:off x="3794760" y="2825496"/>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23 – 29 oct</a:t>
            </a:r>
            <a:endParaRPr lang="en-US" sz="1200" dirty="0"/>
          </a:p>
        </p:txBody>
      </p:sp>
      <p:sp>
        <p:nvSpPr>
          <p:cNvPr id="22" name="Barra Sprint 2 · Ficha y acceso de relevo"/>
          <p:cNvSpPr/>
          <p:nvPr/>
        </p:nvSpPr>
        <p:spPr>
          <a:xfrm>
            <a:off x="7772473" y="2871216"/>
            <a:ext cx="602663" cy="256032"/>
          </a:xfrm>
          <a:prstGeom prst="roundRect">
            <a:avLst>
              <a:gd name="adj" fmla="val 21429"/>
            </a:avLst>
          </a:prstGeom>
          <a:solidFill>
            <a:schemeClr val="accent2"/>
          </a:solidFill>
          <a:ln w="15875">
            <a:solidFill>
              <a:schemeClr val="accent2"/>
            </a:solidFill>
            <a:prstDash val="solid"/>
          </a:ln>
        </p:spPr>
      </p:sp>
      <p:sp>
        <p:nvSpPr>
          <p:cNvPr id="23" name="Text 21"/>
          <p:cNvSpPr txBox="1"/>
          <p:nvPr/>
        </p:nvSpPr>
        <p:spPr>
          <a:xfrm>
            <a:off x="8457432" y="2825496"/>
            <a:ext cx="1005840" cy="347472"/>
          </a:xfrm>
          <a:prstGeom prst="rect">
            <a:avLst/>
          </a:prstGeom>
          <a:noFill/>
          <a:ln/>
        </p:spPr>
        <p:txBody>
          <a:bodyPr wrap="square" lIns="0" tIns="0" rIns="0" bIns="0" rtlCol="0" anchor="ctr"/>
          <a:lstStyle/>
          <a:p>
            <a:pPr indent="0" marL="0">
              <a:buNone/>
            </a:pPr>
            <a:r>
              <a:rPr lang="en-US" sz="1200" b="1" dirty="0">
                <a:solidFill>
                  <a:schemeClr val="tx1"/>
                </a:solidFill>
              </a:rPr>
              <a:t>En curso</a:t>
            </a:r>
            <a:endParaRPr lang="en-US" sz="1200" dirty="0"/>
          </a:p>
        </p:txBody>
      </p:sp>
      <p:sp>
        <p:nvSpPr>
          <p:cNvPr id="24" name="Text 22"/>
          <p:cNvSpPr txBox="1"/>
          <p:nvPr/>
        </p:nvSpPr>
        <p:spPr>
          <a:xfrm>
            <a:off x="777240" y="3255264"/>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3 · App de familia y consumo</a:t>
            </a:r>
            <a:endParaRPr lang="en-US" sz="1400" dirty="0"/>
          </a:p>
        </p:txBody>
      </p:sp>
      <p:sp>
        <p:nvSpPr>
          <p:cNvPr id="25" name="Text 23"/>
          <p:cNvSpPr txBox="1"/>
          <p:nvPr/>
        </p:nvSpPr>
        <p:spPr>
          <a:xfrm>
            <a:off x="3794760" y="3255264"/>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30 oct – 5 nov</a:t>
            </a:r>
            <a:endParaRPr lang="en-US" sz="1200" dirty="0"/>
          </a:p>
        </p:txBody>
      </p:sp>
      <p:sp>
        <p:nvSpPr>
          <p:cNvPr id="26" name="Barra Sprint 3 · App de familia y consumo"/>
          <p:cNvSpPr/>
          <p:nvPr/>
        </p:nvSpPr>
        <p:spPr>
          <a:xfrm>
            <a:off x="8402568" y="3300984"/>
            <a:ext cx="602663" cy="256032"/>
          </a:xfrm>
          <a:prstGeom prst="roundRect">
            <a:avLst>
              <a:gd name="adj" fmla="val 21429"/>
            </a:avLst>
          </a:prstGeom>
          <a:solidFill>
            <a:schemeClr val="bg1"/>
          </a:solidFill>
          <a:ln w="15875">
            <a:solidFill>
              <a:schemeClr val="tx2"/>
            </a:solidFill>
            <a:prstDash val="solid"/>
          </a:ln>
        </p:spPr>
      </p:sp>
      <p:sp>
        <p:nvSpPr>
          <p:cNvPr id="27" name="Text 25"/>
          <p:cNvSpPr txBox="1"/>
          <p:nvPr/>
        </p:nvSpPr>
        <p:spPr>
          <a:xfrm>
            <a:off x="9087527" y="3255264"/>
            <a:ext cx="1005840" cy="347472"/>
          </a:xfrm>
          <a:prstGeom prst="rect">
            <a:avLst/>
          </a:prstGeom>
          <a:noFill/>
          <a:ln/>
        </p:spPr>
        <p:txBody>
          <a:bodyPr wrap="square" lIns="0" tIns="0" rIns="0" bIns="0" rtlCol="0" anchor="ctr"/>
          <a:lstStyle/>
          <a:p>
            <a:pPr indent="0" marL="0">
              <a:buNone/>
            </a:pPr>
            <a:r>
              <a:rPr lang="en-US" sz="1200" b="1" dirty="0">
                <a:solidFill>
                  <a:schemeClr val="tx2"/>
                </a:solidFill>
              </a:rPr>
              <a:t>Planificado</a:t>
            </a:r>
            <a:endParaRPr lang="en-US" sz="1200" dirty="0"/>
          </a:p>
        </p:txBody>
      </p:sp>
      <p:sp>
        <p:nvSpPr>
          <p:cNvPr id="28" name="Text 26"/>
          <p:cNvSpPr txBox="1"/>
          <p:nvPr/>
        </p:nvSpPr>
        <p:spPr>
          <a:xfrm>
            <a:off x="777240" y="3685032"/>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4 · Catálogo, pedido y pago</a:t>
            </a:r>
            <a:endParaRPr lang="en-US" sz="1400" dirty="0"/>
          </a:p>
        </p:txBody>
      </p:sp>
      <p:sp>
        <p:nvSpPr>
          <p:cNvPr id="29" name="Text 27"/>
          <p:cNvSpPr txBox="1"/>
          <p:nvPr/>
        </p:nvSpPr>
        <p:spPr>
          <a:xfrm>
            <a:off x="3794760" y="3685032"/>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6 – 12 nov</a:t>
            </a:r>
            <a:endParaRPr lang="en-US" sz="1200" dirty="0"/>
          </a:p>
        </p:txBody>
      </p:sp>
      <p:sp>
        <p:nvSpPr>
          <p:cNvPr id="30" name="Barra Sprint 4 · Catálogo, pedido y pago"/>
          <p:cNvSpPr/>
          <p:nvPr/>
        </p:nvSpPr>
        <p:spPr>
          <a:xfrm>
            <a:off x="9032663" y="3730752"/>
            <a:ext cx="602663" cy="256032"/>
          </a:xfrm>
          <a:prstGeom prst="roundRect">
            <a:avLst>
              <a:gd name="adj" fmla="val 21429"/>
            </a:avLst>
          </a:prstGeom>
          <a:solidFill>
            <a:schemeClr val="bg1"/>
          </a:solidFill>
          <a:ln w="15875">
            <a:solidFill>
              <a:schemeClr val="tx2"/>
            </a:solidFill>
            <a:prstDash val="solid"/>
          </a:ln>
        </p:spPr>
      </p:sp>
      <p:sp>
        <p:nvSpPr>
          <p:cNvPr id="31" name="Text 29"/>
          <p:cNvSpPr txBox="1"/>
          <p:nvPr/>
        </p:nvSpPr>
        <p:spPr>
          <a:xfrm>
            <a:off x="9717621" y="3685032"/>
            <a:ext cx="1005840" cy="347472"/>
          </a:xfrm>
          <a:prstGeom prst="rect">
            <a:avLst/>
          </a:prstGeom>
          <a:noFill/>
          <a:ln/>
        </p:spPr>
        <p:txBody>
          <a:bodyPr wrap="square" lIns="0" tIns="0" rIns="0" bIns="0" rtlCol="0" anchor="ctr"/>
          <a:lstStyle/>
          <a:p>
            <a:pPr indent="0" marL="0">
              <a:buNone/>
            </a:pPr>
            <a:r>
              <a:rPr lang="en-US" sz="1200" b="1" dirty="0">
                <a:solidFill>
                  <a:schemeClr val="tx2"/>
                </a:solidFill>
              </a:rPr>
              <a:t>Planificado</a:t>
            </a:r>
            <a:endParaRPr lang="en-US" sz="1200" dirty="0"/>
          </a:p>
        </p:txBody>
      </p:sp>
      <p:sp>
        <p:nvSpPr>
          <p:cNvPr id="32" name="Text 30"/>
          <p:cNvSpPr txBox="1"/>
          <p:nvPr/>
        </p:nvSpPr>
        <p:spPr>
          <a:xfrm>
            <a:off x="777240" y="4114800"/>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5 · Cierre y despliegue</a:t>
            </a:r>
            <a:endParaRPr lang="en-US" sz="1400" dirty="0"/>
          </a:p>
        </p:txBody>
      </p:sp>
      <p:sp>
        <p:nvSpPr>
          <p:cNvPr id="33" name="Text 31"/>
          <p:cNvSpPr txBox="1"/>
          <p:nvPr/>
        </p:nvSpPr>
        <p:spPr>
          <a:xfrm>
            <a:off x="3794760" y="4114800"/>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13 – 19 nov</a:t>
            </a:r>
            <a:endParaRPr lang="en-US" sz="1200" dirty="0"/>
          </a:p>
        </p:txBody>
      </p:sp>
      <p:sp>
        <p:nvSpPr>
          <p:cNvPr id="34" name="Barra Sprint 5 · Cierre y despliegue"/>
          <p:cNvSpPr/>
          <p:nvPr/>
        </p:nvSpPr>
        <p:spPr>
          <a:xfrm>
            <a:off x="9662757" y="4160520"/>
            <a:ext cx="602663" cy="256032"/>
          </a:xfrm>
          <a:prstGeom prst="roundRect">
            <a:avLst>
              <a:gd name="adj" fmla="val 21429"/>
            </a:avLst>
          </a:prstGeom>
          <a:solidFill>
            <a:schemeClr val="bg1"/>
          </a:solidFill>
          <a:ln w="15875">
            <a:solidFill>
              <a:schemeClr val="tx2"/>
            </a:solidFill>
            <a:prstDash val="solid"/>
          </a:ln>
        </p:spPr>
      </p:sp>
      <p:sp>
        <p:nvSpPr>
          <p:cNvPr id="35" name="Text 33"/>
          <p:cNvSpPr txBox="1"/>
          <p:nvPr/>
        </p:nvSpPr>
        <p:spPr>
          <a:xfrm>
            <a:off x="10347716" y="4114800"/>
            <a:ext cx="1005840" cy="347472"/>
          </a:xfrm>
          <a:prstGeom prst="rect">
            <a:avLst/>
          </a:prstGeom>
          <a:noFill/>
          <a:ln/>
        </p:spPr>
        <p:txBody>
          <a:bodyPr wrap="square" lIns="0" tIns="0" rIns="0" bIns="0" rtlCol="0" anchor="ctr"/>
          <a:lstStyle/>
          <a:p>
            <a:pPr indent="0" marL="0">
              <a:buNone/>
            </a:pPr>
            <a:r>
              <a:rPr lang="en-US" sz="1200" b="1" dirty="0">
                <a:solidFill>
                  <a:schemeClr val="tx2"/>
                </a:solidFill>
              </a:rPr>
              <a:t>Planificado</a:t>
            </a:r>
            <a:endParaRPr lang="en-US" sz="1200" dirty="0"/>
          </a:p>
        </p:txBody>
      </p:sp>
      <p:sp>
        <p:nvSpPr>
          <p:cNvPr id="36" name="Text 34"/>
          <p:cNvSpPr txBox="1"/>
          <p:nvPr/>
        </p:nvSpPr>
        <p:spPr>
          <a:xfrm>
            <a:off x="777240" y="4544568"/>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6 · Reserva: ajustes</a:t>
            </a:r>
            <a:endParaRPr lang="en-US" sz="1400" dirty="0"/>
          </a:p>
        </p:txBody>
      </p:sp>
      <p:sp>
        <p:nvSpPr>
          <p:cNvPr id="37" name="Text 35"/>
          <p:cNvSpPr txBox="1"/>
          <p:nvPr/>
        </p:nvSpPr>
        <p:spPr>
          <a:xfrm>
            <a:off x="3794760" y="4544568"/>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20 – 26 nov</a:t>
            </a:r>
            <a:endParaRPr lang="en-US" sz="1200" dirty="0"/>
          </a:p>
        </p:txBody>
      </p:sp>
      <p:sp>
        <p:nvSpPr>
          <p:cNvPr id="38" name="Barra Sprint 6 · Reserva: ajustes"/>
          <p:cNvSpPr/>
          <p:nvPr/>
        </p:nvSpPr>
        <p:spPr>
          <a:xfrm>
            <a:off x="10292852" y="4590288"/>
            <a:ext cx="602663" cy="256032"/>
          </a:xfrm>
          <a:prstGeom prst="roundRect">
            <a:avLst>
              <a:gd name="adj" fmla="val 21429"/>
            </a:avLst>
          </a:prstGeom>
          <a:solidFill>
            <a:schemeClr val="accent4"/>
          </a:solidFill>
          <a:ln w="15875">
            <a:solidFill>
              <a:schemeClr val="accent3"/>
            </a:solidFill>
            <a:prstDash val="dash"/>
          </a:ln>
        </p:spPr>
      </p:sp>
      <p:sp>
        <p:nvSpPr>
          <p:cNvPr id="39" name="Text 37"/>
          <p:cNvSpPr txBox="1"/>
          <p:nvPr/>
        </p:nvSpPr>
        <p:spPr>
          <a:xfrm>
            <a:off x="777240" y="4974336"/>
            <a:ext cx="3063240" cy="347472"/>
          </a:xfrm>
          <a:prstGeom prst="rect">
            <a:avLst/>
          </a:prstGeom>
          <a:noFill/>
          <a:ln/>
        </p:spPr>
        <p:txBody>
          <a:bodyPr wrap="square" lIns="0" tIns="0" rIns="0" bIns="0" rtlCol="0" anchor="ctr"/>
          <a:lstStyle/>
          <a:p>
            <a:pPr indent="0" marL="0">
              <a:buNone/>
            </a:pPr>
            <a:r>
              <a:rPr lang="en-US" sz="1400" dirty="0">
                <a:solidFill>
                  <a:schemeClr val="tx1"/>
                </a:solidFill>
              </a:rPr>
              <a:t>Sprint 7 · Reserva: presentación</a:t>
            </a:r>
            <a:endParaRPr lang="en-US" sz="1400" dirty="0"/>
          </a:p>
        </p:txBody>
      </p:sp>
      <p:sp>
        <p:nvSpPr>
          <p:cNvPr id="40" name="Text 38"/>
          <p:cNvSpPr txBox="1"/>
          <p:nvPr/>
        </p:nvSpPr>
        <p:spPr>
          <a:xfrm>
            <a:off x="3794760" y="4974336"/>
            <a:ext cx="1097280" cy="347472"/>
          </a:xfrm>
          <a:prstGeom prst="rect">
            <a:avLst/>
          </a:prstGeom>
          <a:noFill/>
          <a:ln/>
        </p:spPr>
        <p:txBody>
          <a:bodyPr wrap="square" lIns="0" tIns="0" rIns="0" bIns="0" rtlCol="0" anchor="ctr"/>
          <a:lstStyle/>
          <a:p>
            <a:pPr indent="0" marL="0">
              <a:buNone/>
            </a:pPr>
            <a:r>
              <a:rPr lang="en-US" sz="1200" dirty="0">
                <a:solidFill>
                  <a:schemeClr val="accent3"/>
                </a:solidFill>
              </a:rPr>
              <a:t>27 nov – 3 dic</a:t>
            </a:r>
            <a:endParaRPr lang="en-US" sz="1200" dirty="0"/>
          </a:p>
        </p:txBody>
      </p:sp>
      <p:sp>
        <p:nvSpPr>
          <p:cNvPr id="41" name="Barra Sprint 7 · Reserva: presentación"/>
          <p:cNvSpPr/>
          <p:nvPr/>
        </p:nvSpPr>
        <p:spPr>
          <a:xfrm>
            <a:off x="10922947" y="5020056"/>
            <a:ext cx="602663" cy="256032"/>
          </a:xfrm>
          <a:prstGeom prst="roundRect">
            <a:avLst>
              <a:gd name="adj" fmla="val 21429"/>
            </a:avLst>
          </a:prstGeom>
          <a:solidFill>
            <a:schemeClr val="accent4"/>
          </a:solidFill>
          <a:ln w="15875">
            <a:solidFill>
              <a:schemeClr val="accent3"/>
            </a:solidFill>
            <a:prstDash val="dash"/>
          </a:ln>
        </p:spPr>
      </p:sp>
      <p:sp>
        <p:nvSpPr>
          <p:cNvPr id="42" name="Conector"/>
          <p:cNvSpPr/>
          <p:nvPr/>
        </p:nvSpPr>
        <p:spPr>
          <a:xfrm>
            <a:off x="4892040" y="5486400"/>
            <a:ext cx="6659575" cy="914"/>
          </a:xfrm>
          <a:prstGeom prst="line">
            <a:avLst/>
          </a:prstGeom>
          <a:noFill/>
          <a:ln w="12700">
            <a:solidFill>
              <a:schemeClr val="accent3"/>
            </a:solidFill>
            <a:prstDash val="solid"/>
          </a:ln>
        </p:spPr>
      </p:sp>
      <p:sp>
        <p:nvSpPr>
          <p:cNvPr id="43" name="Hito Entrega de avance"/>
          <p:cNvSpPr/>
          <p:nvPr/>
        </p:nvSpPr>
        <p:spPr>
          <a:xfrm>
            <a:off x="6960925" y="5394960"/>
            <a:ext cx="182880" cy="182880"/>
          </a:xfrm>
          <a:prstGeom prst="diamond">
            <a:avLst/>
          </a:prstGeom>
          <a:solidFill>
            <a:schemeClr val="tx2"/>
          </a:solidFill>
          <a:ln w="12700">
            <a:solidFill>
              <a:schemeClr val="tx2"/>
            </a:solidFill>
            <a:prstDash val="solid"/>
          </a:ln>
        </p:spPr>
      </p:sp>
      <p:sp>
        <p:nvSpPr>
          <p:cNvPr id="44" name="Text 42"/>
          <p:cNvSpPr txBox="1"/>
          <p:nvPr/>
        </p:nvSpPr>
        <p:spPr>
          <a:xfrm>
            <a:off x="6252265" y="5605272"/>
            <a:ext cx="1600200" cy="502920"/>
          </a:xfrm>
          <a:prstGeom prst="rect">
            <a:avLst/>
          </a:prstGeom>
          <a:noFill/>
          <a:ln/>
        </p:spPr>
        <p:txBody>
          <a:bodyPr wrap="square" lIns="0" tIns="0" rIns="0" bIns="0" rtlCol="0" anchor="t"/>
          <a:lstStyle/>
          <a:p>
            <a:pPr algn="ctr" indent="0" marL="0">
              <a:buNone/>
            </a:pPr>
            <a:r>
              <a:rPr lang="en-US" sz="1200" b="1" dirty="0">
                <a:solidFill>
                  <a:schemeClr val="tx1"/>
                </a:solidFill>
              </a:rPr>
              <a:t>Entrega de avance</a:t>
            </a:r>
            <a:endParaRPr lang="en-US" sz="1200" dirty="0"/>
          </a:p>
          <a:p>
            <a:pPr algn="ctr" indent="0" marL="0">
              <a:buNone/>
            </a:pPr>
            <a:r>
              <a:rPr lang="en-US" sz="1200" dirty="0">
                <a:solidFill>
                  <a:schemeClr val="tx1"/>
                </a:solidFill>
              </a:rPr>
              <a:t>semana 10</a:t>
            </a:r>
            <a:endParaRPr lang="en-US" sz="1200" dirty="0"/>
          </a:p>
        </p:txBody>
      </p:sp>
      <p:sp>
        <p:nvSpPr>
          <p:cNvPr id="45" name="Hito Presentación"/>
          <p:cNvSpPr/>
          <p:nvPr/>
        </p:nvSpPr>
        <p:spPr>
          <a:xfrm>
            <a:off x="8311128" y="5394960"/>
            <a:ext cx="182880" cy="182880"/>
          </a:xfrm>
          <a:prstGeom prst="diamond">
            <a:avLst/>
          </a:prstGeom>
          <a:solidFill>
            <a:schemeClr val="accent2"/>
          </a:solidFill>
          <a:ln w="12700">
            <a:solidFill>
              <a:schemeClr val="tx2"/>
            </a:solidFill>
            <a:prstDash val="solid"/>
          </a:ln>
        </p:spPr>
      </p:sp>
      <p:sp>
        <p:nvSpPr>
          <p:cNvPr id="46" name="Text 44"/>
          <p:cNvSpPr txBox="1"/>
          <p:nvPr/>
        </p:nvSpPr>
        <p:spPr>
          <a:xfrm>
            <a:off x="7602468" y="5605272"/>
            <a:ext cx="1600200" cy="502920"/>
          </a:xfrm>
          <a:prstGeom prst="rect">
            <a:avLst/>
          </a:prstGeom>
          <a:noFill/>
          <a:ln/>
        </p:spPr>
        <p:txBody>
          <a:bodyPr wrap="square" lIns="0" tIns="0" rIns="0" bIns="0" rtlCol="0" anchor="t"/>
          <a:lstStyle/>
          <a:p>
            <a:pPr algn="ctr" indent="0" marL="0">
              <a:buNone/>
            </a:pPr>
            <a:r>
              <a:rPr lang="en-US" sz="1200" b="1" dirty="0">
                <a:solidFill>
                  <a:schemeClr val="tx1"/>
                </a:solidFill>
              </a:rPr>
              <a:t>Presentación</a:t>
            </a:r>
            <a:endParaRPr lang="en-US" sz="1200" dirty="0"/>
          </a:p>
          <a:p>
            <a:pPr algn="ctr" indent="0" marL="0">
              <a:buNone/>
            </a:pPr>
            <a:r>
              <a:rPr lang="en-US" sz="1200" dirty="0">
                <a:solidFill>
                  <a:schemeClr val="tx1"/>
                </a:solidFill>
              </a:rPr>
              <a:t>30 oct</a:t>
            </a:r>
            <a:endParaRPr lang="en-US" sz="1200" dirty="0"/>
          </a:p>
        </p:txBody>
      </p:sp>
      <p:sp>
        <p:nvSpPr>
          <p:cNvPr id="47" name="Hito Entrega final Fase 2"/>
          <p:cNvSpPr/>
          <p:nvPr/>
        </p:nvSpPr>
        <p:spPr>
          <a:xfrm>
            <a:off x="9841358" y="5394960"/>
            <a:ext cx="182880" cy="182880"/>
          </a:xfrm>
          <a:prstGeom prst="diamond">
            <a:avLst/>
          </a:prstGeom>
          <a:solidFill>
            <a:schemeClr val="tx2"/>
          </a:solidFill>
          <a:ln w="12700">
            <a:solidFill>
              <a:schemeClr val="tx2"/>
            </a:solidFill>
            <a:prstDash val="solid"/>
          </a:ln>
        </p:spPr>
      </p:sp>
      <p:sp>
        <p:nvSpPr>
          <p:cNvPr id="48" name="Text 46"/>
          <p:cNvSpPr txBox="1"/>
          <p:nvPr/>
        </p:nvSpPr>
        <p:spPr>
          <a:xfrm>
            <a:off x="9132698" y="5605272"/>
            <a:ext cx="1600200" cy="502920"/>
          </a:xfrm>
          <a:prstGeom prst="rect">
            <a:avLst/>
          </a:prstGeom>
          <a:noFill/>
          <a:ln/>
        </p:spPr>
        <p:txBody>
          <a:bodyPr wrap="square" lIns="0" tIns="0" rIns="0" bIns="0" rtlCol="0" anchor="t"/>
          <a:lstStyle/>
          <a:p>
            <a:pPr algn="ctr" indent="0" marL="0">
              <a:buNone/>
            </a:pPr>
            <a:r>
              <a:rPr lang="en-US" sz="1200" b="1" dirty="0">
                <a:solidFill>
                  <a:schemeClr val="tx1"/>
                </a:solidFill>
              </a:rPr>
              <a:t>Entrega final Fase 2</a:t>
            </a:r>
            <a:endParaRPr lang="en-US" sz="1200" dirty="0"/>
          </a:p>
          <a:p>
            <a:pPr algn="ctr" indent="0" marL="0">
              <a:buNone/>
            </a:pPr>
            <a:r>
              <a:rPr lang="en-US" sz="1200" dirty="0">
                <a:solidFill>
                  <a:schemeClr val="tx1"/>
                </a:solidFill>
              </a:rPr>
              <a:t>semana 15</a:t>
            </a:r>
            <a:endParaRPr lang="en-US" sz="1200" dirty="0"/>
          </a:p>
        </p:txBody>
      </p:sp>
      <p:sp>
        <p:nvSpPr>
          <p:cNvPr id="49" name="Hito Fase 3"/>
          <p:cNvSpPr/>
          <p:nvPr/>
        </p:nvSpPr>
        <p:spPr>
          <a:xfrm>
            <a:off x="11101548" y="5394960"/>
            <a:ext cx="182880" cy="182880"/>
          </a:xfrm>
          <a:prstGeom prst="diamond">
            <a:avLst/>
          </a:prstGeom>
          <a:solidFill>
            <a:schemeClr val="tx2"/>
          </a:solidFill>
          <a:ln w="12700">
            <a:solidFill>
              <a:schemeClr val="tx2"/>
            </a:solidFill>
            <a:prstDash val="solid"/>
          </a:ln>
        </p:spPr>
      </p:sp>
      <p:sp>
        <p:nvSpPr>
          <p:cNvPr id="50" name="Text 48"/>
          <p:cNvSpPr txBox="1"/>
          <p:nvPr/>
        </p:nvSpPr>
        <p:spPr>
          <a:xfrm>
            <a:off x="9951415" y="5605272"/>
            <a:ext cx="1600200" cy="502920"/>
          </a:xfrm>
          <a:prstGeom prst="rect">
            <a:avLst/>
          </a:prstGeom>
          <a:noFill/>
          <a:ln/>
        </p:spPr>
        <p:txBody>
          <a:bodyPr wrap="square" lIns="0" tIns="0" rIns="0" bIns="0" rtlCol="0" anchor="t"/>
          <a:lstStyle/>
          <a:p>
            <a:pPr algn="r" indent="0" marL="0">
              <a:buNone/>
            </a:pPr>
            <a:r>
              <a:rPr lang="en-US" sz="1200" b="1" dirty="0">
                <a:solidFill>
                  <a:schemeClr val="tx1"/>
                </a:solidFill>
              </a:rPr>
              <a:t>Fase 3</a:t>
            </a:r>
            <a:endParaRPr lang="en-US" sz="1200" dirty="0"/>
          </a:p>
          <a:p>
            <a:pPr algn="r" indent="0" marL="0">
              <a:buNone/>
            </a:pPr>
            <a:r>
              <a:rPr lang="en-US" sz="1200" dirty="0">
                <a:solidFill>
                  <a:schemeClr val="tx1"/>
                </a:solidFill>
              </a:rPr>
              <a:t>semanas 17 y 18</a:t>
            </a:r>
            <a:endParaRPr lang="en-US" sz="1200" dirty="0"/>
          </a:p>
        </p:txBody>
      </p:sp>
      <p:sp>
        <p:nvSpPr>
          <p:cNvPr id="51" name="Conector"/>
          <p:cNvSpPr/>
          <p:nvPr/>
        </p:nvSpPr>
        <p:spPr>
          <a:xfrm>
            <a:off x="8402568" y="1874520"/>
            <a:ext cx="914" cy="3520440"/>
          </a:xfrm>
          <a:prstGeom prst="line">
            <a:avLst/>
          </a:prstGeom>
          <a:noFill/>
          <a:ln w="25400">
            <a:solidFill>
              <a:schemeClr val="accent2"/>
            </a:solidFill>
            <a:prstDash val="dash"/>
          </a:ln>
        </p:spPr>
      </p:sp>
      <p:sp>
        <p:nvSpPr>
          <p:cNvPr id="52" name="Text 50"/>
          <p:cNvSpPr txBox="1"/>
          <p:nvPr/>
        </p:nvSpPr>
        <p:spPr>
          <a:xfrm>
            <a:off x="777240" y="5349240"/>
            <a:ext cx="2743200" cy="274320"/>
          </a:xfrm>
          <a:prstGeom prst="rect">
            <a:avLst/>
          </a:prstGeom>
          <a:noFill/>
          <a:ln/>
        </p:spPr>
        <p:txBody>
          <a:bodyPr wrap="square" lIns="0" tIns="0" rIns="0" bIns="0" rtlCol="0" anchor="ctr"/>
          <a:lstStyle/>
          <a:p>
            <a:pPr indent="0" marL="0">
              <a:buNone/>
            </a:pPr>
            <a:r>
              <a:rPr lang="en-US" sz="1400" b="1" dirty="0">
                <a:solidFill>
                  <a:schemeClr val="tx2"/>
                </a:solidFill>
              </a:rPr>
              <a:t>Hitos del ramo</a:t>
            </a:r>
            <a:endParaRPr lang="en-US" sz="14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TECNOLOGÍAS Y HERRAMIENTAS</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Un stack conocido y documentado</a:t>
            </a:r>
            <a:endParaRPr lang="en-US" sz="3200" dirty="0"/>
          </a:p>
        </p:txBody>
      </p:sp>
      <p:sp>
        <p:nvSpPr>
          <p:cNvPr id="4" name="Frontend"/>
          <p:cNvSpPr/>
          <p:nvPr/>
        </p:nvSpPr>
        <p:spPr>
          <a:xfrm>
            <a:off x="548640" y="1600200"/>
            <a:ext cx="2057949" cy="3611880"/>
          </a:xfrm>
          <a:prstGeom prst="roundRect">
            <a:avLst>
              <a:gd name="adj" fmla="val 5332"/>
            </a:avLst>
          </a:prstGeom>
          <a:solidFill>
            <a:schemeClr val="accent4"/>
          </a:solidFill>
          <a:ln w="12700">
            <a:solidFill>
              <a:schemeClr val="accent4"/>
            </a:solidFill>
            <a:prstDash val="solid"/>
          </a:ln>
        </p:spPr>
      </p:sp>
      <p:sp>
        <p:nvSpPr>
          <p:cNvPr id="5" name="Círculo de ícono"/>
          <p:cNvSpPr/>
          <p:nvPr/>
        </p:nvSpPr>
        <p:spPr>
          <a:xfrm>
            <a:off x="777240" y="1856232"/>
            <a:ext cx="658368" cy="658368"/>
          </a:xfrm>
          <a:prstGeom prst="ellipse">
            <a:avLst/>
          </a:prstGeom>
          <a:solidFill>
            <a:schemeClr val="tx2"/>
          </a:solidFill>
          <a:ln w="12700">
            <a:solidFill>
              <a:schemeClr val="tx2"/>
            </a:solidFill>
            <a:prstDash val="solid"/>
          </a:ln>
        </p:spPr>
      </p:sp>
      <p:pic>
        <p:nvPicPr>
          <p:cNvPr id="6" name="Image 0" descr="Ícono Smartphone">    </p:cNvPr>
          <p:cNvPicPr>
            <a:picLocks noChangeAspect="1"/>
          </p:cNvPicPr>
          <p:nvPr/>
        </p:nvPicPr>
        <p:blipFill>
          <a:blip r:embed="rId1"/>
          <a:stretch>
            <a:fillRect/>
          </a:stretch>
        </p:blipFill>
        <p:spPr>
          <a:xfrm>
            <a:off x="935248" y="2014240"/>
            <a:ext cx="342351" cy="342351"/>
          </a:xfrm>
          <a:prstGeom prst="rect">
            <a:avLst/>
          </a:prstGeom>
        </p:spPr>
      </p:pic>
      <p:sp>
        <p:nvSpPr>
          <p:cNvPr id="7" name="Text 4"/>
          <p:cNvSpPr txBox="1"/>
          <p:nvPr/>
        </p:nvSpPr>
        <p:spPr>
          <a:xfrm>
            <a:off x="777240" y="2651760"/>
            <a:ext cx="1692189"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Frontend</a:t>
            </a:r>
            <a:endParaRPr lang="en-US" sz="2000" dirty="0"/>
          </a:p>
        </p:txBody>
      </p:sp>
      <p:sp>
        <p:nvSpPr>
          <p:cNvPr id="8" name="Text 5"/>
          <p:cNvSpPr txBox="1"/>
          <p:nvPr/>
        </p:nvSpPr>
        <p:spPr>
          <a:xfrm>
            <a:off x="731520" y="3154680"/>
            <a:ext cx="1737909" cy="19659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React 19 + TypeScript</a:t>
            </a:r>
            <a:endParaRPr lang="en-US" sz="1400" dirty="0"/>
          </a:p>
          <a:p>
            <a:pPr marL="152400" indent="-152400">
              <a:spcAft>
                <a:spcPts val="500"/>
              </a:spcAft>
              <a:buSzPct val="100000"/>
              <a:buChar char="•"/>
            </a:pPr>
            <a:r>
              <a:rPr lang="en-US" sz="1400" dirty="0">
                <a:solidFill>
                  <a:schemeClr val="tx1"/>
                </a:solidFill>
              </a:rPr>
              <a:t>Vite</a:t>
            </a:r>
            <a:endParaRPr lang="en-US" sz="1400" dirty="0"/>
          </a:p>
          <a:p>
            <a:pPr marL="152400" indent="-152400">
              <a:spcAft>
                <a:spcPts val="500"/>
              </a:spcAft>
              <a:buSzPct val="100000"/>
              <a:buChar char="•"/>
            </a:pPr>
            <a:r>
              <a:rPr lang="en-US" sz="1400" dirty="0">
                <a:solidFill>
                  <a:schemeClr val="tx1"/>
                </a:solidFill>
              </a:rPr>
              <a:t>Tailwind CSS v4</a:t>
            </a:r>
            <a:endParaRPr lang="en-US" sz="1400" dirty="0"/>
          </a:p>
          <a:p>
            <a:pPr marL="152400" indent="-152400">
              <a:spcAft>
                <a:spcPts val="500"/>
              </a:spcAft>
              <a:buSzPct val="100000"/>
              <a:buChar char="•"/>
            </a:pPr>
            <a:r>
              <a:rPr lang="en-US" sz="1400" dirty="0">
                <a:solidFill>
                  <a:schemeClr val="tx1"/>
                </a:solidFill>
              </a:rPr>
              <a:t>Íconos lucide-react</a:t>
            </a:r>
            <a:endParaRPr lang="en-US" sz="1400" dirty="0"/>
          </a:p>
          <a:p>
            <a:pPr marL="152400" indent="-152400">
              <a:spcAft>
                <a:spcPts val="500"/>
              </a:spcAft>
              <a:buSzPct val="100000"/>
              <a:buChar char="•"/>
            </a:pPr>
            <a:r>
              <a:rPr lang="en-US" sz="1400" dirty="0">
                <a:solidFill>
                  <a:schemeClr val="tx1"/>
                </a:solidFill>
              </a:rPr>
              <a:t>App web mobile first (ADR-026)</a:t>
            </a:r>
            <a:endParaRPr lang="en-US" sz="1400" dirty="0"/>
          </a:p>
        </p:txBody>
      </p:sp>
      <p:sp>
        <p:nvSpPr>
          <p:cNvPr id="9" name="Backend"/>
          <p:cNvSpPr/>
          <p:nvPr/>
        </p:nvSpPr>
        <p:spPr>
          <a:xfrm>
            <a:off x="2807757" y="1600200"/>
            <a:ext cx="2057949" cy="3611880"/>
          </a:xfrm>
          <a:prstGeom prst="roundRect">
            <a:avLst>
              <a:gd name="adj" fmla="val 5332"/>
            </a:avLst>
          </a:prstGeom>
          <a:solidFill>
            <a:schemeClr val="bg1"/>
          </a:solidFill>
          <a:ln w="12700">
            <a:solidFill>
              <a:schemeClr val="bg1"/>
            </a:solidFill>
            <a:prstDash val="solid"/>
          </a:ln>
        </p:spPr>
      </p:sp>
      <p:sp>
        <p:nvSpPr>
          <p:cNvPr id="10" name="Círculo de ícono"/>
          <p:cNvSpPr/>
          <p:nvPr/>
        </p:nvSpPr>
        <p:spPr>
          <a:xfrm>
            <a:off x="3036357" y="1856232"/>
            <a:ext cx="658368" cy="658368"/>
          </a:xfrm>
          <a:prstGeom prst="ellipse">
            <a:avLst/>
          </a:prstGeom>
          <a:solidFill>
            <a:schemeClr val="tx2"/>
          </a:solidFill>
          <a:ln w="12700">
            <a:solidFill>
              <a:schemeClr val="tx2"/>
            </a:solidFill>
            <a:prstDash val="solid"/>
          </a:ln>
        </p:spPr>
      </p:sp>
      <p:pic>
        <p:nvPicPr>
          <p:cNvPr id="11" name="Image 1" descr="Ícono Server">    </p:cNvPr>
          <p:cNvPicPr>
            <a:picLocks noChangeAspect="1"/>
          </p:cNvPicPr>
          <p:nvPr/>
        </p:nvPicPr>
        <p:blipFill>
          <a:blip r:embed="rId2"/>
          <a:stretch>
            <a:fillRect/>
          </a:stretch>
        </p:blipFill>
        <p:spPr>
          <a:xfrm>
            <a:off x="3194365" y="2014240"/>
            <a:ext cx="342351" cy="342351"/>
          </a:xfrm>
          <a:prstGeom prst="rect">
            <a:avLst/>
          </a:prstGeom>
        </p:spPr>
      </p:pic>
      <p:sp>
        <p:nvSpPr>
          <p:cNvPr id="12" name="Text 8"/>
          <p:cNvSpPr txBox="1"/>
          <p:nvPr/>
        </p:nvSpPr>
        <p:spPr>
          <a:xfrm>
            <a:off x="3036357" y="2651760"/>
            <a:ext cx="1692189"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Backend</a:t>
            </a:r>
            <a:endParaRPr lang="en-US" sz="2000" dirty="0"/>
          </a:p>
        </p:txBody>
      </p:sp>
      <p:sp>
        <p:nvSpPr>
          <p:cNvPr id="13" name="Text 9"/>
          <p:cNvSpPr txBox="1"/>
          <p:nvPr/>
        </p:nvSpPr>
        <p:spPr>
          <a:xfrm>
            <a:off x="2990637" y="3154680"/>
            <a:ext cx="1737909" cy="19659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Python 3.12</a:t>
            </a:r>
            <a:endParaRPr lang="en-US" sz="1400" dirty="0"/>
          </a:p>
          <a:p>
            <a:pPr marL="152400" indent="-152400">
              <a:spcAft>
                <a:spcPts val="500"/>
              </a:spcAft>
              <a:buSzPct val="100000"/>
              <a:buChar char="•"/>
            </a:pPr>
            <a:r>
              <a:rPr lang="en-US" sz="1400" dirty="0">
                <a:solidFill>
                  <a:schemeClr val="tx1"/>
                </a:solidFill>
              </a:rPr>
              <a:t>FastAPI sobre Uvicorn</a:t>
            </a:r>
            <a:endParaRPr lang="en-US" sz="1400" dirty="0"/>
          </a:p>
          <a:p>
            <a:pPr marL="152400" indent="-152400">
              <a:spcAft>
                <a:spcPts val="500"/>
              </a:spcAft>
              <a:buSzPct val="100000"/>
              <a:buChar char="•"/>
            </a:pPr>
            <a:r>
              <a:rPr lang="en-US" sz="1400" dirty="0">
                <a:solidFill>
                  <a:schemeClr val="tx1"/>
                </a:solidFill>
              </a:rPr>
              <a:t>Pydantic v2</a:t>
            </a:r>
            <a:endParaRPr lang="en-US" sz="1400" dirty="0"/>
          </a:p>
          <a:p>
            <a:pPr marL="152400" indent="-152400">
              <a:spcAft>
                <a:spcPts val="500"/>
              </a:spcAft>
              <a:buSzPct val="100000"/>
              <a:buChar char="•"/>
            </a:pPr>
            <a:r>
              <a:rPr lang="en-US" sz="1400" dirty="0">
                <a:solidFill>
                  <a:schemeClr val="tx1"/>
                </a:solidFill>
              </a:rPr>
              <a:t>SQLAlchemy 2</a:t>
            </a:r>
            <a:endParaRPr lang="en-US" sz="1400" dirty="0"/>
          </a:p>
          <a:p>
            <a:pPr marL="152400" indent="-152400">
              <a:spcAft>
                <a:spcPts val="500"/>
              </a:spcAft>
              <a:buSzPct val="100000"/>
              <a:buChar char="•"/>
            </a:pPr>
            <a:r>
              <a:rPr lang="en-US" sz="1400" dirty="0">
                <a:solidFill>
                  <a:schemeClr val="tx1"/>
                </a:solidFill>
              </a:rPr>
              <a:t>Migraciones con Alembic</a:t>
            </a:r>
            <a:endParaRPr lang="en-US" sz="1400" dirty="0"/>
          </a:p>
        </p:txBody>
      </p:sp>
      <p:sp>
        <p:nvSpPr>
          <p:cNvPr id="14" name="Datos"/>
          <p:cNvSpPr/>
          <p:nvPr/>
        </p:nvSpPr>
        <p:spPr>
          <a:xfrm>
            <a:off x="5066873" y="1600200"/>
            <a:ext cx="2057949" cy="3611880"/>
          </a:xfrm>
          <a:prstGeom prst="roundRect">
            <a:avLst>
              <a:gd name="adj" fmla="val 5332"/>
            </a:avLst>
          </a:prstGeom>
          <a:solidFill>
            <a:schemeClr val="bg1"/>
          </a:solidFill>
          <a:ln w="12700">
            <a:solidFill>
              <a:schemeClr val="bg1"/>
            </a:solidFill>
            <a:prstDash val="solid"/>
          </a:ln>
        </p:spPr>
      </p:sp>
      <p:sp>
        <p:nvSpPr>
          <p:cNvPr id="15" name="Círculo de ícono"/>
          <p:cNvSpPr/>
          <p:nvPr/>
        </p:nvSpPr>
        <p:spPr>
          <a:xfrm>
            <a:off x="5295473" y="1856232"/>
            <a:ext cx="658368" cy="658368"/>
          </a:xfrm>
          <a:prstGeom prst="ellipse">
            <a:avLst/>
          </a:prstGeom>
          <a:solidFill>
            <a:schemeClr val="tx2"/>
          </a:solidFill>
          <a:ln w="12700">
            <a:solidFill>
              <a:schemeClr val="tx2"/>
            </a:solidFill>
            <a:prstDash val="solid"/>
          </a:ln>
        </p:spPr>
      </p:sp>
      <p:pic>
        <p:nvPicPr>
          <p:cNvPr id="16" name="Image 2" descr="Ícono Database">    </p:cNvPr>
          <p:cNvPicPr>
            <a:picLocks noChangeAspect="1"/>
          </p:cNvPicPr>
          <p:nvPr/>
        </p:nvPicPr>
        <p:blipFill>
          <a:blip r:embed="rId3"/>
          <a:stretch>
            <a:fillRect/>
          </a:stretch>
        </p:blipFill>
        <p:spPr>
          <a:xfrm>
            <a:off x="5453482" y="2014240"/>
            <a:ext cx="342351" cy="342351"/>
          </a:xfrm>
          <a:prstGeom prst="rect">
            <a:avLst/>
          </a:prstGeom>
        </p:spPr>
      </p:pic>
      <p:sp>
        <p:nvSpPr>
          <p:cNvPr id="17" name="Text 12"/>
          <p:cNvSpPr txBox="1"/>
          <p:nvPr/>
        </p:nvSpPr>
        <p:spPr>
          <a:xfrm>
            <a:off x="5295473" y="2651760"/>
            <a:ext cx="1692189"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Datos</a:t>
            </a:r>
            <a:endParaRPr lang="en-US" sz="2000" dirty="0"/>
          </a:p>
        </p:txBody>
      </p:sp>
      <p:sp>
        <p:nvSpPr>
          <p:cNvPr id="18" name="Text 13"/>
          <p:cNvSpPr txBox="1"/>
          <p:nvPr/>
        </p:nvSpPr>
        <p:spPr>
          <a:xfrm>
            <a:off x="5249753" y="3154680"/>
            <a:ext cx="1737909" cy="19659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PostgreSQL 16</a:t>
            </a:r>
            <a:endParaRPr lang="en-US" sz="1400" dirty="0"/>
          </a:p>
          <a:p>
            <a:pPr marL="152400" indent="-152400">
              <a:spcAft>
                <a:spcPts val="500"/>
              </a:spcAft>
              <a:buSzPct val="100000"/>
              <a:buChar char="•"/>
            </a:pPr>
            <a:r>
              <a:rPr lang="en-US" sz="1400" dirty="0">
                <a:solidFill>
                  <a:schemeClr val="tx1"/>
                </a:solidFill>
              </a:rPr>
              <a:t>Row Level Security forzado</a:t>
            </a:r>
            <a:endParaRPr lang="en-US" sz="1400" dirty="0"/>
          </a:p>
          <a:p>
            <a:pPr marL="152400" indent="-152400">
              <a:spcAft>
                <a:spcPts val="500"/>
              </a:spcAft>
              <a:buSzPct val="100000"/>
              <a:buChar char="•"/>
            </a:pPr>
            <a:r>
              <a:rPr lang="en-US" sz="1400" dirty="0">
                <a:solidFill>
                  <a:schemeClr val="tx1"/>
                </a:solidFill>
              </a:rPr>
              <a:t>Redis 7</a:t>
            </a:r>
            <a:endParaRPr lang="en-US" sz="1400" dirty="0"/>
          </a:p>
          <a:p>
            <a:pPr marL="152400" indent="-152400">
              <a:spcAft>
                <a:spcPts val="500"/>
              </a:spcAft>
              <a:buSzPct val="100000"/>
              <a:buChar char="•"/>
            </a:pPr>
            <a:r>
              <a:rPr lang="en-US" sz="1400" dirty="0">
                <a:solidFill>
                  <a:schemeClr val="tx1"/>
                </a:solidFill>
              </a:rPr>
              <a:t>Docker Compose</a:t>
            </a:r>
            <a:endParaRPr lang="en-US" sz="1400" dirty="0"/>
          </a:p>
        </p:txBody>
      </p:sp>
      <p:sp>
        <p:nvSpPr>
          <p:cNvPr id="19" name="Pagos"/>
          <p:cNvSpPr/>
          <p:nvPr/>
        </p:nvSpPr>
        <p:spPr>
          <a:xfrm>
            <a:off x="7325990" y="1600200"/>
            <a:ext cx="2057949" cy="3611880"/>
          </a:xfrm>
          <a:prstGeom prst="roundRect">
            <a:avLst>
              <a:gd name="adj" fmla="val 5332"/>
            </a:avLst>
          </a:prstGeom>
          <a:solidFill>
            <a:schemeClr val="bg1"/>
          </a:solidFill>
          <a:ln w="12700">
            <a:solidFill>
              <a:schemeClr val="bg1"/>
            </a:solidFill>
            <a:prstDash val="solid"/>
          </a:ln>
        </p:spPr>
      </p:sp>
      <p:sp>
        <p:nvSpPr>
          <p:cNvPr id="20" name="Círculo de ícono"/>
          <p:cNvSpPr/>
          <p:nvPr/>
        </p:nvSpPr>
        <p:spPr>
          <a:xfrm>
            <a:off x="7554590" y="1856232"/>
            <a:ext cx="658368" cy="658368"/>
          </a:xfrm>
          <a:prstGeom prst="ellipse">
            <a:avLst/>
          </a:prstGeom>
          <a:solidFill>
            <a:schemeClr val="tx2"/>
          </a:solidFill>
          <a:ln w="12700">
            <a:solidFill>
              <a:schemeClr val="tx2"/>
            </a:solidFill>
            <a:prstDash val="solid"/>
          </a:ln>
        </p:spPr>
      </p:sp>
      <p:pic>
        <p:nvPicPr>
          <p:cNvPr id="21" name="Image 3" descr="Ícono CreditCard">    </p:cNvPr>
          <p:cNvPicPr>
            <a:picLocks noChangeAspect="1"/>
          </p:cNvPicPr>
          <p:nvPr/>
        </p:nvPicPr>
        <p:blipFill>
          <a:blip r:embed="rId4"/>
          <a:stretch>
            <a:fillRect/>
          </a:stretch>
        </p:blipFill>
        <p:spPr>
          <a:xfrm>
            <a:off x="7712598" y="2014240"/>
            <a:ext cx="342351" cy="342351"/>
          </a:xfrm>
          <a:prstGeom prst="rect">
            <a:avLst/>
          </a:prstGeom>
        </p:spPr>
      </p:pic>
      <p:sp>
        <p:nvSpPr>
          <p:cNvPr id="22" name="Text 16"/>
          <p:cNvSpPr txBox="1"/>
          <p:nvPr/>
        </p:nvSpPr>
        <p:spPr>
          <a:xfrm>
            <a:off x="7554590" y="2651760"/>
            <a:ext cx="1692189"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Pagos</a:t>
            </a:r>
            <a:endParaRPr lang="en-US" sz="2000" dirty="0"/>
          </a:p>
        </p:txBody>
      </p:sp>
      <p:sp>
        <p:nvSpPr>
          <p:cNvPr id="23" name="Text 17"/>
          <p:cNvSpPr txBox="1"/>
          <p:nvPr/>
        </p:nvSpPr>
        <p:spPr>
          <a:xfrm>
            <a:off x="7508870" y="3154680"/>
            <a:ext cx="1737909" cy="19659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Transbank Webpay Plus</a:t>
            </a:r>
            <a:endParaRPr lang="en-US" sz="1400" dirty="0"/>
          </a:p>
          <a:p>
            <a:pPr marL="152400" indent="-152400">
              <a:spcAft>
                <a:spcPts val="500"/>
              </a:spcAft>
              <a:buSzPct val="100000"/>
              <a:buChar char="•"/>
            </a:pPr>
            <a:r>
              <a:rPr lang="en-US" sz="1400" dirty="0">
                <a:solidFill>
                  <a:schemeClr val="tx1"/>
                </a:solidFill>
              </a:rPr>
              <a:t>Venta normal con un solo cobro (ADR-027)</a:t>
            </a:r>
            <a:endParaRPr lang="en-US" sz="1400" dirty="0"/>
          </a:p>
          <a:p>
            <a:pPr marL="152400" indent="-152400">
              <a:spcAft>
                <a:spcPts val="500"/>
              </a:spcAft>
              <a:buSzPct val="100000"/>
              <a:buChar char="•"/>
            </a:pPr>
            <a:r>
              <a:rPr lang="en-US" sz="1400" dirty="0">
                <a:solidFill>
                  <a:schemeClr val="tx1"/>
                </a:solidFill>
              </a:rPr>
              <a:t>Ambiente de integración</a:t>
            </a:r>
            <a:endParaRPr lang="en-US" sz="1400" dirty="0"/>
          </a:p>
        </p:txBody>
      </p:sp>
      <p:sp>
        <p:nvSpPr>
          <p:cNvPr id="24" name="Desarrollo"/>
          <p:cNvSpPr/>
          <p:nvPr/>
        </p:nvSpPr>
        <p:spPr>
          <a:xfrm>
            <a:off x="9585107" y="1600200"/>
            <a:ext cx="2057949" cy="3611880"/>
          </a:xfrm>
          <a:prstGeom prst="roundRect">
            <a:avLst>
              <a:gd name="adj" fmla="val 5332"/>
            </a:avLst>
          </a:prstGeom>
          <a:solidFill>
            <a:schemeClr val="bg1"/>
          </a:solidFill>
          <a:ln w="12700">
            <a:solidFill>
              <a:schemeClr val="bg1"/>
            </a:solidFill>
            <a:prstDash val="solid"/>
          </a:ln>
        </p:spPr>
      </p:sp>
      <p:sp>
        <p:nvSpPr>
          <p:cNvPr id="25" name="Círculo de ícono"/>
          <p:cNvSpPr/>
          <p:nvPr/>
        </p:nvSpPr>
        <p:spPr>
          <a:xfrm>
            <a:off x="9813707" y="1856232"/>
            <a:ext cx="658368" cy="658368"/>
          </a:xfrm>
          <a:prstGeom prst="ellipse">
            <a:avLst/>
          </a:prstGeom>
          <a:solidFill>
            <a:schemeClr val="tx2"/>
          </a:solidFill>
          <a:ln w="12700">
            <a:solidFill>
              <a:schemeClr val="tx2"/>
            </a:solidFill>
            <a:prstDash val="solid"/>
          </a:ln>
        </p:spPr>
      </p:sp>
      <p:pic>
        <p:nvPicPr>
          <p:cNvPr id="26" name="Image 4" descr="Ícono Wrench">    </p:cNvPr>
          <p:cNvPicPr>
            <a:picLocks noChangeAspect="1"/>
          </p:cNvPicPr>
          <p:nvPr/>
        </p:nvPicPr>
        <p:blipFill>
          <a:blip r:embed="rId5"/>
          <a:stretch>
            <a:fillRect/>
          </a:stretch>
        </p:blipFill>
        <p:spPr>
          <a:xfrm>
            <a:off x="9971715" y="2014240"/>
            <a:ext cx="342351" cy="342351"/>
          </a:xfrm>
          <a:prstGeom prst="rect">
            <a:avLst/>
          </a:prstGeom>
        </p:spPr>
      </p:pic>
      <p:sp>
        <p:nvSpPr>
          <p:cNvPr id="27" name="Text 20"/>
          <p:cNvSpPr txBox="1"/>
          <p:nvPr/>
        </p:nvSpPr>
        <p:spPr>
          <a:xfrm>
            <a:off x="9813707" y="2651760"/>
            <a:ext cx="1692189" cy="41148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Desarrollo</a:t>
            </a:r>
            <a:endParaRPr lang="en-US" sz="2000" dirty="0"/>
          </a:p>
        </p:txBody>
      </p:sp>
      <p:sp>
        <p:nvSpPr>
          <p:cNvPr id="28" name="Text 21"/>
          <p:cNvSpPr txBox="1"/>
          <p:nvPr/>
        </p:nvSpPr>
        <p:spPr>
          <a:xfrm>
            <a:off x="9767987" y="3154680"/>
            <a:ext cx="1737909" cy="1965960"/>
          </a:xfrm>
          <a:prstGeom prst="rect">
            <a:avLst/>
          </a:prstGeom>
          <a:noFill/>
          <a:ln/>
        </p:spPr>
        <p:txBody>
          <a:bodyPr wrap="square" lIns="0" tIns="0" rIns="0" bIns="0" rtlCol="0" anchor="t"/>
          <a:lstStyle/>
          <a:p>
            <a:pPr marL="152400" indent="-152400">
              <a:spcAft>
                <a:spcPts val="500"/>
              </a:spcAft>
              <a:buSzPct val="100000"/>
              <a:buChar char="•"/>
            </a:pPr>
            <a:r>
              <a:rPr lang="en-US" sz="1400" dirty="0">
                <a:solidFill>
                  <a:schemeClr val="tx1"/>
                </a:solidFill>
              </a:rPr>
              <a:t>GitHub y GitHub Actions</a:t>
            </a:r>
            <a:endParaRPr lang="en-US" sz="1400" dirty="0"/>
          </a:p>
          <a:p>
            <a:pPr marL="152400" indent="-152400">
              <a:spcAft>
                <a:spcPts val="500"/>
              </a:spcAft>
              <a:buSzPct val="100000"/>
              <a:buChar char="•"/>
            </a:pPr>
            <a:r>
              <a:rPr lang="en-US" sz="1400" dirty="0">
                <a:solidFill>
                  <a:schemeClr val="tx1"/>
                </a:solidFill>
              </a:rPr>
              <a:t>Trello para Scrum</a:t>
            </a:r>
            <a:endParaRPr lang="en-US" sz="1400" dirty="0"/>
          </a:p>
          <a:p>
            <a:pPr marL="152400" indent="-152400">
              <a:spcAft>
                <a:spcPts val="500"/>
              </a:spcAft>
              <a:buSzPct val="100000"/>
              <a:buChar char="•"/>
            </a:pPr>
            <a:r>
              <a:rPr lang="en-US" sz="1400" dirty="0">
                <a:solidFill>
                  <a:schemeClr val="tx1"/>
                </a:solidFill>
              </a:rPr>
              <a:t>Claude Code con 6 agentes</a:t>
            </a:r>
            <a:endParaRPr lang="en-US" sz="1400" dirty="0"/>
          </a:p>
          <a:p>
            <a:pPr marL="152400" indent="-152400">
              <a:spcAft>
                <a:spcPts val="500"/>
              </a:spcAft>
              <a:buSzPct val="100000"/>
              <a:buChar char="•"/>
            </a:pPr>
            <a:r>
              <a:rPr lang="en-US" sz="1400" dirty="0">
                <a:solidFill>
                  <a:schemeClr val="tx1"/>
                </a:solidFill>
              </a:rPr>
              <a:t>Obsidian como vault</a:t>
            </a:r>
            <a:endParaRPr lang="en-US" sz="1400" dirty="0"/>
          </a:p>
        </p:txBody>
      </p:sp>
      <p:sp>
        <p:nvSpPr>
          <p:cNvPr id="29" name="Pipeline"/>
          <p:cNvSpPr/>
          <p:nvPr/>
        </p:nvSpPr>
        <p:spPr>
          <a:xfrm>
            <a:off x="548640" y="5440680"/>
            <a:ext cx="11094415" cy="685800"/>
          </a:xfrm>
          <a:prstGeom prst="roundRect">
            <a:avLst>
              <a:gd name="adj" fmla="val 16000"/>
            </a:avLst>
          </a:prstGeom>
          <a:solidFill>
            <a:schemeClr val="bg1"/>
          </a:solidFill>
          <a:ln w="12700">
            <a:solidFill>
              <a:schemeClr val="bg1"/>
            </a:solidFill>
            <a:prstDash val="solid"/>
          </a:ln>
        </p:spPr>
      </p:sp>
      <p:sp>
        <p:nvSpPr>
          <p:cNvPr id="30" name="Círculo de ícono"/>
          <p:cNvSpPr/>
          <p:nvPr/>
        </p:nvSpPr>
        <p:spPr>
          <a:xfrm>
            <a:off x="731520" y="5532120"/>
            <a:ext cx="502920" cy="502920"/>
          </a:xfrm>
          <a:prstGeom prst="ellipse">
            <a:avLst/>
          </a:prstGeom>
          <a:solidFill>
            <a:schemeClr val="accent1"/>
          </a:solidFill>
          <a:ln w="12700">
            <a:solidFill>
              <a:schemeClr val="accent1"/>
            </a:solidFill>
            <a:prstDash val="solid"/>
          </a:ln>
        </p:spPr>
      </p:sp>
      <p:pic>
        <p:nvPicPr>
          <p:cNvPr id="31" name="Image 5" descr="Ícono Workflow">    </p:cNvPr>
          <p:cNvPicPr>
            <a:picLocks noChangeAspect="1"/>
          </p:cNvPicPr>
          <p:nvPr/>
        </p:nvPicPr>
        <p:blipFill>
          <a:blip r:embed="rId6"/>
          <a:stretch>
            <a:fillRect/>
          </a:stretch>
        </p:blipFill>
        <p:spPr>
          <a:xfrm>
            <a:off x="852221" y="5652821"/>
            <a:ext cx="261518" cy="261518"/>
          </a:xfrm>
          <a:prstGeom prst="rect">
            <a:avLst/>
          </a:prstGeom>
        </p:spPr>
      </p:pic>
      <p:sp>
        <p:nvSpPr>
          <p:cNvPr id="32" name="Text 24"/>
          <p:cNvSpPr txBox="1"/>
          <p:nvPr/>
        </p:nvSpPr>
        <p:spPr>
          <a:xfrm>
            <a:off x="1417320" y="5440680"/>
            <a:ext cx="10058400" cy="685800"/>
          </a:xfrm>
          <a:prstGeom prst="rect">
            <a:avLst/>
          </a:prstGeom>
          <a:noFill/>
          <a:ln/>
        </p:spPr>
        <p:txBody>
          <a:bodyPr wrap="square" lIns="0" tIns="0" rIns="0" bIns="0" rtlCol="0" anchor="ctr"/>
          <a:lstStyle/>
          <a:p>
            <a:pPr indent="0" marL="0">
              <a:buNone/>
            </a:pPr>
            <a:r>
              <a:rPr lang="en-US" sz="1500" b="1" dirty="0">
                <a:solidFill>
                  <a:schemeClr val="tx1"/>
                </a:solidFill>
              </a:rPr>
              <a:t>CI en cada push:  </a:t>
            </a:r>
            <a:pPr indent="0" marL="0">
              <a:buNone/>
            </a:pPr>
            <a:r>
              <a:rPr lang="en-US" sz="1500" dirty="0">
                <a:solidFill>
                  <a:schemeClr val="tx1"/>
                </a:solidFill>
                <a:latin typeface="Calibri" pitchFamily="34" charset="0"/>
                <a:ea typeface="Calibri" pitchFamily="34" charset="-122"/>
                <a:cs typeface="Calibri" pitchFamily="34" charset="-120"/>
              </a:rPr>
              <a:t>ruff · mypy · detect-secrets · alembic upgrade, downgrade y upgrade · pytest con las pruebas de aislamiento y de arquitectura</a:t>
            </a:r>
            <a:endParaRPr lang="en-US" sz="15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ARQUITECTURA DE LA APLICACIÓN</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Un monolito modular, con las dependencias hacia abajo</a:t>
            </a:r>
            <a:endParaRPr lang="en-US" sz="3200" dirty="0"/>
          </a:p>
        </p:txBody>
      </p:sp>
      <p:sp>
        <p:nvSpPr>
          <p:cNvPr id="4" name="App de la familia"/>
          <p:cNvSpPr/>
          <p:nvPr/>
        </p:nvSpPr>
        <p:spPr>
          <a:xfrm>
            <a:off x="548640" y="1554480"/>
            <a:ext cx="1748790" cy="731520"/>
          </a:xfrm>
          <a:prstGeom prst="roundRect">
            <a:avLst>
              <a:gd name="adj" fmla="val 15000"/>
            </a:avLst>
          </a:prstGeom>
          <a:solidFill>
            <a:schemeClr val="bg1"/>
          </a:solidFill>
          <a:ln w="12700">
            <a:solidFill>
              <a:schemeClr val="bg1"/>
            </a:solidFill>
            <a:prstDash val="solid"/>
          </a:ln>
        </p:spPr>
      </p:sp>
      <p:pic>
        <p:nvPicPr>
          <p:cNvPr id="5" name="Image 0" descr="App de la familia">    </p:cNvPr>
          <p:cNvPicPr>
            <a:picLocks noChangeAspect="1"/>
          </p:cNvPicPr>
          <p:nvPr/>
        </p:nvPicPr>
        <p:blipFill>
          <a:blip r:embed="rId1"/>
          <a:stretch>
            <a:fillRect/>
          </a:stretch>
        </p:blipFill>
        <p:spPr>
          <a:xfrm>
            <a:off x="685800" y="1755648"/>
            <a:ext cx="329184" cy="329184"/>
          </a:xfrm>
          <a:prstGeom prst="rect">
            <a:avLst/>
          </a:prstGeom>
        </p:spPr>
      </p:pic>
      <p:sp>
        <p:nvSpPr>
          <p:cNvPr id="6" name="Text 3"/>
          <p:cNvSpPr txBox="1"/>
          <p:nvPr/>
        </p:nvSpPr>
        <p:spPr>
          <a:xfrm>
            <a:off x="1097280" y="1627632"/>
            <a:ext cx="1108710" cy="585216"/>
          </a:xfrm>
          <a:prstGeom prst="rect">
            <a:avLst/>
          </a:prstGeom>
          <a:noFill/>
          <a:ln/>
        </p:spPr>
        <p:txBody>
          <a:bodyPr wrap="square" lIns="0" tIns="0" rIns="0" bIns="0" rtlCol="0" anchor="ctr"/>
          <a:lstStyle/>
          <a:p>
            <a:pPr indent="0" marL="0">
              <a:buNone/>
            </a:pPr>
            <a:r>
              <a:rPr lang="en-US" sz="1400" b="1" dirty="0">
                <a:solidFill>
                  <a:schemeClr val="tx1"/>
                </a:solidFill>
              </a:rPr>
              <a:t>App de la familia</a:t>
            </a:r>
            <a:endParaRPr lang="en-US" sz="1400" dirty="0"/>
          </a:p>
        </p:txBody>
      </p:sp>
      <p:sp>
        <p:nvSpPr>
          <p:cNvPr id="7" name="Página del relevo"/>
          <p:cNvSpPr/>
          <p:nvPr/>
        </p:nvSpPr>
        <p:spPr>
          <a:xfrm>
            <a:off x="2480310" y="1554480"/>
            <a:ext cx="1748790" cy="731520"/>
          </a:xfrm>
          <a:prstGeom prst="roundRect">
            <a:avLst>
              <a:gd name="adj" fmla="val 15000"/>
            </a:avLst>
          </a:prstGeom>
          <a:solidFill>
            <a:schemeClr val="bg1"/>
          </a:solidFill>
          <a:ln w="12700">
            <a:solidFill>
              <a:schemeClr val="bg1"/>
            </a:solidFill>
            <a:prstDash val="solid"/>
          </a:ln>
        </p:spPr>
      </p:sp>
      <p:pic>
        <p:nvPicPr>
          <p:cNvPr id="8" name="Image 1" descr="Página del relevo">    </p:cNvPr>
          <p:cNvPicPr>
            <a:picLocks noChangeAspect="1"/>
          </p:cNvPicPr>
          <p:nvPr/>
        </p:nvPicPr>
        <p:blipFill>
          <a:blip r:embed="rId2"/>
          <a:stretch>
            <a:fillRect/>
          </a:stretch>
        </p:blipFill>
        <p:spPr>
          <a:xfrm>
            <a:off x="2617470" y="1755648"/>
            <a:ext cx="329184" cy="329184"/>
          </a:xfrm>
          <a:prstGeom prst="rect">
            <a:avLst/>
          </a:prstGeom>
        </p:spPr>
      </p:pic>
      <p:sp>
        <p:nvSpPr>
          <p:cNvPr id="9" name="Text 5"/>
          <p:cNvSpPr txBox="1"/>
          <p:nvPr/>
        </p:nvSpPr>
        <p:spPr>
          <a:xfrm>
            <a:off x="3028950" y="1627632"/>
            <a:ext cx="1108710" cy="585216"/>
          </a:xfrm>
          <a:prstGeom prst="rect">
            <a:avLst/>
          </a:prstGeom>
          <a:noFill/>
          <a:ln/>
        </p:spPr>
        <p:txBody>
          <a:bodyPr wrap="square" lIns="0" tIns="0" rIns="0" bIns="0" rtlCol="0" anchor="ctr"/>
          <a:lstStyle/>
          <a:p>
            <a:pPr indent="0" marL="0">
              <a:buNone/>
            </a:pPr>
            <a:r>
              <a:rPr lang="en-US" sz="1400" b="1" dirty="0">
                <a:solidFill>
                  <a:schemeClr val="tx1"/>
                </a:solidFill>
              </a:rPr>
              <a:t>Página del relevo</a:t>
            </a:r>
            <a:endParaRPr lang="en-US" sz="1400" dirty="0"/>
          </a:p>
        </p:txBody>
      </p:sp>
      <p:sp>
        <p:nvSpPr>
          <p:cNvPr id="10" name="Vista de comercio"/>
          <p:cNvSpPr/>
          <p:nvPr/>
        </p:nvSpPr>
        <p:spPr>
          <a:xfrm>
            <a:off x="4411980" y="1554480"/>
            <a:ext cx="1748790" cy="731520"/>
          </a:xfrm>
          <a:prstGeom prst="roundRect">
            <a:avLst>
              <a:gd name="adj" fmla="val 15000"/>
            </a:avLst>
          </a:prstGeom>
          <a:solidFill>
            <a:schemeClr val="bg1"/>
          </a:solidFill>
          <a:ln w="12700">
            <a:solidFill>
              <a:schemeClr val="bg1"/>
            </a:solidFill>
            <a:prstDash val="solid"/>
          </a:ln>
        </p:spPr>
      </p:sp>
      <p:pic>
        <p:nvPicPr>
          <p:cNvPr id="11" name="Image 2" descr="Vista de comercio">    </p:cNvPr>
          <p:cNvPicPr>
            <a:picLocks noChangeAspect="1"/>
          </p:cNvPicPr>
          <p:nvPr/>
        </p:nvPicPr>
        <p:blipFill>
          <a:blip r:embed="rId3"/>
          <a:stretch>
            <a:fillRect/>
          </a:stretch>
        </p:blipFill>
        <p:spPr>
          <a:xfrm>
            <a:off x="4549140" y="1755648"/>
            <a:ext cx="329184" cy="329184"/>
          </a:xfrm>
          <a:prstGeom prst="rect">
            <a:avLst/>
          </a:prstGeom>
        </p:spPr>
      </p:pic>
      <p:sp>
        <p:nvSpPr>
          <p:cNvPr id="12" name="Text 7"/>
          <p:cNvSpPr txBox="1"/>
          <p:nvPr/>
        </p:nvSpPr>
        <p:spPr>
          <a:xfrm>
            <a:off x="4960620" y="1627632"/>
            <a:ext cx="1108710" cy="585216"/>
          </a:xfrm>
          <a:prstGeom prst="rect">
            <a:avLst/>
          </a:prstGeom>
          <a:noFill/>
          <a:ln/>
        </p:spPr>
        <p:txBody>
          <a:bodyPr wrap="square" lIns="0" tIns="0" rIns="0" bIns="0" rtlCol="0" anchor="ctr"/>
          <a:lstStyle/>
          <a:p>
            <a:pPr indent="0" marL="0">
              <a:buNone/>
            </a:pPr>
            <a:r>
              <a:rPr lang="en-US" sz="1400" b="1" dirty="0">
                <a:solidFill>
                  <a:schemeClr val="tx1"/>
                </a:solidFill>
              </a:rPr>
              <a:t>Vista de comercio</a:t>
            </a:r>
            <a:endParaRPr lang="en-US" sz="1400" dirty="0"/>
          </a:p>
        </p:txBody>
      </p:sp>
      <p:sp>
        <p:nvSpPr>
          <p:cNvPr id="13" name="Backoffice"/>
          <p:cNvSpPr/>
          <p:nvPr/>
        </p:nvSpPr>
        <p:spPr>
          <a:xfrm>
            <a:off x="6343650" y="1554480"/>
            <a:ext cx="1748790" cy="731520"/>
          </a:xfrm>
          <a:prstGeom prst="roundRect">
            <a:avLst>
              <a:gd name="adj" fmla="val 15000"/>
            </a:avLst>
          </a:prstGeom>
          <a:solidFill>
            <a:schemeClr val="bg1"/>
          </a:solidFill>
          <a:ln w="12700">
            <a:solidFill>
              <a:schemeClr val="bg1"/>
            </a:solidFill>
            <a:prstDash val="solid"/>
          </a:ln>
        </p:spPr>
      </p:sp>
      <p:pic>
        <p:nvPicPr>
          <p:cNvPr id="14" name="Image 3" descr="Backoffice">    </p:cNvPr>
          <p:cNvPicPr>
            <a:picLocks noChangeAspect="1"/>
          </p:cNvPicPr>
          <p:nvPr/>
        </p:nvPicPr>
        <p:blipFill>
          <a:blip r:embed="rId4"/>
          <a:stretch>
            <a:fillRect/>
          </a:stretch>
        </p:blipFill>
        <p:spPr>
          <a:xfrm>
            <a:off x="6480810" y="1755648"/>
            <a:ext cx="329184" cy="329184"/>
          </a:xfrm>
          <a:prstGeom prst="rect">
            <a:avLst/>
          </a:prstGeom>
        </p:spPr>
      </p:pic>
      <p:sp>
        <p:nvSpPr>
          <p:cNvPr id="15" name="Text 9"/>
          <p:cNvSpPr txBox="1"/>
          <p:nvPr/>
        </p:nvSpPr>
        <p:spPr>
          <a:xfrm>
            <a:off x="6892290" y="1627632"/>
            <a:ext cx="1108710" cy="585216"/>
          </a:xfrm>
          <a:prstGeom prst="rect">
            <a:avLst/>
          </a:prstGeom>
          <a:noFill/>
          <a:ln/>
        </p:spPr>
        <p:txBody>
          <a:bodyPr wrap="square" lIns="0" tIns="0" rIns="0" bIns="0" rtlCol="0" anchor="ctr"/>
          <a:lstStyle/>
          <a:p>
            <a:pPr indent="0" marL="0">
              <a:buNone/>
            </a:pPr>
            <a:r>
              <a:rPr lang="en-US" sz="1400" b="1" dirty="0">
                <a:solidFill>
                  <a:schemeClr val="tx1"/>
                </a:solidFill>
              </a:rPr>
              <a:t>Backoffice</a:t>
            </a:r>
            <a:endParaRPr lang="en-US" sz="1400" dirty="0"/>
          </a:p>
        </p:txBody>
      </p:sp>
      <p:sp>
        <p:nvSpPr>
          <p:cNvPr id="16" name="Conector"/>
          <p:cNvSpPr/>
          <p:nvPr/>
        </p:nvSpPr>
        <p:spPr>
          <a:xfrm>
            <a:off x="4320540" y="2331720"/>
            <a:ext cx="914" cy="274320"/>
          </a:xfrm>
          <a:prstGeom prst="line">
            <a:avLst/>
          </a:prstGeom>
          <a:noFill/>
          <a:ln w="25400">
            <a:solidFill>
              <a:schemeClr val="tx2"/>
            </a:solidFill>
            <a:prstDash val="solid"/>
            <a:tailEnd type="triangle"/>
          </a:ln>
        </p:spPr>
      </p:sp>
      <p:sp>
        <p:nvSpPr>
          <p:cNvPr id="17" name="Text 11"/>
          <p:cNvSpPr txBox="1"/>
          <p:nvPr/>
        </p:nvSpPr>
        <p:spPr>
          <a:xfrm>
            <a:off x="4430268" y="2331720"/>
            <a:ext cx="2286000" cy="274320"/>
          </a:xfrm>
          <a:prstGeom prst="rect">
            <a:avLst/>
          </a:prstGeom>
          <a:noFill/>
          <a:ln/>
        </p:spPr>
        <p:txBody>
          <a:bodyPr wrap="square" lIns="0" tIns="0" rIns="0" bIns="0" rtlCol="0" anchor="ctr"/>
          <a:lstStyle/>
          <a:p>
            <a:pPr indent="0" marL="0">
              <a:buNone/>
            </a:pPr>
            <a:r>
              <a:rPr lang="en-US" sz="1100" dirty="0">
                <a:solidFill>
                  <a:schemeClr val="accent3"/>
                </a:solidFill>
              </a:rPr>
              <a:t>HTTPS · mismo origen</a:t>
            </a:r>
            <a:endParaRPr lang="en-US" sz="1100" dirty="0"/>
          </a:p>
        </p:txBody>
      </p:sp>
      <p:sp>
        <p:nvSpPr>
          <p:cNvPr id="18" name="API MATU"/>
          <p:cNvSpPr/>
          <p:nvPr/>
        </p:nvSpPr>
        <p:spPr>
          <a:xfrm>
            <a:off x="548640" y="2651760"/>
            <a:ext cx="7543800" cy="2194560"/>
          </a:xfrm>
          <a:prstGeom prst="roundRect">
            <a:avLst>
              <a:gd name="adj" fmla="val 5000"/>
            </a:avLst>
          </a:prstGeom>
          <a:solidFill>
            <a:schemeClr val="accent4"/>
          </a:solidFill>
          <a:ln w="12700">
            <a:solidFill>
              <a:schemeClr val="accent4"/>
            </a:solidFill>
            <a:prstDash val="solid"/>
          </a:ln>
        </p:spPr>
      </p:sp>
      <p:sp>
        <p:nvSpPr>
          <p:cNvPr id="19" name="Text 13"/>
          <p:cNvSpPr txBox="1"/>
          <p:nvPr/>
        </p:nvSpPr>
        <p:spPr>
          <a:xfrm>
            <a:off x="777240" y="2743200"/>
            <a:ext cx="7086600" cy="365760"/>
          </a:xfrm>
          <a:prstGeom prst="rect">
            <a:avLst/>
          </a:prstGeom>
          <a:noFill/>
          <a:ln/>
        </p:spPr>
        <p:txBody>
          <a:bodyPr wrap="square" lIns="0" tIns="0" rIns="0" bIns="0" rtlCol="0" anchor="ctr"/>
          <a:lstStyle/>
          <a:p>
            <a:pPr indent="0" marL="0">
              <a:buNone/>
            </a:pPr>
            <a:r>
              <a:rPr lang="en-US" sz="1500" b="1" dirty="0">
                <a:solidFill>
                  <a:schemeClr val="tx1"/>
                </a:solidFill>
              </a:rPr>
              <a:t>API MATU</a:t>
            </a:r>
            <a:pPr indent="0" marL="0">
              <a:buNone/>
            </a:pPr>
            <a:r>
              <a:rPr lang="en-US" sz="1500" dirty="0">
                <a:solidFill>
                  <a:schemeClr val="accent3"/>
                </a:solidFill>
              </a:rPr>
              <a:t>  ·  FastAPI · un solo proceso con módulos de límite explícito</a:t>
            </a:r>
            <a:endParaRPr lang="en-US" sz="1500" dirty="0"/>
          </a:p>
        </p:txBody>
      </p:sp>
      <p:sp>
        <p:nvSpPr>
          <p:cNvPr id="20" name="Capa 1 · el producto"/>
          <p:cNvSpPr/>
          <p:nvPr/>
        </p:nvSpPr>
        <p:spPr>
          <a:xfrm>
            <a:off x="777240" y="3154680"/>
            <a:ext cx="2240280" cy="960120"/>
          </a:xfrm>
          <a:prstGeom prst="roundRect">
            <a:avLst>
              <a:gd name="adj" fmla="val 11429"/>
            </a:avLst>
          </a:prstGeom>
          <a:solidFill>
            <a:schemeClr val="bg1"/>
          </a:solidFill>
          <a:ln w="12700">
            <a:solidFill>
              <a:schemeClr val="bg1"/>
            </a:solidFill>
            <a:prstDash val="solid"/>
          </a:ln>
        </p:spPr>
      </p:sp>
      <p:sp>
        <p:nvSpPr>
          <p:cNvPr id="21" name="Text 15"/>
          <p:cNvSpPr txBox="1"/>
          <p:nvPr/>
        </p:nvSpPr>
        <p:spPr>
          <a:xfrm>
            <a:off x="914400" y="3246120"/>
            <a:ext cx="1965960" cy="320040"/>
          </a:xfrm>
          <a:prstGeom prst="rect">
            <a:avLst/>
          </a:prstGeom>
          <a:noFill/>
          <a:ln/>
        </p:spPr>
        <p:txBody>
          <a:bodyPr wrap="square" lIns="0" tIns="0" rIns="0" bIns="0" rtlCol="0" anchor="t"/>
          <a:lstStyle/>
          <a:p>
            <a:pPr indent="0" marL="0">
              <a:buNone/>
            </a:pPr>
            <a:r>
              <a:rPr lang="en-US" sz="1400" b="1" dirty="0">
                <a:solidFill>
                  <a:schemeClr val="tx2"/>
                </a:solidFill>
              </a:rPr>
              <a:t>Capa 1 · el producto</a:t>
            </a:r>
            <a:endParaRPr lang="en-US" sz="1400" dirty="0"/>
          </a:p>
        </p:txBody>
      </p:sp>
      <p:sp>
        <p:nvSpPr>
          <p:cNvPr id="22" name="Text 16"/>
          <p:cNvSpPr txBox="1"/>
          <p:nvPr/>
        </p:nvSpPr>
        <p:spPr>
          <a:xfrm>
            <a:off x="914400" y="3566160"/>
            <a:ext cx="1965960" cy="502920"/>
          </a:xfrm>
          <a:prstGeom prst="rect">
            <a:avLst/>
          </a:prstGeom>
          <a:noFill/>
          <a:ln/>
        </p:spPr>
        <p:txBody>
          <a:bodyPr wrap="square" lIns="0" tIns="0" rIns="0" bIns="0" rtlCol="0" anchor="t"/>
          <a:lstStyle/>
          <a:p>
            <a:pPr indent="0" marL="0">
              <a:buNone/>
            </a:pPr>
            <a:r>
              <a:rPr lang="en-US" sz="1400" dirty="0">
                <a:solidFill>
                  <a:schemeClr val="tx1"/>
                </a:solidFill>
              </a:rPr>
              <a:t>care_plan</a:t>
            </a:r>
            <a:endParaRPr lang="en-US" sz="1400" dirty="0"/>
          </a:p>
        </p:txBody>
      </p:sp>
      <p:sp>
        <p:nvSpPr>
          <p:cNvPr id="23" name="Capa 2 · el diferenciador"/>
          <p:cNvSpPr/>
          <p:nvPr/>
        </p:nvSpPr>
        <p:spPr>
          <a:xfrm>
            <a:off x="3200400" y="3154680"/>
            <a:ext cx="2240280" cy="960120"/>
          </a:xfrm>
          <a:prstGeom prst="roundRect">
            <a:avLst>
              <a:gd name="adj" fmla="val 11429"/>
            </a:avLst>
          </a:prstGeom>
          <a:solidFill>
            <a:schemeClr val="bg1"/>
          </a:solidFill>
          <a:ln w="12700">
            <a:solidFill>
              <a:schemeClr val="bg1"/>
            </a:solidFill>
            <a:prstDash val="solid"/>
          </a:ln>
        </p:spPr>
      </p:sp>
      <p:sp>
        <p:nvSpPr>
          <p:cNvPr id="24" name="Text 18"/>
          <p:cNvSpPr txBox="1"/>
          <p:nvPr/>
        </p:nvSpPr>
        <p:spPr>
          <a:xfrm>
            <a:off x="3337560" y="3246120"/>
            <a:ext cx="1965960" cy="320040"/>
          </a:xfrm>
          <a:prstGeom prst="rect">
            <a:avLst/>
          </a:prstGeom>
          <a:noFill/>
          <a:ln/>
        </p:spPr>
        <p:txBody>
          <a:bodyPr wrap="square" lIns="0" tIns="0" rIns="0" bIns="0" rtlCol="0" anchor="t"/>
          <a:lstStyle/>
          <a:p>
            <a:pPr indent="0" marL="0">
              <a:buNone/>
            </a:pPr>
            <a:r>
              <a:rPr lang="en-US" sz="1400" b="1" dirty="0">
                <a:solidFill>
                  <a:schemeClr val="tx2"/>
                </a:solidFill>
              </a:rPr>
              <a:t>Capa 2 · el diferenciador</a:t>
            </a:r>
            <a:endParaRPr lang="en-US" sz="1400" dirty="0"/>
          </a:p>
        </p:txBody>
      </p:sp>
      <p:sp>
        <p:nvSpPr>
          <p:cNvPr id="25" name="Text 19"/>
          <p:cNvSpPr txBox="1"/>
          <p:nvPr/>
        </p:nvSpPr>
        <p:spPr>
          <a:xfrm>
            <a:off x="3337560" y="3566160"/>
            <a:ext cx="1965960" cy="502920"/>
          </a:xfrm>
          <a:prstGeom prst="rect">
            <a:avLst/>
          </a:prstGeom>
          <a:noFill/>
          <a:ln/>
        </p:spPr>
        <p:txBody>
          <a:bodyPr wrap="square" lIns="0" tIns="0" rIns="0" bIns="0" rtlCol="0" anchor="t"/>
          <a:lstStyle/>
          <a:p>
            <a:pPr indent="0" marL="0">
              <a:buNone/>
            </a:pPr>
            <a:r>
              <a:rPr lang="en-US" sz="1400" dirty="0">
                <a:solidFill>
                  <a:schemeClr val="tx1"/>
                </a:solidFill>
              </a:rPr>
              <a:t>consumption</a:t>
            </a:r>
            <a:endParaRPr lang="en-US" sz="1400" dirty="0"/>
          </a:p>
        </p:txBody>
      </p:sp>
      <p:sp>
        <p:nvSpPr>
          <p:cNvPr id="26" name="Capa 3 · se puede quitar"/>
          <p:cNvSpPr/>
          <p:nvPr/>
        </p:nvSpPr>
        <p:spPr>
          <a:xfrm>
            <a:off x="5623560" y="3154680"/>
            <a:ext cx="2240280" cy="960120"/>
          </a:xfrm>
          <a:prstGeom prst="roundRect">
            <a:avLst>
              <a:gd name="adj" fmla="val 11429"/>
            </a:avLst>
          </a:prstGeom>
          <a:solidFill>
            <a:schemeClr val="bg1"/>
          </a:solidFill>
          <a:ln w="15875">
            <a:solidFill>
              <a:schemeClr val="accent3"/>
            </a:solidFill>
            <a:prstDash val="dash"/>
          </a:ln>
        </p:spPr>
      </p:sp>
      <p:sp>
        <p:nvSpPr>
          <p:cNvPr id="27" name="Text 21"/>
          <p:cNvSpPr txBox="1"/>
          <p:nvPr/>
        </p:nvSpPr>
        <p:spPr>
          <a:xfrm>
            <a:off x="5760720" y="3246120"/>
            <a:ext cx="1965960" cy="320040"/>
          </a:xfrm>
          <a:prstGeom prst="rect">
            <a:avLst/>
          </a:prstGeom>
          <a:noFill/>
          <a:ln/>
        </p:spPr>
        <p:txBody>
          <a:bodyPr wrap="square" lIns="0" tIns="0" rIns="0" bIns="0" rtlCol="0" anchor="t"/>
          <a:lstStyle/>
          <a:p>
            <a:pPr indent="0" marL="0">
              <a:buNone/>
            </a:pPr>
            <a:r>
              <a:rPr lang="en-US" sz="1400" b="1" dirty="0">
                <a:solidFill>
                  <a:schemeClr val="accent3"/>
                </a:solidFill>
              </a:rPr>
              <a:t>Capa 3 · se puede quitar</a:t>
            </a:r>
            <a:endParaRPr lang="en-US" sz="1400" dirty="0"/>
          </a:p>
        </p:txBody>
      </p:sp>
      <p:sp>
        <p:nvSpPr>
          <p:cNvPr id="28" name="Text 22"/>
          <p:cNvSpPr txBox="1"/>
          <p:nvPr/>
        </p:nvSpPr>
        <p:spPr>
          <a:xfrm>
            <a:off x="5760720" y="3566160"/>
            <a:ext cx="1965960" cy="502920"/>
          </a:xfrm>
          <a:prstGeom prst="rect">
            <a:avLst/>
          </a:prstGeom>
          <a:noFill/>
          <a:ln/>
        </p:spPr>
        <p:txBody>
          <a:bodyPr wrap="square" lIns="0" tIns="0" rIns="0" bIns="0" rtlCol="0" anchor="t"/>
          <a:lstStyle/>
          <a:p>
            <a:pPr indent="0" marL="0">
              <a:buNone/>
            </a:pPr>
            <a:r>
              <a:rPr lang="en-US" sz="1400" dirty="0">
                <a:solidFill>
                  <a:schemeClr val="tx1"/>
                </a:solidFill>
              </a:rPr>
              <a:t>catalog · ordering · payments · fulfillment</a:t>
            </a:r>
            <a:endParaRPr lang="en-US" sz="1400" dirty="0"/>
          </a:p>
        </p:txBody>
      </p:sp>
      <p:sp>
        <p:nvSpPr>
          <p:cNvPr id="29" name="Etiqueta"/>
          <p:cNvSpPr txBox="1"/>
          <p:nvPr/>
        </p:nvSpPr>
        <p:spPr>
          <a:xfrm>
            <a:off x="777240" y="4251960"/>
            <a:ext cx="7086600" cy="384048"/>
          </a:xfrm>
          <a:prstGeom prst="roundRect">
            <a:avLst>
              <a:gd name="adj" fmla="val 23810"/>
            </a:avLst>
          </a:prstGeom>
          <a:solidFill>
            <a:schemeClr val="bg1"/>
          </a:solidFill>
          <a:ln>
            <a:solidFill>
              <a:schemeClr val="bg1"/>
            </a:solidFill>
          </a:ln>
        </p:spPr>
        <p:txBody>
          <a:bodyPr wrap="square" lIns="0" tIns="0" rIns="0" bIns="0" rtlCol="0" anchor="ctr"/>
          <a:lstStyle/>
          <a:p>
            <a:pPr algn="ctr" indent="0" marL="0">
              <a:buNone/>
            </a:pPr>
            <a:r>
              <a:rPr lang="en-US" sz="1300" dirty="0">
                <a:solidFill>
                  <a:schemeClr val="tx1"/>
                </a:solidFill>
              </a:rPr>
              <a:t>Transversales: iam · care_circle · notifications · shared</a:t>
            </a:r>
            <a:endParaRPr lang="en-US" sz="1300" dirty="0"/>
          </a:p>
        </p:txBody>
      </p:sp>
      <p:sp>
        <p:nvSpPr>
          <p:cNvPr id="30" name="Conector"/>
          <p:cNvSpPr/>
          <p:nvPr/>
        </p:nvSpPr>
        <p:spPr>
          <a:xfrm>
            <a:off x="4320540" y="4892040"/>
            <a:ext cx="914" cy="411480"/>
          </a:xfrm>
          <a:prstGeom prst="line">
            <a:avLst/>
          </a:prstGeom>
          <a:noFill/>
          <a:ln w="25400">
            <a:solidFill>
              <a:schemeClr val="tx2"/>
            </a:solidFill>
            <a:prstDash val="solid"/>
            <a:tailEnd type="triangle"/>
          </a:ln>
        </p:spPr>
      </p:sp>
      <p:sp>
        <p:nvSpPr>
          <p:cNvPr id="31" name="PostgreSQL 16"/>
          <p:cNvSpPr/>
          <p:nvPr/>
        </p:nvSpPr>
        <p:spPr>
          <a:xfrm>
            <a:off x="548640" y="5349240"/>
            <a:ext cx="1748790" cy="777240"/>
          </a:xfrm>
          <a:prstGeom prst="roundRect">
            <a:avLst>
              <a:gd name="adj" fmla="val 14118"/>
            </a:avLst>
          </a:prstGeom>
          <a:solidFill>
            <a:schemeClr val="bg1"/>
          </a:solidFill>
          <a:ln w="12700">
            <a:solidFill>
              <a:schemeClr val="bg1"/>
            </a:solidFill>
            <a:prstDash val="solid"/>
          </a:ln>
        </p:spPr>
      </p:sp>
      <p:pic>
        <p:nvPicPr>
          <p:cNvPr id="32" name="Image 4" descr="PostgreSQL 16">    </p:cNvPr>
          <p:cNvPicPr>
            <a:picLocks noChangeAspect="1"/>
          </p:cNvPicPr>
          <p:nvPr/>
        </p:nvPicPr>
        <p:blipFill>
          <a:blip r:embed="rId5"/>
          <a:stretch>
            <a:fillRect/>
          </a:stretch>
        </p:blipFill>
        <p:spPr>
          <a:xfrm>
            <a:off x="685800" y="5568696"/>
            <a:ext cx="329184" cy="329184"/>
          </a:xfrm>
          <a:prstGeom prst="rect">
            <a:avLst/>
          </a:prstGeom>
        </p:spPr>
      </p:pic>
      <p:sp>
        <p:nvSpPr>
          <p:cNvPr id="33" name="Text 26"/>
          <p:cNvSpPr txBox="1"/>
          <p:nvPr/>
        </p:nvSpPr>
        <p:spPr>
          <a:xfrm>
            <a:off x="1097280" y="5404104"/>
            <a:ext cx="1108710" cy="658368"/>
          </a:xfrm>
          <a:prstGeom prst="rect">
            <a:avLst/>
          </a:prstGeom>
          <a:noFill/>
          <a:ln/>
        </p:spPr>
        <p:txBody>
          <a:bodyPr wrap="square" lIns="0" tIns="0" rIns="0" bIns="0" rtlCol="0" anchor="ctr"/>
          <a:lstStyle/>
          <a:p>
            <a:pPr indent="0" marL="0">
              <a:buNone/>
            </a:pPr>
            <a:r>
              <a:rPr lang="en-US" sz="1300" b="1" dirty="0">
                <a:solidFill>
                  <a:schemeClr val="tx1"/>
                </a:solidFill>
              </a:rPr>
              <a:t>PostgreSQL 16</a:t>
            </a:r>
            <a:endParaRPr lang="en-US" sz="1300" dirty="0"/>
          </a:p>
          <a:p>
            <a:pPr indent="0" marL="0">
              <a:buNone/>
            </a:pPr>
            <a:r>
              <a:rPr lang="en-US" sz="1300" dirty="0">
                <a:solidFill>
                  <a:schemeClr val="accent3"/>
                </a:solidFill>
              </a:rPr>
              <a:t>RLS forzado</a:t>
            </a:r>
            <a:endParaRPr lang="en-US" sz="1300" dirty="0"/>
          </a:p>
        </p:txBody>
      </p:sp>
      <p:sp>
        <p:nvSpPr>
          <p:cNvPr id="34" name="Redis 7"/>
          <p:cNvSpPr/>
          <p:nvPr/>
        </p:nvSpPr>
        <p:spPr>
          <a:xfrm>
            <a:off x="2480310" y="5349240"/>
            <a:ext cx="1748790" cy="777240"/>
          </a:xfrm>
          <a:prstGeom prst="roundRect">
            <a:avLst>
              <a:gd name="adj" fmla="val 14118"/>
            </a:avLst>
          </a:prstGeom>
          <a:solidFill>
            <a:schemeClr val="bg1"/>
          </a:solidFill>
          <a:ln w="12700">
            <a:solidFill>
              <a:schemeClr val="bg1"/>
            </a:solidFill>
            <a:prstDash val="solid"/>
          </a:ln>
        </p:spPr>
      </p:sp>
      <p:pic>
        <p:nvPicPr>
          <p:cNvPr id="35" name="Image 5" descr="Redis 7">    </p:cNvPr>
          <p:cNvPicPr>
            <a:picLocks noChangeAspect="1"/>
          </p:cNvPicPr>
          <p:nvPr/>
        </p:nvPicPr>
        <p:blipFill>
          <a:blip r:embed="rId6"/>
          <a:stretch>
            <a:fillRect/>
          </a:stretch>
        </p:blipFill>
        <p:spPr>
          <a:xfrm>
            <a:off x="2617470" y="5568696"/>
            <a:ext cx="329184" cy="329184"/>
          </a:xfrm>
          <a:prstGeom prst="rect">
            <a:avLst/>
          </a:prstGeom>
        </p:spPr>
      </p:pic>
      <p:sp>
        <p:nvSpPr>
          <p:cNvPr id="36" name="Text 28"/>
          <p:cNvSpPr txBox="1"/>
          <p:nvPr/>
        </p:nvSpPr>
        <p:spPr>
          <a:xfrm>
            <a:off x="3028950" y="5404104"/>
            <a:ext cx="1108710" cy="658368"/>
          </a:xfrm>
          <a:prstGeom prst="rect">
            <a:avLst/>
          </a:prstGeom>
          <a:noFill/>
          <a:ln/>
        </p:spPr>
        <p:txBody>
          <a:bodyPr wrap="square" lIns="0" tIns="0" rIns="0" bIns="0" rtlCol="0" anchor="ctr"/>
          <a:lstStyle/>
          <a:p>
            <a:pPr indent="0" marL="0">
              <a:buNone/>
            </a:pPr>
            <a:r>
              <a:rPr lang="en-US" sz="1300" b="1" dirty="0">
                <a:solidFill>
                  <a:schemeClr val="tx1"/>
                </a:solidFill>
              </a:rPr>
              <a:t>Redis 7</a:t>
            </a:r>
            <a:endParaRPr lang="en-US" sz="1300" dirty="0"/>
          </a:p>
          <a:p>
            <a:pPr indent="0" marL="0">
              <a:buNone/>
            </a:pPr>
            <a:r>
              <a:rPr lang="en-US" sz="1300" dirty="0">
                <a:solidFill>
                  <a:schemeClr val="accent3"/>
                </a:solidFill>
              </a:rPr>
              <a:t>colas y caché</a:t>
            </a:r>
            <a:endParaRPr lang="en-US" sz="1300" dirty="0"/>
          </a:p>
        </p:txBody>
      </p:sp>
      <p:sp>
        <p:nvSpPr>
          <p:cNvPr id="37" name="Webpay Plus"/>
          <p:cNvSpPr/>
          <p:nvPr/>
        </p:nvSpPr>
        <p:spPr>
          <a:xfrm>
            <a:off x="4411980" y="5349240"/>
            <a:ext cx="1748790" cy="777240"/>
          </a:xfrm>
          <a:prstGeom prst="roundRect">
            <a:avLst>
              <a:gd name="adj" fmla="val 14118"/>
            </a:avLst>
          </a:prstGeom>
          <a:solidFill>
            <a:schemeClr val="bg1"/>
          </a:solidFill>
          <a:ln w="12700">
            <a:solidFill>
              <a:schemeClr val="bg1"/>
            </a:solidFill>
            <a:prstDash val="solid"/>
          </a:ln>
        </p:spPr>
      </p:sp>
      <p:pic>
        <p:nvPicPr>
          <p:cNvPr id="38" name="Image 6" descr="Webpay Plus">    </p:cNvPr>
          <p:cNvPicPr>
            <a:picLocks noChangeAspect="1"/>
          </p:cNvPicPr>
          <p:nvPr/>
        </p:nvPicPr>
        <p:blipFill>
          <a:blip r:embed="rId7"/>
          <a:stretch>
            <a:fillRect/>
          </a:stretch>
        </p:blipFill>
        <p:spPr>
          <a:xfrm>
            <a:off x="4549140" y="5568696"/>
            <a:ext cx="329184" cy="329184"/>
          </a:xfrm>
          <a:prstGeom prst="rect">
            <a:avLst/>
          </a:prstGeom>
        </p:spPr>
      </p:pic>
      <p:sp>
        <p:nvSpPr>
          <p:cNvPr id="39" name="Text 30"/>
          <p:cNvSpPr txBox="1"/>
          <p:nvPr/>
        </p:nvSpPr>
        <p:spPr>
          <a:xfrm>
            <a:off x="4960620" y="5404104"/>
            <a:ext cx="1108710" cy="658368"/>
          </a:xfrm>
          <a:prstGeom prst="rect">
            <a:avLst/>
          </a:prstGeom>
          <a:noFill/>
          <a:ln/>
        </p:spPr>
        <p:txBody>
          <a:bodyPr wrap="square" lIns="0" tIns="0" rIns="0" bIns="0" rtlCol="0" anchor="ctr"/>
          <a:lstStyle/>
          <a:p>
            <a:pPr indent="0" marL="0">
              <a:buNone/>
            </a:pPr>
            <a:r>
              <a:rPr lang="en-US" sz="1300" b="1" dirty="0">
                <a:solidFill>
                  <a:schemeClr val="tx1"/>
                </a:solidFill>
              </a:rPr>
              <a:t>Webpay Plus</a:t>
            </a:r>
            <a:endParaRPr lang="en-US" sz="1300" dirty="0"/>
          </a:p>
          <a:p>
            <a:pPr indent="0" marL="0">
              <a:buNone/>
            </a:pPr>
            <a:r>
              <a:rPr lang="en-US" sz="1300" dirty="0">
                <a:solidFill>
                  <a:schemeClr val="accent3"/>
                </a:solidFill>
              </a:rPr>
              <a:t>Transbank</a:t>
            </a:r>
            <a:endParaRPr lang="en-US" sz="1300" dirty="0"/>
          </a:p>
        </p:txBody>
      </p:sp>
      <p:sp>
        <p:nvSpPr>
          <p:cNvPr id="40" name="Clave maestra"/>
          <p:cNvSpPr/>
          <p:nvPr/>
        </p:nvSpPr>
        <p:spPr>
          <a:xfrm>
            <a:off x="6343650" y="5349240"/>
            <a:ext cx="1748790" cy="777240"/>
          </a:xfrm>
          <a:prstGeom prst="roundRect">
            <a:avLst>
              <a:gd name="adj" fmla="val 14118"/>
            </a:avLst>
          </a:prstGeom>
          <a:solidFill>
            <a:schemeClr val="bg1"/>
          </a:solidFill>
          <a:ln w="12700">
            <a:solidFill>
              <a:schemeClr val="bg1"/>
            </a:solidFill>
            <a:prstDash val="solid"/>
          </a:ln>
        </p:spPr>
      </p:sp>
      <p:pic>
        <p:nvPicPr>
          <p:cNvPr id="41" name="Image 7" descr="Clave maestra">    </p:cNvPr>
          <p:cNvPicPr>
            <a:picLocks noChangeAspect="1"/>
          </p:cNvPicPr>
          <p:nvPr/>
        </p:nvPicPr>
        <p:blipFill>
          <a:blip r:embed="rId8"/>
          <a:stretch>
            <a:fillRect/>
          </a:stretch>
        </p:blipFill>
        <p:spPr>
          <a:xfrm>
            <a:off x="6480810" y="5568696"/>
            <a:ext cx="329184" cy="329184"/>
          </a:xfrm>
          <a:prstGeom prst="rect">
            <a:avLst/>
          </a:prstGeom>
        </p:spPr>
      </p:pic>
      <p:sp>
        <p:nvSpPr>
          <p:cNvPr id="42" name="Text 32"/>
          <p:cNvSpPr txBox="1"/>
          <p:nvPr/>
        </p:nvSpPr>
        <p:spPr>
          <a:xfrm>
            <a:off x="6892290" y="5404104"/>
            <a:ext cx="1108710" cy="658368"/>
          </a:xfrm>
          <a:prstGeom prst="rect">
            <a:avLst/>
          </a:prstGeom>
          <a:noFill/>
          <a:ln/>
        </p:spPr>
        <p:txBody>
          <a:bodyPr wrap="square" lIns="0" tIns="0" rIns="0" bIns="0" rtlCol="0" anchor="ctr"/>
          <a:lstStyle/>
          <a:p>
            <a:pPr indent="0" marL="0">
              <a:buNone/>
            </a:pPr>
            <a:r>
              <a:rPr lang="en-US" sz="1300" b="1" dirty="0">
                <a:solidFill>
                  <a:schemeClr val="tx1"/>
                </a:solidFill>
              </a:rPr>
              <a:t>Clave maestra</a:t>
            </a:r>
            <a:endParaRPr lang="en-US" sz="1300" dirty="0"/>
          </a:p>
          <a:p>
            <a:pPr indent="0" marL="0">
              <a:buNone/>
            </a:pPr>
            <a:r>
              <a:rPr lang="en-US" sz="1300" dirty="0">
                <a:solidFill>
                  <a:schemeClr val="accent3"/>
                </a:solidFill>
              </a:rPr>
              <a:t>custodia externa</a:t>
            </a:r>
            <a:endParaRPr lang="en-US" sz="1300" dirty="0"/>
          </a:p>
        </p:txBody>
      </p:sp>
      <p:sp>
        <p:nvSpPr>
          <p:cNvPr id="43" name="Seguridad y normativa"/>
          <p:cNvSpPr/>
          <p:nvPr/>
        </p:nvSpPr>
        <p:spPr>
          <a:xfrm>
            <a:off x="8366760" y="1554480"/>
            <a:ext cx="3276295" cy="4572000"/>
          </a:xfrm>
          <a:prstGeom prst="roundRect">
            <a:avLst>
              <a:gd name="adj" fmla="val 3349"/>
            </a:avLst>
          </a:prstGeom>
          <a:solidFill>
            <a:schemeClr val="bg1"/>
          </a:solidFill>
          <a:ln w="12700">
            <a:solidFill>
              <a:schemeClr val="bg1"/>
            </a:solidFill>
            <a:prstDash val="solid"/>
          </a:ln>
        </p:spPr>
      </p:sp>
      <p:sp>
        <p:nvSpPr>
          <p:cNvPr id="44" name="Círculo de ícono"/>
          <p:cNvSpPr/>
          <p:nvPr/>
        </p:nvSpPr>
        <p:spPr>
          <a:xfrm>
            <a:off x="8595360" y="1755648"/>
            <a:ext cx="548640" cy="548640"/>
          </a:xfrm>
          <a:prstGeom prst="ellipse">
            <a:avLst/>
          </a:prstGeom>
          <a:solidFill>
            <a:schemeClr val="tx2"/>
          </a:solidFill>
          <a:ln w="12700">
            <a:solidFill>
              <a:schemeClr val="tx2"/>
            </a:solidFill>
            <a:prstDash val="solid"/>
          </a:ln>
        </p:spPr>
      </p:sp>
      <p:pic>
        <p:nvPicPr>
          <p:cNvPr id="45" name="Image 8" descr="Ícono ShieldCheck">    </p:cNvPr>
          <p:cNvPicPr>
            <a:picLocks noChangeAspect="1"/>
          </p:cNvPicPr>
          <p:nvPr/>
        </p:nvPicPr>
        <p:blipFill>
          <a:blip r:embed="rId9"/>
          <a:stretch>
            <a:fillRect/>
          </a:stretch>
        </p:blipFill>
        <p:spPr>
          <a:xfrm>
            <a:off x="8727034" y="1887322"/>
            <a:ext cx="285293" cy="285293"/>
          </a:xfrm>
          <a:prstGeom prst="rect">
            <a:avLst/>
          </a:prstGeom>
        </p:spPr>
      </p:pic>
      <p:sp>
        <p:nvSpPr>
          <p:cNvPr id="46" name="Text 35"/>
          <p:cNvSpPr txBox="1"/>
          <p:nvPr/>
        </p:nvSpPr>
        <p:spPr>
          <a:xfrm>
            <a:off x="9281160" y="1755648"/>
            <a:ext cx="2224735" cy="548640"/>
          </a:xfrm>
          <a:prstGeom prst="rect">
            <a:avLst/>
          </a:prstGeom>
          <a:noFill/>
          <a:ln/>
        </p:spPr>
        <p:txBody>
          <a:bodyPr wrap="square" lIns="0" tIns="0" rIns="0" bIns="0" rtlCol="0" anchor="ctr"/>
          <a:lstStyle/>
          <a:p>
            <a:pPr indent="0" marL="0">
              <a:buNone/>
            </a:pPr>
            <a:r>
              <a:rPr lang="en-US" sz="1700" b="1" dirty="0">
                <a:solidFill>
                  <a:schemeClr val="tx1"/>
                </a:solidFill>
              </a:rPr>
              <a:t>Seguridad desde el diseño</a:t>
            </a:r>
            <a:endParaRPr lang="en-US" sz="1700" dirty="0"/>
          </a:p>
        </p:txBody>
      </p:sp>
      <p:sp>
        <p:nvSpPr>
          <p:cNvPr id="47" name="Text 36"/>
          <p:cNvSpPr txBox="1"/>
          <p:nvPr/>
        </p:nvSpPr>
        <p:spPr>
          <a:xfrm>
            <a:off x="8595360" y="2514600"/>
            <a:ext cx="2864815" cy="34747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Aislamiento por familia con RLS forzado. La app se conecta como matu_app, nunca como dueño</a:t>
            </a:r>
            <a:endParaRPr lang="en-US" sz="1400" dirty="0"/>
          </a:p>
          <a:p>
            <a:pPr marL="177800" indent="-177800">
              <a:spcAft>
                <a:spcPts val="800"/>
              </a:spcAft>
              <a:buSzPct val="100000"/>
              <a:buChar char="•"/>
            </a:pPr>
            <a:r>
              <a:rPr lang="en-US" sz="1400" dirty="0">
                <a:solidFill>
                  <a:schemeClr val="tx1"/>
                </a:solidFill>
              </a:rPr>
              <a:t>Ficha cifrada con AES-256-GCM y una clave por persona</a:t>
            </a:r>
            <a:endParaRPr lang="en-US" sz="1400" dirty="0"/>
          </a:p>
          <a:p>
            <a:pPr marL="177800" indent="-177800">
              <a:spcAft>
                <a:spcPts val="800"/>
              </a:spcAft>
              <a:buSzPct val="100000"/>
              <a:buChar char="•"/>
            </a:pPr>
            <a:r>
              <a:rPr lang="en-US" sz="1400" dirty="0">
                <a:solidFill>
                  <a:schemeClr val="tx1"/>
                </a:solidFill>
              </a:rPr>
              <a:t>Un recurso de otra familia responde 404, nunca 403</a:t>
            </a:r>
            <a:endParaRPr lang="en-US" sz="1400" dirty="0"/>
          </a:p>
          <a:p>
            <a:pPr marL="177800" indent="-177800">
              <a:spcAft>
                <a:spcPts val="800"/>
              </a:spcAft>
              <a:buSzPct val="100000"/>
              <a:buChar char="•"/>
            </a:pPr>
            <a:r>
              <a:rPr lang="en-US" sz="1400" dirty="0">
                <a:solidFill>
                  <a:schemeClr val="tx1"/>
                </a:solidFill>
              </a:rPr>
              <a:t>Ley 19.628 y Ley 21.719, vigente desde el 1 de diciembre de 2026</a:t>
            </a:r>
            <a:endParaRPr lang="en-US" sz="1400" dirty="0"/>
          </a:p>
          <a:p>
            <a:pPr marL="177800" indent="-177800">
              <a:spcAft>
                <a:spcPts val="800"/>
              </a:spcAft>
              <a:buSzPct val="100000"/>
              <a:buChar char="•"/>
            </a:pPr>
            <a:r>
              <a:rPr lang="en-US" sz="1400" dirty="0">
                <a:solidFill>
                  <a:schemeClr val="tx1"/>
                </a:solidFill>
              </a:rPr>
              <a:t>Una prueba verifica que la capa 3 se puede quitar</a:t>
            </a:r>
            <a:endParaRPr lang="en-US" sz="14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MODELO DE DATOS</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Todo cuelga del grupo familiar</a:t>
            </a:r>
            <a:endParaRPr lang="en-US" sz="3200" dirty="0"/>
          </a:p>
        </p:txBody>
      </p:sp>
      <p:sp>
        <p:nvSpPr>
          <p:cNvPr id="4" name="Diagrama simplificado"/>
          <p:cNvSpPr/>
          <p:nvPr/>
        </p:nvSpPr>
        <p:spPr>
          <a:xfrm>
            <a:off x="548640" y="1554480"/>
            <a:ext cx="7589520" cy="4572000"/>
          </a:xfrm>
          <a:prstGeom prst="roundRect">
            <a:avLst>
              <a:gd name="adj" fmla="val 2400"/>
            </a:avLst>
          </a:prstGeom>
          <a:solidFill>
            <a:schemeClr val="bg1"/>
          </a:solidFill>
          <a:ln w="12700">
            <a:solidFill>
              <a:schemeClr val="bg1"/>
            </a:solidFill>
            <a:prstDash val="solid"/>
          </a:ln>
        </p:spPr>
      </p:sp>
      <p:sp>
        <p:nvSpPr>
          <p:cNvPr id="5" name="Banda Capa 1 · ficha"/>
          <p:cNvSpPr/>
          <p:nvPr/>
        </p:nvSpPr>
        <p:spPr>
          <a:xfrm>
            <a:off x="4434840" y="1691640"/>
            <a:ext cx="3520440" cy="1463040"/>
          </a:xfrm>
          <a:prstGeom prst="roundRect">
            <a:avLst>
              <a:gd name="adj" fmla="val 6250"/>
            </a:avLst>
          </a:prstGeom>
          <a:solidFill>
            <a:schemeClr val="accent4"/>
          </a:solidFill>
          <a:ln w="12700">
            <a:solidFill>
              <a:schemeClr val="accent4"/>
            </a:solidFill>
            <a:prstDash val="solid"/>
          </a:ln>
        </p:spPr>
      </p:sp>
      <p:sp>
        <p:nvSpPr>
          <p:cNvPr id="6" name="Text 4"/>
          <p:cNvSpPr txBox="1"/>
          <p:nvPr/>
        </p:nvSpPr>
        <p:spPr>
          <a:xfrm>
            <a:off x="4572000" y="1755648"/>
            <a:ext cx="2286000" cy="256032"/>
          </a:xfrm>
          <a:prstGeom prst="rect">
            <a:avLst/>
          </a:prstGeom>
          <a:noFill/>
          <a:ln/>
        </p:spPr>
        <p:txBody>
          <a:bodyPr wrap="square" lIns="0" tIns="0" rIns="0" bIns="0" rtlCol="0" anchor="t"/>
          <a:lstStyle/>
          <a:p>
            <a:pPr indent="0" marL="0">
              <a:buNone/>
            </a:pPr>
            <a:r>
              <a:rPr lang="en-US" sz="1200" b="1" dirty="0">
                <a:solidFill>
                  <a:schemeClr val="tx2"/>
                </a:solidFill>
              </a:rPr>
              <a:t>Capa 1 · ficha</a:t>
            </a:r>
            <a:endParaRPr lang="en-US" sz="1200" dirty="0"/>
          </a:p>
        </p:txBody>
      </p:sp>
      <p:sp>
        <p:nvSpPr>
          <p:cNvPr id="7" name="Banda Capa 2 · consumo"/>
          <p:cNvSpPr/>
          <p:nvPr/>
        </p:nvSpPr>
        <p:spPr>
          <a:xfrm>
            <a:off x="4434840" y="3291840"/>
            <a:ext cx="3520440" cy="1097280"/>
          </a:xfrm>
          <a:prstGeom prst="roundRect">
            <a:avLst>
              <a:gd name="adj" fmla="val 8333"/>
            </a:avLst>
          </a:prstGeom>
          <a:solidFill>
            <a:schemeClr val="accent4"/>
          </a:solidFill>
          <a:ln w="12700">
            <a:solidFill>
              <a:schemeClr val="accent4"/>
            </a:solidFill>
            <a:prstDash val="solid"/>
          </a:ln>
        </p:spPr>
      </p:sp>
      <p:sp>
        <p:nvSpPr>
          <p:cNvPr id="8" name="Text 6"/>
          <p:cNvSpPr txBox="1"/>
          <p:nvPr/>
        </p:nvSpPr>
        <p:spPr>
          <a:xfrm>
            <a:off x="4572000" y="3355848"/>
            <a:ext cx="2286000" cy="256032"/>
          </a:xfrm>
          <a:prstGeom prst="rect">
            <a:avLst/>
          </a:prstGeom>
          <a:noFill/>
          <a:ln/>
        </p:spPr>
        <p:txBody>
          <a:bodyPr wrap="square" lIns="0" tIns="0" rIns="0" bIns="0" rtlCol="0" anchor="t"/>
          <a:lstStyle/>
          <a:p>
            <a:pPr indent="0" marL="0">
              <a:buNone/>
            </a:pPr>
            <a:r>
              <a:rPr lang="en-US" sz="1200" b="1" dirty="0">
                <a:solidFill>
                  <a:schemeClr val="tx2"/>
                </a:solidFill>
              </a:rPr>
              <a:t>Capa 2 · consumo</a:t>
            </a:r>
            <a:endParaRPr lang="en-US" sz="1200" dirty="0"/>
          </a:p>
        </p:txBody>
      </p:sp>
      <p:sp>
        <p:nvSpPr>
          <p:cNvPr id="9" name="Banda Capa 3 · despacho"/>
          <p:cNvSpPr/>
          <p:nvPr/>
        </p:nvSpPr>
        <p:spPr>
          <a:xfrm>
            <a:off x="4434840" y="4526280"/>
            <a:ext cx="3520440" cy="1463040"/>
          </a:xfrm>
          <a:prstGeom prst="roundRect">
            <a:avLst>
              <a:gd name="adj" fmla="val 6250"/>
            </a:avLst>
          </a:prstGeom>
          <a:solidFill>
            <a:schemeClr val="bg1"/>
          </a:solidFill>
          <a:ln w="12700">
            <a:solidFill>
              <a:schemeClr val="accent3"/>
            </a:solidFill>
            <a:prstDash val="dash"/>
          </a:ln>
        </p:spPr>
      </p:sp>
      <p:sp>
        <p:nvSpPr>
          <p:cNvPr id="10" name="Text 8"/>
          <p:cNvSpPr txBox="1"/>
          <p:nvPr/>
        </p:nvSpPr>
        <p:spPr>
          <a:xfrm>
            <a:off x="4572000" y="4590288"/>
            <a:ext cx="2286000" cy="256032"/>
          </a:xfrm>
          <a:prstGeom prst="rect">
            <a:avLst/>
          </a:prstGeom>
          <a:noFill/>
          <a:ln/>
        </p:spPr>
        <p:txBody>
          <a:bodyPr wrap="square" lIns="0" tIns="0" rIns="0" bIns="0" rtlCol="0" anchor="t"/>
          <a:lstStyle/>
          <a:p>
            <a:pPr indent="0" marL="0">
              <a:buNone/>
            </a:pPr>
            <a:r>
              <a:rPr lang="en-US" sz="1200" b="1" dirty="0">
                <a:solidFill>
                  <a:schemeClr val="tx2"/>
                </a:solidFill>
              </a:rPr>
              <a:t>Capa 3 · despacho</a:t>
            </a:r>
            <a:endParaRPr lang="en-US" sz="1200" dirty="0"/>
          </a:p>
        </p:txBody>
      </p:sp>
      <p:sp>
        <p:nvSpPr>
          <p:cNvPr id="11" name="Tabla usuario"/>
          <p:cNvSpPr txBox="1"/>
          <p:nvPr/>
        </p:nvSpPr>
        <p:spPr>
          <a:xfrm>
            <a:off x="777240" y="1920240"/>
            <a:ext cx="1600200" cy="457200"/>
          </a:xfrm>
          <a:prstGeom prst="roundRect">
            <a:avLst>
              <a:gd name="adj" fmla="val 16000"/>
            </a:avLst>
          </a:prstGeom>
          <a:solidFill>
            <a:schemeClr val="bg2"/>
          </a:solidFill>
          <a:ln w="15875">
            <a:solidFill>
              <a:schemeClr val="bg2"/>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usuario</a:t>
            </a:r>
            <a:endParaRPr lang="en-US" sz="1200" dirty="0"/>
          </a:p>
        </p:txBody>
      </p:sp>
      <p:sp>
        <p:nvSpPr>
          <p:cNvPr id="12" name="Tabla membresia"/>
          <p:cNvSpPr txBox="1"/>
          <p:nvPr/>
        </p:nvSpPr>
        <p:spPr>
          <a:xfrm>
            <a:off x="777240" y="2743200"/>
            <a:ext cx="1600200" cy="457200"/>
          </a:xfrm>
          <a:prstGeom prst="roundRect">
            <a:avLst>
              <a:gd name="adj" fmla="val 16000"/>
            </a:avLst>
          </a:prstGeom>
          <a:solidFill>
            <a:schemeClr val="bg2"/>
          </a:solidFill>
          <a:ln w="15875">
            <a:solidFill>
              <a:schemeClr val="bg2"/>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membresia</a:t>
            </a:r>
            <a:endParaRPr lang="en-US" sz="1200" dirty="0"/>
          </a:p>
        </p:txBody>
      </p:sp>
      <p:sp>
        <p:nvSpPr>
          <p:cNvPr id="13" name="Tabla grupo_familiar"/>
          <p:cNvSpPr txBox="1"/>
          <p:nvPr/>
        </p:nvSpPr>
        <p:spPr>
          <a:xfrm>
            <a:off x="777240" y="3566160"/>
            <a:ext cx="1600200" cy="457200"/>
          </a:xfrm>
          <a:prstGeom prst="roundRect">
            <a:avLst>
              <a:gd name="adj" fmla="val 16000"/>
            </a:avLst>
          </a:prstGeom>
          <a:solidFill>
            <a:schemeClr val="tx2"/>
          </a:solidFill>
          <a:ln w="15875">
            <a:solidFill>
              <a:schemeClr val="tx2"/>
            </a:solidFill>
            <a:prstDash val="solid"/>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grupo_familiar</a:t>
            </a:r>
            <a:endParaRPr lang="en-US" sz="1200" dirty="0"/>
          </a:p>
        </p:txBody>
      </p:sp>
      <p:sp>
        <p:nvSpPr>
          <p:cNvPr id="14" name="Tabla persona_cuidada"/>
          <p:cNvSpPr txBox="1"/>
          <p:nvPr/>
        </p:nvSpPr>
        <p:spPr>
          <a:xfrm>
            <a:off x="2606040" y="3566160"/>
            <a:ext cx="1600200" cy="457200"/>
          </a:xfrm>
          <a:prstGeom prst="roundRect">
            <a:avLst>
              <a:gd name="adj" fmla="val 16000"/>
            </a:avLst>
          </a:prstGeom>
          <a:solidFill>
            <a:schemeClr val="tx2"/>
          </a:solidFill>
          <a:ln w="15875">
            <a:solidFill>
              <a:schemeClr val="tx2"/>
            </a:solidFill>
            <a:prstDash val="solid"/>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persona_cuidada</a:t>
            </a:r>
            <a:endParaRPr lang="en-US" sz="1200" dirty="0"/>
          </a:p>
        </p:txBody>
      </p:sp>
      <p:sp>
        <p:nvSpPr>
          <p:cNvPr id="15" name="Tabla consentimiento"/>
          <p:cNvSpPr txBox="1"/>
          <p:nvPr/>
        </p:nvSpPr>
        <p:spPr>
          <a:xfrm>
            <a:off x="2606040" y="4526280"/>
            <a:ext cx="1600200" cy="457200"/>
          </a:xfrm>
          <a:prstGeom prst="roundRect">
            <a:avLst>
              <a:gd name="adj" fmla="val 16000"/>
            </a:avLst>
          </a:prstGeom>
          <a:solidFill>
            <a:schemeClr val="bg2"/>
          </a:solidFill>
          <a:ln w="15875">
            <a:solidFill>
              <a:schemeClr val="bg2"/>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consentimiento</a:t>
            </a:r>
            <a:endParaRPr lang="en-US" sz="1200" dirty="0"/>
          </a:p>
        </p:txBody>
      </p:sp>
      <p:sp>
        <p:nvSpPr>
          <p:cNvPr id="16" name="Tabla clave_datos"/>
          <p:cNvSpPr txBox="1"/>
          <p:nvPr/>
        </p:nvSpPr>
        <p:spPr>
          <a:xfrm>
            <a:off x="2606040" y="2606040"/>
            <a:ext cx="1600200" cy="457200"/>
          </a:xfrm>
          <a:prstGeom prst="roundRect">
            <a:avLst>
              <a:gd name="adj" fmla="val 16000"/>
            </a:avLst>
          </a:prstGeom>
          <a:solidFill>
            <a:schemeClr val="bg2"/>
          </a:solidFill>
          <a:ln w="15875">
            <a:solidFill>
              <a:schemeClr val="bg2"/>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clave_datos</a:t>
            </a:r>
            <a:endParaRPr lang="en-US" sz="1200" dirty="0"/>
          </a:p>
        </p:txBody>
      </p:sp>
      <p:sp>
        <p:nvSpPr>
          <p:cNvPr id="17" name="Conector"/>
          <p:cNvSpPr/>
          <p:nvPr/>
        </p:nvSpPr>
        <p:spPr>
          <a:xfrm>
            <a:off x="1577340" y="2377440"/>
            <a:ext cx="914" cy="365760"/>
          </a:xfrm>
          <a:prstGeom prst="line">
            <a:avLst/>
          </a:prstGeom>
          <a:noFill/>
          <a:ln w="15875">
            <a:solidFill>
              <a:schemeClr val="accent3"/>
            </a:solidFill>
            <a:prstDash val="solid"/>
          </a:ln>
        </p:spPr>
      </p:sp>
      <p:sp>
        <p:nvSpPr>
          <p:cNvPr id="18" name="Conector"/>
          <p:cNvSpPr/>
          <p:nvPr/>
        </p:nvSpPr>
        <p:spPr>
          <a:xfrm>
            <a:off x="1577340" y="3200400"/>
            <a:ext cx="914" cy="365760"/>
          </a:xfrm>
          <a:prstGeom prst="line">
            <a:avLst/>
          </a:prstGeom>
          <a:noFill/>
          <a:ln w="15875">
            <a:solidFill>
              <a:schemeClr val="accent3"/>
            </a:solidFill>
            <a:prstDash val="solid"/>
          </a:ln>
        </p:spPr>
      </p:sp>
      <p:sp>
        <p:nvSpPr>
          <p:cNvPr id="19" name="Conector"/>
          <p:cNvSpPr/>
          <p:nvPr/>
        </p:nvSpPr>
        <p:spPr>
          <a:xfrm>
            <a:off x="2377440" y="3794760"/>
            <a:ext cx="228600" cy="914"/>
          </a:xfrm>
          <a:prstGeom prst="line">
            <a:avLst/>
          </a:prstGeom>
          <a:noFill/>
          <a:ln w="25400">
            <a:solidFill>
              <a:schemeClr val="tx2"/>
            </a:solidFill>
            <a:prstDash val="solid"/>
          </a:ln>
        </p:spPr>
      </p:sp>
      <p:sp>
        <p:nvSpPr>
          <p:cNvPr id="20" name="Conector"/>
          <p:cNvSpPr/>
          <p:nvPr/>
        </p:nvSpPr>
        <p:spPr>
          <a:xfrm>
            <a:off x="3406140" y="4023360"/>
            <a:ext cx="914" cy="502920"/>
          </a:xfrm>
          <a:prstGeom prst="line">
            <a:avLst/>
          </a:prstGeom>
          <a:noFill/>
          <a:ln w="15875">
            <a:solidFill>
              <a:schemeClr val="accent3"/>
            </a:solidFill>
            <a:prstDash val="solid"/>
          </a:ln>
        </p:spPr>
      </p:sp>
      <p:sp>
        <p:nvSpPr>
          <p:cNvPr id="21" name="Conector"/>
          <p:cNvSpPr/>
          <p:nvPr/>
        </p:nvSpPr>
        <p:spPr>
          <a:xfrm>
            <a:off x="3406140" y="3063240"/>
            <a:ext cx="914" cy="502920"/>
          </a:xfrm>
          <a:prstGeom prst="line">
            <a:avLst/>
          </a:prstGeom>
          <a:noFill/>
          <a:ln w="15875">
            <a:solidFill>
              <a:schemeClr val="accent3"/>
            </a:solidFill>
            <a:prstDash val="solid"/>
          </a:ln>
        </p:spPr>
      </p:sp>
      <p:sp>
        <p:nvSpPr>
          <p:cNvPr id="22" name="Tabla plan_cuidado"/>
          <p:cNvSpPr txBox="1"/>
          <p:nvPr/>
        </p:nvSpPr>
        <p:spPr>
          <a:xfrm>
            <a:off x="4572000" y="2057400"/>
            <a:ext cx="1463040" cy="457200"/>
          </a:xfrm>
          <a:prstGeom prst="roundRect">
            <a:avLst>
              <a:gd name="adj" fmla="val 16000"/>
            </a:avLst>
          </a:prstGeom>
          <a:solidFill>
            <a:schemeClr val="bg1"/>
          </a:solidFill>
          <a:ln w="15875">
            <a:solidFill>
              <a:schemeClr val="bg1"/>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plan_cuidado</a:t>
            </a:r>
            <a:endParaRPr lang="en-US" sz="1200" dirty="0"/>
          </a:p>
        </p:txBody>
      </p:sp>
      <p:sp>
        <p:nvSpPr>
          <p:cNvPr id="23" name="Tabla plan_seccion"/>
          <p:cNvSpPr txBox="1"/>
          <p:nvPr/>
        </p:nvSpPr>
        <p:spPr>
          <a:xfrm>
            <a:off x="6355080" y="2057400"/>
            <a:ext cx="1463040" cy="457200"/>
          </a:xfrm>
          <a:prstGeom prst="roundRect">
            <a:avLst>
              <a:gd name="adj" fmla="val 16000"/>
            </a:avLst>
          </a:prstGeom>
          <a:solidFill>
            <a:schemeClr val="bg1"/>
          </a:solidFill>
          <a:ln w="15875">
            <a:solidFill>
              <a:schemeClr val="bg1"/>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plan_seccion</a:t>
            </a:r>
            <a:endParaRPr lang="en-US" sz="1200" dirty="0"/>
          </a:p>
        </p:txBody>
      </p:sp>
      <p:sp>
        <p:nvSpPr>
          <p:cNvPr id="24" name="Tabla acceso_relevo"/>
          <p:cNvSpPr txBox="1"/>
          <p:nvPr/>
        </p:nvSpPr>
        <p:spPr>
          <a:xfrm>
            <a:off x="6355080" y="2606040"/>
            <a:ext cx="1463040" cy="457200"/>
          </a:xfrm>
          <a:prstGeom prst="roundRect">
            <a:avLst>
              <a:gd name="adj" fmla="val 16000"/>
            </a:avLst>
          </a:prstGeom>
          <a:solidFill>
            <a:schemeClr val="bg1"/>
          </a:solidFill>
          <a:ln w="15875">
            <a:solidFill>
              <a:schemeClr val="bg1"/>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acceso_relevo</a:t>
            </a:r>
            <a:endParaRPr lang="en-US" sz="1200" dirty="0"/>
          </a:p>
        </p:txBody>
      </p:sp>
      <p:sp>
        <p:nvSpPr>
          <p:cNvPr id="25" name="Tabla perfil_consumo"/>
          <p:cNvSpPr txBox="1"/>
          <p:nvPr/>
        </p:nvSpPr>
        <p:spPr>
          <a:xfrm>
            <a:off x="4572000" y="3611880"/>
            <a:ext cx="1463040" cy="457200"/>
          </a:xfrm>
          <a:prstGeom prst="roundRect">
            <a:avLst>
              <a:gd name="adj" fmla="val 16000"/>
            </a:avLst>
          </a:prstGeom>
          <a:solidFill>
            <a:schemeClr val="bg1"/>
          </a:solidFill>
          <a:ln w="15875">
            <a:solidFill>
              <a:schemeClr val="bg1"/>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perfil_consumo</a:t>
            </a:r>
            <a:endParaRPr lang="en-US" sz="1200" dirty="0"/>
          </a:p>
        </p:txBody>
      </p:sp>
      <p:sp>
        <p:nvSpPr>
          <p:cNvPr id="26" name="Tabla alerta_quiebre"/>
          <p:cNvSpPr txBox="1"/>
          <p:nvPr/>
        </p:nvSpPr>
        <p:spPr>
          <a:xfrm>
            <a:off x="6355080" y="3611880"/>
            <a:ext cx="1463040" cy="457200"/>
          </a:xfrm>
          <a:prstGeom prst="roundRect">
            <a:avLst>
              <a:gd name="adj" fmla="val 16000"/>
            </a:avLst>
          </a:prstGeom>
          <a:solidFill>
            <a:schemeClr val="bg1"/>
          </a:solidFill>
          <a:ln w="15875">
            <a:solidFill>
              <a:schemeClr val="bg1"/>
            </a:solidFill>
            <a:prstDash val="solid"/>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alerta_quiebre</a:t>
            </a:r>
            <a:endParaRPr lang="en-US" sz="1200" dirty="0"/>
          </a:p>
        </p:txBody>
      </p:sp>
      <p:sp>
        <p:nvSpPr>
          <p:cNvPr id="27" name="Tabla pedido"/>
          <p:cNvSpPr txBox="1"/>
          <p:nvPr/>
        </p:nvSpPr>
        <p:spPr>
          <a:xfrm>
            <a:off x="4572000" y="4892040"/>
            <a:ext cx="1463040" cy="457200"/>
          </a:xfrm>
          <a:prstGeom prst="roundRect">
            <a:avLst>
              <a:gd name="adj" fmla="val 16000"/>
            </a:avLst>
          </a:prstGeom>
          <a:solidFill>
            <a:schemeClr val="bg1"/>
          </a:solidFill>
          <a:ln w="15875">
            <a:solidFill>
              <a:schemeClr val="accent3"/>
            </a:solidFill>
            <a:prstDash val="dash"/>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pedido</a:t>
            </a:r>
            <a:endParaRPr lang="en-US" sz="1200" dirty="0"/>
          </a:p>
        </p:txBody>
      </p:sp>
      <p:sp>
        <p:nvSpPr>
          <p:cNvPr id="28" name="Tabla pedido_linea"/>
          <p:cNvSpPr txBox="1"/>
          <p:nvPr/>
        </p:nvSpPr>
        <p:spPr>
          <a:xfrm>
            <a:off x="6355080" y="4892040"/>
            <a:ext cx="1463040" cy="457200"/>
          </a:xfrm>
          <a:prstGeom prst="roundRect">
            <a:avLst>
              <a:gd name="adj" fmla="val 16000"/>
            </a:avLst>
          </a:prstGeom>
          <a:solidFill>
            <a:schemeClr val="bg1"/>
          </a:solidFill>
          <a:ln w="15875">
            <a:solidFill>
              <a:schemeClr val="accent3"/>
            </a:solidFill>
            <a:prstDash val="dash"/>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pedido_linea</a:t>
            </a:r>
            <a:endParaRPr lang="en-US" sz="1200" dirty="0"/>
          </a:p>
        </p:txBody>
      </p:sp>
      <p:sp>
        <p:nvSpPr>
          <p:cNvPr id="29" name="Tabla cargo"/>
          <p:cNvSpPr txBox="1"/>
          <p:nvPr/>
        </p:nvSpPr>
        <p:spPr>
          <a:xfrm>
            <a:off x="6355080" y="5440680"/>
            <a:ext cx="1463040" cy="457200"/>
          </a:xfrm>
          <a:prstGeom prst="roundRect">
            <a:avLst>
              <a:gd name="adj" fmla="val 16000"/>
            </a:avLst>
          </a:prstGeom>
          <a:solidFill>
            <a:schemeClr val="bg1"/>
          </a:solidFill>
          <a:ln w="15875">
            <a:solidFill>
              <a:schemeClr val="accent3"/>
            </a:solidFill>
            <a:prstDash val="dash"/>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cargo</a:t>
            </a:r>
            <a:endParaRPr lang="en-US" sz="1200" dirty="0"/>
          </a:p>
        </p:txBody>
      </p:sp>
      <p:sp>
        <p:nvSpPr>
          <p:cNvPr id="30" name="Conector"/>
          <p:cNvSpPr/>
          <p:nvPr/>
        </p:nvSpPr>
        <p:spPr>
          <a:xfrm flipV="1">
            <a:off x="4206240" y="2286000"/>
            <a:ext cx="365760" cy="1508760"/>
          </a:xfrm>
          <a:prstGeom prst="line">
            <a:avLst/>
          </a:prstGeom>
          <a:noFill/>
          <a:ln w="19050">
            <a:solidFill>
              <a:schemeClr val="tx2"/>
            </a:solidFill>
            <a:prstDash val="solid"/>
          </a:ln>
        </p:spPr>
      </p:sp>
      <p:sp>
        <p:nvSpPr>
          <p:cNvPr id="31" name="Conector"/>
          <p:cNvSpPr/>
          <p:nvPr/>
        </p:nvSpPr>
        <p:spPr>
          <a:xfrm>
            <a:off x="4206240" y="3794760"/>
            <a:ext cx="365760" cy="45720"/>
          </a:xfrm>
          <a:prstGeom prst="line">
            <a:avLst/>
          </a:prstGeom>
          <a:noFill/>
          <a:ln w="19050">
            <a:solidFill>
              <a:schemeClr val="tx2"/>
            </a:solidFill>
            <a:prstDash val="solid"/>
          </a:ln>
        </p:spPr>
      </p:sp>
      <p:sp>
        <p:nvSpPr>
          <p:cNvPr id="32" name="Conector"/>
          <p:cNvSpPr/>
          <p:nvPr/>
        </p:nvSpPr>
        <p:spPr>
          <a:xfrm>
            <a:off x="4206240" y="3794760"/>
            <a:ext cx="365760" cy="1325880"/>
          </a:xfrm>
          <a:prstGeom prst="line">
            <a:avLst/>
          </a:prstGeom>
          <a:noFill/>
          <a:ln w="19050">
            <a:solidFill>
              <a:schemeClr val="tx2"/>
            </a:solidFill>
            <a:prstDash val="solid"/>
          </a:ln>
        </p:spPr>
      </p:sp>
      <p:sp>
        <p:nvSpPr>
          <p:cNvPr id="33" name="Conector"/>
          <p:cNvSpPr/>
          <p:nvPr/>
        </p:nvSpPr>
        <p:spPr>
          <a:xfrm>
            <a:off x="6035040" y="2286000"/>
            <a:ext cx="320040" cy="914"/>
          </a:xfrm>
          <a:prstGeom prst="line">
            <a:avLst/>
          </a:prstGeom>
          <a:noFill/>
          <a:ln w="15875">
            <a:solidFill>
              <a:schemeClr val="accent3"/>
            </a:solidFill>
            <a:prstDash val="solid"/>
          </a:ln>
        </p:spPr>
      </p:sp>
      <p:sp>
        <p:nvSpPr>
          <p:cNvPr id="34" name="Conector"/>
          <p:cNvSpPr/>
          <p:nvPr/>
        </p:nvSpPr>
        <p:spPr>
          <a:xfrm>
            <a:off x="6035040" y="2286000"/>
            <a:ext cx="320040" cy="548640"/>
          </a:xfrm>
          <a:prstGeom prst="line">
            <a:avLst/>
          </a:prstGeom>
          <a:noFill/>
          <a:ln w="15875">
            <a:solidFill>
              <a:schemeClr val="accent3"/>
            </a:solidFill>
            <a:prstDash val="solid"/>
          </a:ln>
        </p:spPr>
      </p:sp>
      <p:sp>
        <p:nvSpPr>
          <p:cNvPr id="35" name="Conector"/>
          <p:cNvSpPr/>
          <p:nvPr/>
        </p:nvSpPr>
        <p:spPr>
          <a:xfrm>
            <a:off x="6035040" y="3840480"/>
            <a:ext cx="320040" cy="914"/>
          </a:xfrm>
          <a:prstGeom prst="line">
            <a:avLst/>
          </a:prstGeom>
          <a:noFill/>
          <a:ln w="15875">
            <a:solidFill>
              <a:schemeClr val="accent3"/>
            </a:solidFill>
            <a:prstDash val="solid"/>
          </a:ln>
        </p:spPr>
      </p:sp>
      <p:sp>
        <p:nvSpPr>
          <p:cNvPr id="36" name="Conector"/>
          <p:cNvSpPr/>
          <p:nvPr/>
        </p:nvSpPr>
        <p:spPr>
          <a:xfrm>
            <a:off x="6035040" y="5120640"/>
            <a:ext cx="320040" cy="914"/>
          </a:xfrm>
          <a:prstGeom prst="line">
            <a:avLst/>
          </a:prstGeom>
          <a:noFill/>
          <a:ln w="15875">
            <a:solidFill>
              <a:schemeClr val="accent3"/>
            </a:solidFill>
            <a:prstDash val="solid"/>
          </a:ln>
        </p:spPr>
      </p:sp>
      <p:sp>
        <p:nvSpPr>
          <p:cNvPr id="37" name="Conector"/>
          <p:cNvSpPr/>
          <p:nvPr/>
        </p:nvSpPr>
        <p:spPr>
          <a:xfrm>
            <a:off x="6035040" y="5120640"/>
            <a:ext cx="320040" cy="548640"/>
          </a:xfrm>
          <a:prstGeom prst="line">
            <a:avLst/>
          </a:prstGeom>
          <a:noFill/>
          <a:ln w="15875">
            <a:solidFill>
              <a:schemeClr val="accent3"/>
            </a:solidFill>
            <a:prstDash val="solid"/>
          </a:ln>
        </p:spPr>
      </p:sp>
      <p:sp>
        <p:nvSpPr>
          <p:cNvPr id="38" name="Text 36"/>
          <p:cNvSpPr txBox="1"/>
          <p:nvPr/>
        </p:nvSpPr>
        <p:spPr>
          <a:xfrm>
            <a:off x="777240" y="5257800"/>
            <a:ext cx="3474720" cy="731520"/>
          </a:xfrm>
          <a:prstGeom prst="rect">
            <a:avLst/>
          </a:prstGeom>
          <a:noFill/>
          <a:ln/>
        </p:spPr>
        <p:txBody>
          <a:bodyPr wrap="square" lIns="0" tIns="0" rIns="0" bIns="0" rtlCol="0" anchor="t"/>
          <a:lstStyle/>
          <a:p>
            <a:pPr indent="0" marL="0">
              <a:buNone/>
            </a:pPr>
            <a:r>
              <a:rPr lang="en-US" sz="1100" dirty="0">
                <a:solidFill>
                  <a:schemeClr val="accent3"/>
                </a:solidFill>
              </a:rPr>
              <a:t>Vista simplificada: 14 de 49 tablas. La ficha va cifrada por sección con la clave de la persona (clave_datos).</a:t>
            </a:r>
            <a:endParaRPr lang="en-US" sz="1100" dirty="0"/>
          </a:p>
        </p:txBody>
      </p:sp>
      <p:sp>
        <p:nvSpPr>
          <p:cNvPr id="39" name="Cifra 49"/>
          <p:cNvSpPr/>
          <p:nvPr/>
        </p:nvSpPr>
        <p:spPr>
          <a:xfrm>
            <a:off x="8412480" y="1554480"/>
            <a:ext cx="3230575" cy="786384"/>
          </a:xfrm>
          <a:prstGeom prst="roundRect">
            <a:avLst>
              <a:gd name="adj" fmla="val 13953"/>
            </a:avLst>
          </a:prstGeom>
          <a:solidFill>
            <a:schemeClr val="bg1"/>
          </a:solidFill>
          <a:ln w="12700">
            <a:solidFill>
              <a:schemeClr val="bg1"/>
            </a:solidFill>
            <a:prstDash val="solid"/>
          </a:ln>
        </p:spPr>
      </p:sp>
      <p:sp>
        <p:nvSpPr>
          <p:cNvPr id="40" name="Text 38"/>
          <p:cNvSpPr txBox="1"/>
          <p:nvPr/>
        </p:nvSpPr>
        <p:spPr>
          <a:xfrm>
            <a:off x="8595360" y="1627632"/>
            <a:ext cx="1417320" cy="640080"/>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49</a:t>
            </a:r>
            <a:endParaRPr lang="en-US" sz="2800" dirty="0"/>
          </a:p>
        </p:txBody>
      </p:sp>
      <p:sp>
        <p:nvSpPr>
          <p:cNvPr id="41" name="Text 39"/>
          <p:cNvSpPr txBox="1"/>
          <p:nvPr/>
        </p:nvSpPr>
        <p:spPr>
          <a:xfrm>
            <a:off x="10058400" y="1627632"/>
            <a:ext cx="1447495" cy="640080"/>
          </a:xfrm>
          <a:prstGeom prst="rect">
            <a:avLst/>
          </a:prstGeom>
          <a:noFill/>
          <a:ln/>
        </p:spPr>
        <p:txBody>
          <a:bodyPr wrap="square" lIns="0" tIns="0" rIns="0" bIns="0" rtlCol="0" anchor="ctr"/>
          <a:lstStyle/>
          <a:p>
            <a:pPr indent="0" marL="0">
              <a:buNone/>
            </a:pPr>
            <a:r>
              <a:rPr lang="en-US" sz="1400" dirty="0">
                <a:solidFill>
                  <a:schemeClr val="tx1"/>
                </a:solidFill>
              </a:rPr>
              <a:t>tablas en 13 módulos</a:t>
            </a:r>
            <a:endParaRPr lang="en-US" sz="1400" dirty="0"/>
          </a:p>
        </p:txBody>
      </p:sp>
      <p:sp>
        <p:nvSpPr>
          <p:cNvPr id="42" name="Cifra 45"/>
          <p:cNvSpPr/>
          <p:nvPr/>
        </p:nvSpPr>
        <p:spPr>
          <a:xfrm>
            <a:off x="8412480" y="2450592"/>
            <a:ext cx="3230575" cy="786384"/>
          </a:xfrm>
          <a:prstGeom prst="roundRect">
            <a:avLst>
              <a:gd name="adj" fmla="val 13953"/>
            </a:avLst>
          </a:prstGeom>
          <a:solidFill>
            <a:schemeClr val="bg1"/>
          </a:solidFill>
          <a:ln w="12700">
            <a:solidFill>
              <a:schemeClr val="bg1"/>
            </a:solidFill>
            <a:prstDash val="solid"/>
          </a:ln>
        </p:spPr>
      </p:sp>
      <p:sp>
        <p:nvSpPr>
          <p:cNvPr id="43" name="Text 41"/>
          <p:cNvSpPr txBox="1"/>
          <p:nvPr/>
        </p:nvSpPr>
        <p:spPr>
          <a:xfrm>
            <a:off x="8595360" y="2523744"/>
            <a:ext cx="1417320" cy="640080"/>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45</a:t>
            </a:r>
            <a:endParaRPr lang="en-US" sz="2800" dirty="0"/>
          </a:p>
        </p:txBody>
      </p:sp>
      <p:sp>
        <p:nvSpPr>
          <p:cNvPr id="44" name="Text 42"/>
          <p:cNvSpPr txBox="1"/>
          <p:nvPr/>
        </p:nvSpPr>
        <p:spPr>
          <a:xfrm>
            <a:off x="10058400" y="2523744"/>
            <a:ext cx="1447495" cy="640080"/>
          </a:xfrm>
          <a:prstGeom prst="rect">
            <a:avLst/>
          </a:prstGeom>
          <a:noFill/>
          <a:ln/>
        </p:spPr>
        <p:txBody>
          <a:bodyPr wrap="square" lIns="0" tIns="0" rIns="0" bIns="0" rtlCol="0" anchor="ctr"/>
          <a:lstStyle/>
          <a:p>
            <a:pPr indent="0" marL="0">
              <a:buNone/>
            </a:pPr>
            <a:r>
              <a:rPr lang="en-US" sz="1400" dirty="0">
                <a:solidFill>
                  <a:schemeClr val="tx1"/>
                </a:solidFill>
              </a:rPr>
              <a:t>con RLS forzado</a:t>
            </a:r>
            <a:endParaRPr lang="en-US" sz="1400" dirty="0"/>
          </a:p>
        </p:txBody>
      </p:sp>
      <p:sp>
        <p:nvSpPr>
          <p:cNvPr id="45" name="Cifra 94"/>
          <p:cNvSpPr/>
          <p:nvPr/>
        </p:nvSpPr>
        <p:spPr>
          <a:xfrm>
            <a:off x="8412480" y="3346704"/>
            <a:ext cx="3230575" cy="786384"/>
          </a:xfrm>
          <a:prstGeom prst="roundRect">
            <a:avLst>
              <a:gd name="adj" fmla="val 13953"/>
            </a:avLst>
          </a:prstGeom>
          <a:solidFill>
            <a:schemeClr val="bg1"/>
          </a:solidFill>
          <a:ln w="12700">
            <a:solidFill>
              <a:schemeClr val="bg1"/>
            </a:solidFill>
            <a:prstDash val="solid"/>
          </a:ln>
        </p:spPr>
      </p:sp>
      <p:sp>
        <p:nvSpPr>
          <p:cNvPr id="46" name="Text 44"/>
          <p:cNvSpPr txBox="1"/>
          <p:nvPr/>
        </p:nvSpPr>
        <p:spPr>
          <a:xfrm>
            <a:off x="8595360" y="3419856"/>
            <a:ext cx="1417320" cy="640080"/>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94</a:t>
            </a:r>
            <a:endParaRPr lang="en-US" sz="2800" dirty="0"/>
          </a:p>
        </p:txBody>
      </p:sp>
      <p:sp>
        <p:nvSpPr>
          <p:cNvPr id="47" name="Text 45"/>
          <p:cNvSpPr txBox="1"/>
          <p:nvPr/>
        </p:nvSpPr>
        <p:spPr>
          <a:xfrm>
            <a:off x="10058400" y="3419856"/>
            <a:ext cx="1447495" cy="640080"/>
          </a:xfrm>
          <a:prstGeom prst="rect">
            <a:avLst/>
          </a:prstGeom>
          <a:noFill/>
          <a:ln/>
        </p:spPr>
        <p:txBody>
          <a:bodyPr wrap="square" lIns="0" tIns="0" rIns="0" bIns="0" rtlCol="0" anchor="ctr"/>
          <a:lstStyle/>
          <a:p>
            <a:pPr indent="0" marL="0">
              <a:buNone/>
            </a:pPr>
            <a:r>
              <a:rPr lang="en-US" sz="1400" dirty="0">
                <a:solidFill>
                  <a:schemeClr val="tx1"/>
                </a:solidFill>
              </a:rPr>
              <a:t>políticas de aislamiento</a:t>
            </a:r>
            <a:endParaRPr lang="en-US" sz="1400" dirty="0"/>
          </a:p>
        </p:txBody>
      </p:sp>
      <p:sp>
        <p:nvSpPr>
          <p:cNvPr id="48" name="Cifra 31 de 31"/>
          <p:cNvSpPr/>
          <p:nvPr/>
        </p:nvSpPr>
        <p:spPr>
          <a:xfrm>
            <a:off x="8412480" y="4242816"/>
            <a:ext cx="3230575" cy="786384"/>
          </a:xfrm>
          <a:prstGeom prst="roundRect">
            <a:avLst>
              <a:gd name="adj" fmla="val 13953"/>
            </a:avLst>
          </a:prstGeom>
          <a:solidFill>
            <a:schemeClr val="bg1"/>
          </a:solidFill>
          <a:ln w="12700">
            <a:solidFill>
              <a:schemeClr val="bg1"/>
            </a:solidFill>
            <a:prstDash val="solid"/>
          </a:ln>
        </p:spPr>
      </p:sp>
      <p:sp>
        <p:nvSpPr>
          <p:cNvPr id="49" name="Text 47"/>
          <p:cNvSpPr txBox="1"/>
          <p:nvPr/>
        </p:nvSpPr>
        <p:spPr>
          <a:xfrm>
            <a:off x="8595360" y="4315968"/>
            <a:ext cx="1417320" cy="640080"/>
          </a:xfrm>
          <a:prstGeom prst="rect">
            <a:avLst/>
          </a:prstGeom>
          <a:noFill/>
          <a:ln/>
        </p:spPr>
        <p:txBody>
          <a:bodyPr wrap="square" lIns="0" tIns="0" rIns="0" bIns="0" rtlCol="0" anchor="ctr"/>
          <a:lstStyle/>
          <a:p>
            <a:pPr indent="0" marL="0">
              <a:buNone/>
            </a:pPr>
            <a:r>
              <a:rPr lang="en-US" sz="2800" b="1" dirty="0">
                <a:solidFill>
                  <a:schemeClr val="tx2"/>
                </a:solidFill>
                <a:latin typeface="+mj-lt" pitchFamily="34" charset="0"/>
                <a:ea typeface="+mj-lt" pitchFamily="34" charset="-122"/>
                <a:cs typeface="+mj-lt" pitchFamily="34" charset="-120"/>
              </a:rPr>
              <a:t>31 de 31</a:t>
            </a:r>
            <a:endParaRPr lang="en-US" sz="2800" dirty="0"/>
          </a:p>
        </p:txBody>
      </p:sp>
      <p:sp>
        <p:nvSpPr>
          <p:cNvPr id="50" name="Text 48"/>
          <p:cNvSpPr txBox="1"/>
          <p:nvPr/>
        </p:nvSpPr>
        <p:spPr>
          <a:xfrm>
            <a:off x="10058400" y="4315968"/>
            <a:ext cx="1447495" cy="640080"/>
          </a:xfrm>
          <a:prstGeom prst="rect">
            <a:avLst/>
          </a:prstGeom>
          <a:noFill/>
          <a:ln/>
        </p:spPr>
        <p:txBody>
          <a:bodyPr wrap="square" lIns="0" tIns="0" rIns="0" bIns="0" rtlCol="0" anchor="ctr"/>
          <a:lstStyle/>
          <a:p>
            <a:pPr indent="0" marL="0">
              <a:buNone/>
            </a:pPr>
            <a:r>
              <a:rPr lang="en-US" sz="1400" dirty="0">
                <a:solidFill>
                  <a:schemeClr val="tx1"/>
                </a:solidFill>
              </a:rPr>
              <a:t>pruebas de aislamiento en verde</a:t>
            </a:r>
            <a:endParaRPr lang="en-US" sz="1400" dirty="0"/>
          </a:p>
        </p:txBody>
      </p:sp>
      <p:sp>
        <p:nvSpPr>
          <p:cNvPr id="51" name="Reglas"/>
          <p:cNvSpPr/>
          <p:nvPr/>
        </p:nvSpPr>
        <p:spPr>
          <a:xfrm>
            <a:off x="8412480" y="5166360"/>
            <a:ext cx="3230575" cy="960120"/>
          </a:xfrm>
          <a:prstGeom prst="roundRect">
            <a:avLst>
              <a:gd name="adj" fmla="val 11429"/>
            </a:avLst>
          </a:prstGeom>
          <a:solidFill>
            <a:schemeClr val="accent4"/>
          </a:solidFill>
          <a:ln w="12700">
            <a:solidFill>
              <a:schemeClr val="accent4"/>
            </a:solidFill>
            <a:prstDash val="solid"/>
          </a:ln>
        </p:spPr>
      </p:sp>
      <p:sp>
        <p:nvSpPr>
          <p:cNvPr id="52" name="Text 50"/>
          <p:cNvSpPr txBox="1"/>
          <p:nvPr/>
        </p:nvSpPr>
        <p:spPr>
          <a:xfrm>
            <a:off x="8595360" y="5212080"/>
            <a:ext cx="2864815" cy="868680"/>
          </a:xfrm>
          <a:prstGeom prst="rect">
            <a:avLst/>
          </a:prstGeom>
          <a:noFill/>
          <a:ln/>
        </p:spPr>
        <p:txBody>
          <a:bodyPr wrap="square" lIns="0" tIns="0" rIns="0" bIns="0" rtlCol="0" anchor="ctr"/>
          <a:lstStyle/>
          <a:p>
            <a:pPr indent="0" marL="0">
              <a:buNone/>
            </a:pPr>
            <a:r>
              <a:rPr lang="en-US" sz="1400" dirty="0">
                <a:solidFill>
                  <a:schemeClr val="tx1"/>
                </a:solidFill>
              </a:rPr>
              <a:t>Dinero en pesos enteros. Sin datos clínicos: solo el nivel de apoyo.</a:t>
            </a:r>
            <a:endParaRPr lang="en-US" sz="14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MODELO DE NEGOCIO</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Suscripción más despacho: 84 familias para el equilibrio</a:t>
            </a:r>
            <a:endParaRPr lang="en-US" sz="3200" dirty="0"/>
          </a:p>
        </p:txBody>
      </p:sp>
      <p:sp>
        <p:nvSpPr>
          <p:cNvPr id="4" name="Solo despacho"/>
          <p:cNvSpPr/>
          <p:nvPr/>
        </p:nvSpPr>
        <p:spPr>
          <a:xfrm>
            <a:off x="548640" y="1600200"/>
            <a:ext cx="3429000" cy="3749040"/>
          </a:xfrm>
          <a:prstGeom prst="roundRect">
            <a:avLst>
              <a:gd name="adj" fmla="val 3200"/>
            </a:avLst>
          </a:prstGeom>
          <a:solidFill>
            <a:schemeClr val="bg1"/>
          </a:solidFill>
          <a:ln w="12700">
            <a:solidFill>
              <a:schemeClr val="bg1"/>
            </a:solidFill>
            <a:prstDash val="solid"/>
          </a:ln>
        </p:spPr>
      </p:sp>
      <p:sp>
        <p:nvSpPr>
          <p:cNvPr id="5" name="Text 3"/>
          <p:cNvSpPr txBox="1"/>
          <p:nvPr/>
        </p:nvSpPr>
        <p:spPr>
          <a:xfrm>
            <a:off x="822960" y="1828800"/>
            <a:ext cx="2971800" cy="45720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Solo despacho</a:t>
            </a:r>
            <a:endParaRPr lang="en-US" sz="2000" dirty="0"/>
          </a:p>
        </p:txBody>
      </p:sp>
      <p:sp>
        <p:nvSpPr>
          <p:cNvPr id="6" name="Text 4"/>
          <p:cNvSpPr txBox="1"/>
          <p:nvPr/>
        </p:nvSpPr>
        <p:spPr>
          <a:xfrm>
            <a:off x="822960" y="2468880"/>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Ingreso</a:t>
            </a:r>
            <a:endParaRPr lang="en-US" sz="1300" dirty="0"/>
          </a:p>
        </p:txBody>
      </p:sp>
      <p:sp>
        <p:nvSpPr>
          <p:cNvPr id="7" name="Text 5"/>
          <p:cNvSpPr txBox="1"/>
          <p:nvPr/>
        </p:nvSpPr>
        <p:spPr>
          <a:xfrm>
            <a:off x="822960" y="2743200"/>
            <a:ext cx="2971800" cy="548640"/>
          </a:xfrm>
          <a:prstGeom prst="rect">
            <a:avLst/>
          </a:prstGeom>
          <a:noFill/>
          <a:ln/>
        </p:spPr>
        <p:txBody>
          <a:bodyPr wrap="square" lIns="0" tIns="0" rIns="0" bIns="0" rtlCol="0" anchor="ctr"/>
          <a:lstStyle/>
          <a:p>
            <a:pPr indent="0" marL="0">
              <a:buNone/>
            </a:pPr>
            <a:r>
              <a:rPr lang="en-US" sz="1500" dirty="0">
                <a:solidFill>
                  <a:schemeClr val="tx1"/>
                </a:solidFill>
              </a:rPr>
              <a:t>comisión del 10% por pedido</a:t>
            </a:r>
            <a:endParaRPr lang="en-US" sz="1500" dirty="0"/>
          </a:p>
        </p:txBody>
      </p:sp>
      <p:sp>
        <p:nvSpPr>
          <p:cNvPr id="8" name="Text 6"/>
          <p:cNvSpPr txBox="1"/>
          <p:nvPr/>
        </p:nvSpPr>
        <p:spPr>
          <a:xfrm>
            <a:off x="822960" y="3410712"/>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Margen por familia al mes</a:t>
            </a:r>
            <a:endParaRPr lang="en-US" sz="1300" dirty="0"/>
          </a:p>
        </p:txBody>
      </p:sp>
      <p:sp>
        <p:nvSpPr>
          <p:cNvPr id="9" name="Text 7"/>
          <p:cNvSpPr txBox="1"/>
          <p:nvPr/>
        </p:nvSpPr>
        <p:spPr>
          <a:xfrm>
            <a:off x="822960" y="3685032"/>
            <a:ext cx="2971800" cy="548640"/>
          </a:xfrm>
          <a:prstGeom prst="rect">
            <a:avLst/>
          </a:prstGeom>
          <a:noFill/>
          <a:ln/>
        </p:spPr>
        <p:txBody>
          <a:bodyPr wrap="square" lIns="0" tIns="0" rIns="0" bIns="0" rtlCol="0" anchor="ctr"/>
          <a:lstStyle/>
          <a:p>
            <a:pPr indent="0" marL="0">
              <a:buNone/>
            </a:pPr>
            <a:r>
              <a:rPr lang="en-US" sz="2600" b="1" dirty="0">
                <a:solidFill>
                  <a:schemeClr val="tx1"/>
                </a:solidFill>
                <a:latin typeface="+mj-lt" pitchFamily="34" charset="0"/>
                <a:ea typeface="+mj-lt" pitchFamily="34" charset="-122"/>
                <a:cs typeface="+mj-lt" pitchFamily="34" charset="-120"/>
              </a:rPr>
              <a:t>$1.400</a:t>
            </a:r>
            <a:endParaRPr lang="en-US" sz="2600" dirty="0"/>
          </a:p>
        </p:txBody>
      </p:sp>
      <p:sp>
        <p:nvSpPr>
          <p:cNvPr id="10" name="Text 8"/>
          <p:cNvSpPr txBox="1"/>
          <p:nvPr/>
        </p:nvSpPr>
        <p:spPr>
          <a:xfrm>
            <a:off x="822960" y="4352544"/>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Punto de equilibrio</a:t>
            </a:r>
            <a:endParaRPr lang="en-US" sz="1300" dirty="0"/>
          </a:p>
        </p:txBody>
      </p:sp>
      <p:sp>
        <p:nvSpPr>
          <p:cNvPr id="11" name="Text 9"/>
          <p:cNvSpPr txBox="1"/>
          <p:nvPr/>
        </p:nvSpPr>
        <p:spPr>
          <a:xfrm>
            <a:off x="822960" y="4626864"/>
            <a:ext cx="2971800" cy="548640"/>
          </a:xfrm>
          <a:prstGeom prst="rect">
            <a:avLst/>
          </a:prstGeom>
          <a:noFill/>
          <a:ln/>
        </p:spPr>
        <p:txBody>
          <a:bodyPr wrap="square" lIns="0" tIns="0" rIns="0" bIns="0" rtlCol="0" anchor="ctr"/>
          <a:lstStyle/>
          <a:p>
            <a:pPr indent="0" marL="0">
              <a:buNone/>
            </a:pPr>
            <a:r>
              <a:rPr lang="en-US" sz="2600" b="1" dirty="0">
                <a:solidFill>
                  <a:schemeClr val="tx1"/>
                </a:solidFill>
                <a:latin typeface="+mj-lt" pitchFamily="34" charset="0"/>
                <a:ea typeface="+mj-lt" pitchFamily="34" charset="-122"/>
                <a:cs typeface="+mj-lt" pitchFamily="34" charset="-120"/>
              </a:rPr>
              <a:t>429 familias</a:t>
            </a:r>
            <a:endParaRPr lang="en-US" sz="2600" dirty="0"/>
          </a:p>
        </p:txBody>
      </p:sp>
      <p:sp>
        <p:nvSpPr>
          <p:cNvPr id="12" name="Suscripción + despacho"/>
          <p:cNvSpPr/>
          <p:nvPr/>
        </p:nvSpPr>
        <p:spPr>
          <a:xfrm>
            <a:off x="4160520" y="1600200"/>
            <a:ext cx="3429000" cy="3749040"/>
          </a:xfrm>
          <a:prstGeom prst="roundRect">
            <a:avLst>
              <a:gd name="adj" fmla="val 3200"/>
            </a:avLst>
          </a:prstGeom>
          <a:solidFill>
            <a:schemeClr val="accent4"/>
          </a:solidFill>
          <a:ln w="12700">
            <a:solidFill>
              <a:schemeClr val="accent4"/>
            </a:solidFill>
            <a:prstDash val="solid"/>
          </a:ln>
        </p:spPr>
      </p:sp>
      <p:sp>
        <p:nvSpPr>
          <p:cNvPr id="13" name="Text 11"/>
          <p:cNvSpPr txBox="1"/>
          <p:nvPr/>
        </p:nvSpPr>
        <p:spPr>
          <a:xfrm>
            <a:off x="4434840" y="1828800"/>
            <a:ext cx="2971800" cy="457200"/>
          </a:xfrm>
          <a:prstGeom prst="rect">
            <a:avLst/>
          </a:prstGeom>
          <a:noFill/>
          <a:ln/>
        </p:spPr>
        <p:txBody>
          <a:bodyPr wrap="square" lIns="0" tIns="0" rIns="0" bIns="0" rtlCol="0" anchor="t"/>
          <a:lstStyle/>
          <a:p>
            <a:pPr indent="0" marL="0">
              <a:buNone/>
            </a:pPr>
            <a:r>
              <a:rPr lang="en-US" sz="2000" b="1" dirty="0">
                <a:solidFill>
                  <a:schemeClr val="tx2"/>
                </a:solidFill>
                <a:latin typeface="+mj-lt" pitchFamily="34" charset="0"/>
                <a:ea typeface="+mj-lt" pitchFamily="34" charset="-122"/>
                <a:cs typeface="+mj-lt" pitchFamily="34" charset="-120"/>
              </a:rPr>
              <a:t>Suscripción + despacho</a:t>
            </a:r>
            <a:endParaRPr lang="en-US" sz="2000" dirty="0"/>
          </a:p>
        </p:txBody>
      </p:sp>
      <p:sp>
        <p:nvSpPr>
          <p:cNvPr id="14" name="Text 12"/>
          <p:cNvSpPr txBox="1"/>
          <p:nvPr/>
        </p:nvSpPr>
        <p:spPr>
          <a:xfrm>
            <a:off x="4434840" y="2468880"/>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Ingreso</a:t>
            </a:r>
            <a:endParaRPr lang="en-US" sz="1300" dirty="0"/>
          </a:p>
        </p:txBody>
      </p:sp>
      <p:sp>
        <p:nvSpPr>
          <p:cNvPr id="15" name="Text 13"/>
          <p:cNvSpPr txBox="1"/>
          <p:nvPr/>
        </p:nvSpPr>
        <p:spPr>
          <a:xfrm>
            <a:off x="4434840" y="2743200"/>
            <a:ext cx="2971800" cy="548640"/>
          </a:xfrm>
          <a:prstGeom prst="rect">
            <a:avLst/>
          </a:prstGeom>
          <a:noFill/>
          <a:ln/>
        </p:spPr>
        <p:txBody>
          <a:bodyPr wrap="square" lIns="0" tIns="0" rIns="0" bIns="0" rtlCol="0" anchor="ctr"/>
          <a:lstStyle/>
          <a:p>
            <a:pPr indent="0" marL="0">
              <a:buNone/>
            </a:pPr>
            <a:r>
              <a:rPr lang="en-US" sz="1500" dirty="0">
                <a:solidFill>
                  <a:schemeClr val="tx1"/>
                </a:solidFill>
              </a:rPr>
              <a:t>comisión del 10% más $5.990 al mes</a:t>
            </a:r>
            <a:endParaRPr lang="en-US" sz="1500" dirty="0"/>
          </a:p>
        </p:txBody>
      </p:sp>
      <p:sp>
        <p:nvSpPr>
          <p:cNvPr id="16" name="Text 14"/>
          <p:cNvSpPr txBox="1"/>
          <p:nvPr/>
        </p:nvSpPr>
        <p:spPr>
          <a:xfrm>
            <a:off x="4434840" y="3410712"/>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Margen por familia al mes</a:t>
            </a:r>
            <a:endParaRPr lang="en-US" sz="1300" dirty="0"/>
          </a:p>
        </p:txBody>
      </p:sp>
      <p:sp>
        <p:nvSpPr>
          <p:cNvPr id="17" name="Text 15"/>
          <p:cNvSpPr txBox="1"/>
          <p:nvPr/>
        </p:nvSpPr>
        <p:spPr>
          <a:xfrm>
            <a:off x="4434840" y="3685032"/>
            <a:ext cx="2971800" cy="548640"/>
          </a:xfrm>
          <a:prstGeom prst="rect">
            <a:avLst/>
          </a:prstGeom>
          <a:noFill/>
          <a:ln/>
        </p:spPr>
        <p:txBody>
          <a:bodyPr wrap="square" lIns="0" tIns="0" rIns="0" bIns="0" rtlCol="0" anchor="ctr"/>
          <a:lstStyle/>
          <a:p>
            <a:pPr indent="0" marL="0">
              <a:buNone/>
            </a:pPr>
            <a:r>
              <a:rPr lang="en-US" sz="2600" b="1" dirty="0">
                <a:solidFill>
                  <a:schemeClr val="tx2"/>
                </a:solidFill>
                <a:latin typeface="+mj-lt" pitchFamily="34" charset="0"/>
                <a:ea typeface="+mj-lt" pitchFamily="34" charset="-122"/>
                <a:cs typeface="+mj-lt" pitchFamily="34" charset="-120"/>
              </a:rPr>
              <a:t>$7.210</a:t>
            </a:r>
            <a:endParaRPr lang="en-US" sz="2600" dirty="0"/>
          </a:p>
        </p:txBody>
      </p:sp>
      <p:sp>
        <p:nvSpPr>
          <p:cNvPr id="18" name="Text 16"/>
          <p:cNvSpPr txBox="1"/>
          <p:nvPr/>
        </p:nvSpPr>
        <p:spPr>
          <a:xfrm>
            <a:off x="4434840" y="4352544"/>
            <a:ext cx="2971800" cy="274320"/>
          </a:xfrm>
          <a:prstGeom prst="rect">
            <a:avLst/>
          </a:prstGeom>
          <a:noFill/>
          <a:ln/>
        </p:spPr>
        <p:txBody>
          <a:bodyPr wrap="square" lIns="0" tIns="0" rIns="0" bIns="0" rtlCol="0" anchor="t"/>
          <a:lstStyle/>
          <a:p>
            <a:pPr indent="0" marL="0">
              <a:buNone/>
            </a:pPr>
            <a:r>
              <a:rPr lang="en-US" sz="1300" b="1" dirty="0">
                <a:solidFill>
                  <a:schemeClr val="accent3"/>
                </a:solidFill>
              </a:rPr>
              <a:t>Punto de equilibrio</a:t>
            </a:r>
            <a:endParaRPr lang="en-US" sz="1300" dirty="0"/>
          </a:p>
        </p:txBody>
      </p:sp>
      <p:sp>
        <p:nvSpPr>
          <p:cNvPr id="19" name="Text 17"/>
          <p:cNvSpPr txBox="1"/>
          <p:nvPr/>
        </p:nvSpPr>
        <p:spPr>
          <a:xfrm>
            <a:off x="4434840" y="4626864"/>
            <a:ext cx="2971800" cy="548640"/>
          </a:xfrm>
          <a:prstGeom prst="rect">
            <a:avLst/>
          </a:prstGeom>
          <a:noFill/>
          <a:ln/>
        </p:spPr>
        <p:txBody>
          <a:bodyPr wrap="square" lIns="0" tIns="0" rIns="0" bIns="0" rtlCol="0" anchor="ctr"/>
          <a:lstStyle/>
          <a:p>
            <a:pPr indent="0" marL="0">
              <a:buNone/>
            </a:pPr>
            <a:r>
              <a:rPr lang="en-US" sz="2600" b="1" dirty="0">
                <a:solidFill>
                  <a:schemeClr val="tx2"/>
                </a:solidFill>
                <a:latin typeface="+mj-lt" pitchFamily="34" charset="0"/>
                <a:ea typeface="+mj-lt" pitchFamily="34" charset="-122"/>
                <a:cs typeface="+mj-lt" pitchFamily="34" charset="-120"/>
              </a:rPr>
              <a:t>84 familias</a:t>
            </a:r>
            <a:endParaRPr lang="en-US" sz="2600" dirty="0"/>
          </a:p>
        </p:txBody>
      </p:sp>
      <p:sp>
        <p:nvSpPr>
          <p:cNvPr id="20" name="Evidencia 6 de 10"/>
          <p:cNvSpPr/>
          <p:nvPr/>
        </p:nvSpPr>
        <p:spPr>
          <a:xfrm>
            <a:off x="7772400" y="1600200"/>
            <a:ext cx="3870655" cy="1143000"/>
          </a:xfrm>
          <a:prstGeom prst="roundRect">
            <a:avLst>
              <a:gd name="adj" fmla="val 9600"/>
            </a:avLst>
          </a:prstGeom>
          <a:solidFill>
            <a:schemeClr val="bg1"/>
          </a:solidFill>
          <a:ln w="12700">
            <a:solidFill>
              <a:schemeClr val="bg1"/>
            </a:solidFill>
            <a:prstDash val="solid"/>
          </a:ln>
        </p:spPr>
      </p:sp>
      <p:sp>
        <p:nvSpPr>
          <p:cNvPr id="21" name="Círculo de ícono"/>
          <p:cNvSpPr/>
          <p:nvPr/>
        </p:nvSpPr>
        <p:spPr>
          <a:xfrm>
            <a:off x="7955280" y="1874520"/>
            <a:ext cx="566928" cy="566928"/>
          </a:xfrm>
          <a:prstGeom prst="ellipse">
            <a:avLst/>
          </a:prstGeom>
          <a:solidFill>
            <a:schemeClr val="accent1"/>
          </a:solidFill>
          <a:ln w="12700">
            <a:solidFill>
              <a:schemeClr val="accent1"/>
            </a:solidFill>
            <a:prstDash val="solid"/>
          </a:ln>
        </p:spPr>
      </p:sp>
      <p:pic>
        <p:nvPicPr>
          <p:cNvPr id="22" name="Image 0" descr="Ícono Wallet">    </p:cNvPr>
          <p:cNvPicPr>
            <a:picLocks noChangeAspect="1"/>
          </p:cNvPicPr>
          <p:nvPr/>
        </p:nvPicPr>
        <p:blipFill>
          <a:blip r:embed="rId1"/>
          <a:stretch>
            <a:fillRect/>
          </a:stretch>
        </p:blipFill>
        <p:spPr>
          <a:xfrm>
            <a:off x="8091343" y="2010583"/>
            <a:ext cx="294803" cy="294803"/>
          </a:xfrm>
          <a:prstGeom prst="rect">
            <a:avLst/>
          </a:prstGeom>
        </p:spPr>
      </p:pic>
      <p:sp>
        <p:nvSpPr>
          <p:cNvPr id="23" name="Text 20"/>
          <p:cNvSpPr txBox="1"/>
          <p:nvPr/>
        </p:nvSpPr>
        <p:spPr>
          <a:xfrm>
            <a:off x="8686800" y="1691640"/>
            <a:ext cx="2819095" cy="987552"/>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6 de 10</a:t>
            </a:r>
            <a:endParaRPr lang="en-US" sz="1400" dirty="0"/>
          </a:p>
          <a:p>
            <a:pPr indent="0" marL="0">
              <a:buNone/>
            </a:pPr>
            <a:r>
              <a:rPr lang="en-US" sz="1400" dirty="0">
                <a:solidFill>
                  <a:schemeClr val="tx1"/>
                </a:solidFill>
              </a:rPr>
              <a:t>ya pagan por algún servicio de cuidado</a:t>
            </a:r>
            <a:endParaRPr lang="en-US" sz="1400" dirty="0"/>
          </a:p>
        </p:txBody>
      </p:sp>
      <p:sp>
        <p:nvSpPr>
          <p:cNvPr id="24" name="Evidencia 8 de 10"/>
          <p:cNvSpPr/>
          <p:nvPr/>
        </p:nvSpPr>
        <p:spPr>
          <a:xfrm>
            <a:off x="7772400" y="2880360"/>
            <a:ext cx="3870655" cy="1143000"/>
          </a:xfrm>
          <a:prstGeom prst="roundRect">
            <a:avLst>
              <a:gd name="adj" fmla="val 9600"/>
            </a:avLst>
          </a:prstGeom>
          <a:solidFill>
            <a:schemeClr val="bg1"/>
          </a:solidFill>
          <a:ln w="12700">
            <a:solidFill>
              <a:schemeClr val="bg1"/>
            </a:solidFill>
            <a:prstDash val="solid"/>
          </a:ln>
        </p:spPr>
      </p:sp>
      <p:sp>
        <p:nvSpPr>
          <p:cNvPr id="25" name="Círculo de ícono"/>
          <p:cNvSpPr/>
          <p:nvPr/>
        </p:nvSpPr>
        <p:spPr>
          <a:xfrm>
            <a:off x="7955280" y="3154680"/>
            <a:ext cx="566928" cy="566928"/>
          </a:xfrm>
          <a:prstGeom prst="ellipse">
            <a:avLst/>
          </a:prstGeom>
          <a:solidFill>
            <a:schemeClr val="accent1"/>
          </a:solidFill>
          <a:ln w="12700">
            <a:solidFill>
              <a:schemeClr val="accent1"/>
            </a:solidFill>
            <a:prstDash val="solid"/>
          </a:ln>
        </p:spPr>
      </p:sp>
      <p:pic>
        <p:nvPicPr>
          <p:cNvPr id="26" name="Image 1" descr="Ícono ThumbsUp">    </p:cNvPr>
          <p:cNvPicPr>
            <a:picLocks noChangeAspect="1"/>
          </p:cNvPicPr>
          <p:nvPr/>
        </p:nvPicPr>
        <p:blipFill>
          <a:blip r:embed="rId2"/>
          <a:stretch>
            <a:fillRect/>
          </a:stretch>
        </p:blipFill>
        <p:spPr>
          <a:xfrm>
            <a:off x="8091343" y="3290743"/>
            <a:ext cx="294803" cy="294803"/>
          </a:xfrm>
          <a:prstGeom prst="rect">
            <a:avLst/>
          </a:prstGeom>
        </p:spPr>
      </p:pic>
      <p:sp>
        <p:nvSpPr>
          <p:cNvPr id="27" name="Text 23"/>
          <p:cNvSpPr txBox="1"/>
          <p:nvPr/>
        </p:nvSpPr>
        <p:spPr>
          <a:xfrm>
            <a:off x="8686800" y="2971800"/>
            <a:ext cx="2819095" cy="987552"/>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8 de 10</a:t>
            </a:r>
            <a:endParaRPr lang="en-US" sz="1400" dirty="0"/>
          </a:p>
          <a:p>
            <a:pPr indent="0" marL="0">
              <a:buNone/>
            </a:pPr>
            <a:r>
              <a:rPr lang="en-US" sz="1400" dirty="0">
                <a:solidFill>
                  <a:schemeClr val="tx1"/>
                </a:solidFill>
              </a:rPr>
              <a:t>dijeron que sí a $5.990, y 4 lo condicionaron a que resuelva los insumos</a:t>
            </a:r>
            <a:endParaRPr lang="en-US" sz="1400" dirty="0"/>
          </a:p>
        </p:txBody>
      </p:sp>
      <p:sp>
        <p:nvSpPr>
          <p:cNvPr id="28" name="Evidencia $70.000"/>
          <p:cNvSpPr/>
          <p:nvPr/>
        </p:nvSpPr>
        <p:spPr>
          <a:xfrm>
            <a:off x="7772400" y="4160520"/>
            <a:ext cx="3870655" cy="1143000"/>
          </a:xfrm>
          <a:prstGeom prst="roundRect">
            <a:avLst>
              <a:gd name="adj" fmla="val 9600"/>
            </a:avLst>
          </a:prstGeom>
          <a:solidFill>
            <a:schemeClr val="bg1"/>
          </a:solidFill>
          <a:ln w="12700">
            <a:solidFill>
              <a:schemeClr val="bg1"/>
            </a:solidFill>
            <a:prstDash val="solid"/>
          </a:ln>
        </p:spPr>
      </p:sp>
      <p:sp>
        <p:nvSpPr>
          <p:cNvPr id="29" name="Círculo de ícono"/>
          <p:cNvSpPr/>
          <p:nvPr/>
        </p:nvSpPr>
        <p:spPr>
          <a:xfrm>
            <a:off x="7955280" y="4434840"/>
            <a:ext cx="566928" cy="566928"/>
          </a:xfrm>
          <a:prstGeom prst="ellipse">
            <a:avLst/>
          </a:prstGeom>
          <a:solidFill>
            <a:schemeClr val="accent1"/>
          </a:solidFill>
          <a:ln w="12700">
            <a:solidFill>
              <a:schemeClr val="accent1"/>
            </a:solidFill>
            <a:prstDash val="solid"/>
          </a:ln>
        </p:spPr>
      </p:sp>
      <p:pic>
        <p:nvPicPr>
          <p:cNvPr id="30" name="Image 2" descr="Ícono ShoppingBasket">    </p:cNvPr>
          <p:cNvPicPr>
            <a:picLocks noChangeAspect="1"/>
          </p:cNvPicPr>
          <p:nvPr/>
        </p:nvPicPr>
        <p:blipFill>
          <a:blip r:embed="rId3"/>
          <a:stretch>
            <a:fillRect/>
          </a:stretch>
        </p:blipFill>
        <p:spPr>
          <a:xfrm>
            <a:off x="8091343" y="4570903"/>
            <a:ext cx="294803" cy="294803"/>
          </a:xfrm>
          <a:prstGeom prst="rect">
            <a:avLst/>
          </a:prstGeom>
        </p:spPr>
      </p:pic>
      <p:sp>
        <p:nvSpPr>
          <p:cNvPr id="31" name="Text 26"/>
          <p:cNvSpPr txBox="1"/>
          <p:nvPr/>
        </p:nvSpPr>
        <p:spPr>
          <a:xfrm>
            <a:off x="8686800" y="4251960"/>
            <a:ext cx="2819095" cy="987552"/>
          </a:xfrm>
          <a:prstGeom prst="rect">
            <a:avLst/>
          </a:prstGeom>
          <a:noFill/>
          <a:ln/>
        </p:spPr>
        <p:txBody>
          <a:bodyPr wrap="square" lIns="0" tIns="0" rIns="0" bIns="0" rtlCol="0" anchor="ctr"/>
          <a:lstStyle/>
          <a:p>
            <a:pPr indent="0" marL="0">
              <a:buNone/>
            </a:pPr>
            <a:r>
              <a:rPr lang="en-US" sz="2200" b="1" dirty="0">
                <a:solidFill>
                  <a:schemeClr val="tx2"/>
                </a:solidFill>
                <a:latin typeface="+mj-lt" pitchFamily="34" charset="0"/>
                <a:ea typeface="+mj-lt" pitchFamily="34" charset="-122"/>
                <a:cs typeface="+mj-lt" pitchFamily="34" charset="-120"/>
              </a:rPr>
              <a:t>$70.000</a:t>
            </a:r>
            <a:endParaRPr lang="en-US" sz="1400" dirty="0"/>
          </a:p>
          <a:p>
            <a:pPr indent="0" marL="0">
              <a:buNone/>
            </a:pPr>
            <a:r>
              <a:rPr lang="en-US" sz="1400" dirty="0">
                <a:solidFill>
                  <a:schemeClr val="tx1"/>
                </a:solidFill>
              </a:rPr>
              <a:t>canasta mensual mediana de insumos (n = 9)</a:t>
            </a:r>
            <a:endParaRPr lang="en-US" sz="1400" dirty="0"/>
          </a:p>
        </p:txBody>
      </p:sp>
      <p:sp>
        <p:nvSpPr>
          <p:cNvPr id="32" name="Advertencia"/>
          <p:cNvSpPr/>
          <p:nvPr/>
        </p:nvSpPr>
        <p:spPr>
          <a:xfrm>
            <a:off x="548640" y="5532120"/>
            <a:ext cx="11094415" cy="621792"/>
          </a:xfrm>
          <a:prstGeom prst="roundRect">
            <a:avLst>
              <a:gd name="adj" fmla="val 17647"/>
            </a:avLst>
          </a:prstGeom>
          <a:solidFill>
            <a:schemeClr val="bg1"/>
          </a:solidFill>
          <a:ln w="12700">
            <a:solidFill>
              <a:schemeClr val="bg1"/>
            </a:solidFill>
            <a:prstDash val="solid"/>
          </a:ln>
        </p:spPr>
      </p:sp>
      <p:sp>
        <p:nvSpPr>
          <p:cNvPr id="33" name="Text 28"/>
          <p:cNvSpPr txBox="1"/>
          <p:nvPr/>
        </p:nvSpPr>
        <p:spPr>
          <a:xfrm>
            <a:off x="822960" y="5550408"/>
            <a:ext cx="10545775" cy="585216"/>
          </a:xfrm>
          <a:prstGeom prst="rect">
            <a:avLst/>
          </a:prstGeom>
          <a:noFill/>
          <a:ln/>
        </p:spPr>
        <p:txBody>
          <a:bodyPr wrap="square" lIns="0" tIns="0" rIns="0" bIns="0" rtlCol="0" anchor="ctr"/>
          <a:lstStyle/>
          <a:p>
            <a:pPr indent="0" marL="0">
              <a:buNone/>
            </a:pPr>
            <a:r>
              <a:rPr lang="en-US" sz="1400" dirty="0">
                <a:solidFill>
                  <a:schemeClr val="tx1"/>
                </a:solidFill>
              </a:rPr>
              <a:t>Es un ejercicio de viabilidad sobre 200 familias, no un compromiso del semestre: el cobro de la suscripción (RF-41) queda fuera del MVP. Exportar y compartir la lista es gratis.</a:t>
            </a:r>
            <a:endParaRPr lang="en-US" sz="14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5486400" cy="320040"/>
          </a:xfrm>
          <a:prstGeom prst="rect">
            <a:avLst/>
          </a:prstGeom>
          <a:noFill/>
          <a:ln/>
        </p:spPr>
        <p:txBody>
          <a:bodyPr wrap="square" lIns="0" tIns="0" rIns="0" bIns="0" rtlCol="0" anchor="t"/>
          <a:lstStyle/>
          <a:p>
            <a:pPr indent="0" marL="0">
              <a:buNone/>
            </a:pPr>
            <a:r>
              <a:rPr lang="en-US" sz="1400" b="1" spc="200" kern="0" dirty="0">
                <a:solidFill>
                  <a:schemeClr val="bg1"/>
                </a:solidFill>
              </a:rPr>
              <a:t>DEMOSTRACIÓN</a:t>
            </a:r>
            <a:endParaRPr lang="en-US" sz="1400" dirty="0"/>
          </a:p>
        </p:txBody>
      </p:sp>
      <p:sp>
        <p:nvSpPr>
          <p:cNvPr id="3" name="Text 1"/>
          <p:cNvSpPr txBox="1"/>
          <p:nvPr/>
        </p:nvSpPr>
        <p:spPr>
          <a:xfrm>
            <a:off x="548640" y="822960"/>
            <a:ext cx="8229600" cy="822960"/>
          </a:xfrm>
          <a:prstGeom prst="rect">
            <a:avLst/>
          </a:prstGeom>
          <a:noFill/>
          <a:ln/>
        </p:spPr>
        <p:txBody>
          <a:bodyPr wrap="square" lIns="0" tIns="0" rIns="0" bIns="0" rtlCol="0" anchor="ctr"/>
          <a:lstStyle/>
          <a:p>
            <a:pPr indent="0" marL="0">
              <a:buNone/>
            </a:pPr>
            <a:r>
              <a:rPr lang="en-US" sz="4400" b="1" dirty="0">
                <a:solidFill>
                  <a:schemeClr val="bg1"/>
                </a:solidFill>
                <a:latin typeface="+mj-lt" pitchFamily="34" charset="0"/>
                <a:ea typeface="+mj-lt" pitchFamily="34" charset="-122"/>
                <a:cs typeface="+mj-lt" pitchFamily="34" charset="-120"/>
              </a:rPr>
              <a:t>MATU, en vivo</a:t>
            </a:r>
            <a:endParaRPr lang="en-US" sz="4400" dirty="0"/>
          </a:p>
        </p:txBody>
      </p:sp>
      <p:sp>
        <p:nvSpPr>
          <p:cNvPr id="4" name="Text 2"/>
          <p:cNvSpPr txBox="1"/>
          <p:nvPr/>
        </p:nvSpPr>
        <p:spPr>
          <a:xfrm>
            <a:off x="548640" y="1691640"/>
            <a:ext cx="7315200" cy="411480"/>
          </a:xfrm>
          <a:prstGeom prst="rect">
            <a:avLst/>
          </a:prstGeom>
          <a:noFill/>
          <a:ln/>
        </p:spPr>
        <p:txBody>
          <a:bodyPr wrap="square" lIns="0" tIns="0" rIns="0" bIns="0" rtlCol="0" anchor="t"/>
          <a:lstStyle/>
          <a:p>
            <a:pPr indent="0" marL="0">
              <a:buNone/>
            </a:pPr>
            <a:r>
              <a:rPr lang="en-US" sz="2000" dirty="0">
                <a:solidFill>
                  <a:schemeClr val="bg1"/>
                </a:solidFill>
              </a:rPr>
              <a:t>Presenta Martín Henríquez</a:t>
            </a:r>
            <a:endParaRPr lang="en-US" sz="2000" dirty="0"/>
          </a:p>
        </p:txBody>
      </p:sp>
      <p:sp>
        <p:nvSpPr>
          <p:cNvPr id="5" name="Etiqueta"/>
          <p:cNvSpPr txBox="1"/>
          <p:nvPr/>
        </p:nvSpPr>
        <p:spPr>
          <a:xfrm>
            <a:off x="7711135" y="868680"/>
            <a:ext cx="3931920" cy="45720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Piloto académico con datos de prueba</a:t>
            </a:r>
            <a:endParaRPr lang="en-US" sz="1500" dirty="0"/>
          </a:p>
        </p:txBody>
      </p:sp>
      <p:sp>
        <p:nvSpPr>
          <p:cNvPr id="6" name="Ficha de relevo"/>
          <p:cNvSpPr/>
          <p:nvPr/>
        </p:nvSpPr>
        <p:spPr>
          <a:xfrm>
            <a:off x="548640" y="2514600"/>
            <a:ext cx="2602154" cy="3291840"/>
          </a:xfrm>
          <a:prstGeom prst="roundRect">
            <a:avLst>
              <a:gd name="adj" fmla="val 4217"/>
            </a:avLst>
          </a:prstGeom>
          <a:solidFill>
            <a:schemeClr val="bg1"/>
          </a:solidFill>
          <a:ln w="12700">
            <a:solidFill>
              <a:schemeClr val="bg1"/>
            </a:solidFill>
            <a:prstDash val="solid"/>
          </a:ln>
        </p:spPr>
      </p:sp>
      <p:sp>
        <p:nvSpPr>
          <p:cNvPr id="7" name="Número"/>
          <p:cNvSpPr txBox="1"/>
          <p:nvPr/>
        </p:nvSpPr>
        <p:spPr>
          <a:xfrm>
            <a:off x="777240" y="2743200"/>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900" b="1" dirty="0">
                <a:solidFill>
                  <a:schemeClr val="bg1"/>
                </a:solidFill>
              </a:rPr>
              <a:t>1</a:t>
            </a:r>
            <a:endParaRPr lang="en-US" sz="1900" dirty="0"/>
          </a:p>
        </p:txBody>
      </p:sp>
      <p:pic>
        <p:nvPicPr>
          <p:cNvPr id="8" name="Image 0" descr="Ficha de relevo">    </p:cNvPr>
          <p:cNvPicPr>
            <a:picLocks noChangeAspect="1"/>
          </p:cNvPicPr>
          <p:nvPr/>
        </p:nvPicPr>
        <p:blipFill>
          <a:blip r:embed="rId1"/>
          <a:stretch>
            <a:fillRect/>
          </a:stretch>
        </p:blipFill>
        <p:spPr>
          <a:xfrm>
            <a:off x="2464994" y="2788920"/>
            <a:ext cx="411480" cy="411480"/>
          </a:xfrm>
          <a:prstGeom prst="rect">
            <a:avLst/>
          </a:prstGeom>
        </p:spPr>
      </p:pic>
      <p:sp>
        <p:nvSpPr>
          <p:cNvPr id="9" name="Text 6"/>
          <p:cNvSpPr txBox="1"/>
          <p:nvPr/>
        </p:nvSpPr>
        <p:spPr>
          <a:xfrm>
            <a:off x="777240" y="3429000"/>
            <a:ext cx="2144954" cy="731520"/>
          </a:xfrm>
          <a:prstGeom prst="rect">
            <a:avLst/>
          </a:prstGeom>
          <a:noFill/>
          <a:ln/>
        </p:spPr>
        <p:txBody>
          <a:bodyPr wrap="square" lIns="0" tIns="0" rIns="0" bIns="0" rtlCol="0" anchor="t"/>
          <a:lstStyle/>
          <a:p>
            <a:pPr indent="0" marL="0">
              <a:buNone/>
            </a:pPr>
            <a:r>
              <a:rPr lang="en-US" sz="1900" b="1" dirty="0">
                <a:solidFill>
                  <a:schemeClr val="tx2"/>
                </a:solidFill>
              </a:rPr>
              <a:t>Ficha de relevo</a:t>
            </a:r>
            <a:endParaRPr lang="en-US" sz="1900" dirty="0"/>
          </a:p>
        </p:txBody>
      </p:sp>
      <p:sp>
        <p:nvSpPr>
          <p:cNvPr id="10" name="Text 7"/>
          <p:cNvSpPr txBox="1"/>
          <p:nvPr/>
        </p:nvSpPr>
        <p:spPr>
          <a:xfrm>
            <a:off x="777240" y="4206240"/>
            <a:ext cx="2144954" cy="1508760"/>
          </a:xfrm>
          <a:prstGeom prst="rect">
            <a:avLst/>
          </a:prstGeom>
          <a:noFill/>
          <a:ln/>
        </p:spPr>
        <p:txBody>
          <a:bodyPr wrap="square" lIns="0" tIns="0" rIns="0" bIns="0" rtlCol="0" anchor="t"/>
          <a:lstStyle/>
          <a:p>
            <a:pPr indent="0" marL="0">
              <a:buNone/>
            </a:pPr>
            <a:r>
              <a:rPr lang="en-US" sz="1500" dirty="0">
                <a:solidFill>
                  <a:schemeClr val="tx1"/>
                </a:solidFill>
              </a:rPr>
              <a:t>Cuenta, permiso, los tres campos, compartir con PIN, el relevo la abre, "Quién la vio" y cortar el enlace</a:t>
            </a:r>
            <a:endParaRPr lang="en-US" sz="1500" dirty="0"/>
          </a:p>
        </p:txBody>
      </p:sp>
      <p:sp>
        <p:nvSpPr>
          <p:cNvPr id="11" name="Consumo y predicción"/>
          <p:cNvSpPr/>
          <p:nvPr/>
        </p:nvSpPr>
        <p:spPr>
          <a:xfrm>
            <a:off x="3379394" y="2514600"/>
            <a:ext cx="2602154" cy="3291840"/>
          </a:xfrm>
          <a:prstGeom prst="roundRect">
            <a:avLst>
              <a:gd name="adj" fmla="val 4217"/>
            </a:avLst>
          </a:prstGeom>
          <a:solidFill>
            <a:schemeClr val="bg1"/>
          </a:solidFill>
          <a:ln w="12700">
            <a:solidFill>
              <a:schemeClr val="bg1"/>
            </a:solidFill>
            <a:prstDash val="solid"/>
          </a:ln>
        </p:spPr>
      </p:sp>
      <p:sp>
        <p:nvSpPr>
          <p:cNvPr id="12" name="Número"/>
          <p:cNvSpPr txBox="1"/>
          <p:nvPr/>
        </p:nvSpPr>
        <p:spPr>
          <a:xfrm>
            <a:off x="3607994" y="2743200"/>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900" b="1" dirty="0">
                <a:solidFill>
                  <a:schemeClr val="bg1"/>
                </a:solidFill>
              </a:rPr>
              <a:t>2</a:t>
            </a:r>
            <a:endParaRPr lang="en-US" sz="1900" dirty="0"/>
          </a:p>
        </p:txBody>
      </p:sp>
      <p:pic>
        <p:nvPicPr>
          <p:cNvPr id="13" name="Image 1" descr="Consumo y predicción">    </p:cNvPr>
          <p:cNvPicPr>
            <a:picLocks noChangeAspect="1"/>
          </p:cNvPicPr>
          <p:nvPr/>
        </p:nvPicPr>
        <p:blipFill>
          <a:blip r:embed="rId2"/>
          <a:stretch>
            <a:fillRect/>
          </a:stretch>
        </p:blipFill>
        <p:spPr>
          <a:xfrm>
            <a:off x="5295748" y="2788920"/>
            <a:ext cx="411480" cy="411480"/>
          </a:xfrm>
          <a:prstGeom prst="rect">
            <a:avLst/>
          </a:prstGeom>
        </p:spPr>
      </p:pic>
      <p:sp>
        <p:nvSpPr>
          <p:cNvPr id="14" name="Text 10"/>
          <p:cNvSpPr txBox="1"/>
          <p:nvPr/>
        </p:nvSpPr>
        <p:spPr>
          <a:xfrm>
            <a:off x="3607994" y="3429000"/>
            <a:ext cx="2144954" cy="731520"/>
          </a:xfrm>
          <a:prstGeom prst="rect">
            <a:avLst/>
          </a:prstGeom>
          <a:noFill/>
          <a:ln/>
        </p:spPr>
        <p:txBody>
          <a:bodyPr wrap="square" lIns="0" tIns="0" rIns="0" bIns="0" rtlCol="0" anchor="t"/>
          <a:lstStyle/>
          <a:p>
            <a:pPr indent="0" marL="0">
              <a:buNone/>
            </a:pPr>
            <a:r>
              <a:rPr lang="en-US" sz="1900" b="1" dirty="0">
                <a:solidFill>
                  <a:schemeClr val="tx2"/>
                </a:solidFill>
              </a:rPr>
              <a:t>Consumo y predicción</a:t>
            </a:r>
            <a:endParaRPr lang="en-US" sz="1900" dirty="0"/>
          </a:p>
        </p:txBody>
      </p:sp>
      <p:sp>
        <p:nvSpPr>
          <p:cNvPr id="15" name="Text 11"/>
          <p:cNvSpPr txBox="1"/>
          <p:nvPr/>
        </p:nvSpPr>
        <p:spPr>
          <a:xfrm>
            <a:off x="3607994" y="4206240"/>
            <a:ext cx="2144954" cy="1508760"/>
          </a:xfrm>
          <a:prstGeom prst="rect">
            <a:avLst/>
          </a:prstGeom>
          <a:noFill/>
          <a:ln/>
        </p:spPr>
        <p:txBody>
          <a:bodyPr wrap="square" lIns="0" tIns="0" rIns="0" bIns="0" rtlCol="0" anchor="t"/>
          <a:lstStyle/>
          <a:p>
            <a:pPr indent="0" marL="0">
              <a:buNone/>
            </a:pPr>
            <a:r>
              <a:rPr lang="en-US" sz="1500" dirty="0">
                <a:solidFill>
                  <a:schemeClr val="tx1"/>
                </a:solidFill>
              </a:rPr>
              <a:t>Qué se está acabando, declarar el consumo, "Ya lo compré" y la lista para exportar o compartir</a:t>
            </a:r>
            <a:endParaRPr lang="en-US" sz="1500" dirty="0"/>
          </a:p>
        </p:txBody>
      </p:sp>
      <p:sp>
        <p:nvSpPr>
          <p:cNvPr id="16" name="Pedido y pago"/>
          <p:cNvSpPr/>
          <p:nvPr/>
        </p:nvSpPr>
        <p:spPr>
          <a:xfrm>
            <a:off x="6210148" y="2514600"/>
            <a:ext cx="2602154" cy="3291840"/>
          </a:xfrm>
          <a:prstGeom prst="roundRect">
            <a:avLst>
              <a:gd name="adj" fmla="val 4217"/>
            </a:avLst>
          </a:prstGeom>
          <a:solidFill>
            <a:schemeClr val="bg1"/>
          </a:solidFill>
          <a:ln w="12700">
            <a:solidFill>
              <a:schemeClr val="bg1"/>
            </a:solidFill>
            <a:prstDash val="solid"/>
          </a:ln>
        </p:spPr>
      </p:sp>
      <p:sp>
        <p:nvSpPr>
          <p:cNvPr id="17" name="Número"/>
          <p:cNvSpPr txBox="1"/>
          <p:nvPr/>
        </p:nvSpPr>
        <p:spPr>
          <a:xfrm>
            <a:off x="6438748" y="2743200"/>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900" b="1" dirty="0">
                <a:solidFill>
                  <a:schemeClr val="bg1"/>
                </a:solidFill>
              </a:rPr>
              <a:t>3</a:t>
            </a:r>
            <a:endParaRPr lang="en-US" sz="1900" dirty="0"/>
          </a:p>
        </p:txBody>
      </p:sp>
      <p:pic>
        <p:nvPicPr>
          <p:cNvPr id="18" name="Image 2" descr="Pedido y pago">    </p:cNvPr>
          <p:cNvPicPr>
            <a:picLocks noChangeAspect="1"/>
          </p:cNvPicPr>
          <p:nvPr/>
        </p:nvPicPr>
        <p:blipFill>
          <a:blip r:embed="rId3"/>
          <a:stretch>
            <a:fillRect/>
          </a:stretch>
        </p:blipFill>
        <p:spPr>
          <a:xfrm>
            <a:off x="8126501" y="2788920"/>
            <a:ext cx="411480" cy="411480"/>
          </a:xfrm>
          <a:prstGeom prst="rect">
            <a:avLst/>
          </a:prstGeom>
        </p:spPr>
      </p:pic>
      <p:sp>
        <p:nvSpPr>
          <p:cNvPr id="19" name="Text 14"/>
          <p:cNvSpPr txBox="1"/>
          <p:nvPr/>
        </p:nvSpPr>
        <p:spPr>
          <a:xfrm>
            <a:off x="6438748" y="3429000"/>
            <a:ext cx="2144954" cy="731520"/>
          </a:xfrm>
          <a:prstGeom prst="rect">
            <a:avLst/>
          </a:prstGeom>
          <a:noFill/>
          <a:ln/>
        </p:spPr>
        <p:txBody>
          <a:bodyPr wrap="square" lIns="0" tIns="0" rIns="0" bIns="0" rtlCol="0" anchor="t"/>
          <a:lstStyle/>
          <a:p>
            <a:pPr indent="0" marL="0">
              <a:buNone/>
            </a:pPr>
            <a:r>
              <a:rPr lang="en-US" sz="1900" b="1" dirty="0">
                <a:solidFill>
                  <a:schemeClr val="tx2"/>
                </a:solidFill>
              </a:rPr>
              <a:t>Pedido y pago</a:t>
            </a:r>
            <a:endParaRPr lang="en-US" sz="1900" dirty="0"/>
          </a:p>
        </p:txBody>
      </p:sp>
      <p:sp>
        <p:nvSpPr>
          <p:cNvPr id="20" name="Text 15"/>
          <p:cNvSpPr txBox="1"/>
          <p:nvPr/>
        </p:nvSpPr>
        <p:spPr>
          <a:xfrm>
            <a:off x="6438748" y="4206240"/>
            <a:ext cx="2144954" cy="1508760"/>
          </a:xfrm>
          <a:prstGeom prst="rect">
            <a:avLst/>
          </a:prstGeom>
          <a:noFill/>
          <a:ln/>
        </p:spPr>
        <p:txBody>
          <a:bodyPr wrap="square" lIns="0" tIns="0" rIns="0" bIns="0" rtlCol="0" anchor="t"/>
          <a:lstStyle/>
          <a:p>
            <a:pPr indent="0" marL="0">
              <a:buNone/>
            </a:pPr>
            <a:r>
              <a:rPr lang="en-US" sz="1500" dirty="0">
                <a:solidFill>
                  <a:schemeClr val="tx1"/>
                </a:solidFill>
              </a:rPr>
              <a:t>El total antes de pagar, la pasarela simulada y la vista de comercio con su código de retiro</a:t>
            </a:r>
            <a:endParaRPr lang="en-US" sz="1500" dirty="0"/>
          </a:p>
        </p:txBody>
      </p:sp>
      <p:sp>
        <p:nvSpPr>
          <p:cNvPr id="21" name="Casos borde"/>
          <p:cNvSpPr/>
          <p:nvPr/>
        </p:nvSpPr>
        <p:spPr>
          <a:xfrm>
            <a:off x="9040901" y="2514600"/>
            <a:ext cx="2602154" cy="3291840"/>
          </a:xfrm>
          <a:prstGeom prst="roundRect">
            <a:avLst>
              <a:gd name="adj" fmla="val 4217"/>
            </a:avLst>
          </a:prstGeom>
          <a:solidFill>
            <a:schemeClr val="bg1"/>
          </a:solidFill>
          <a:ln w="12700">
            <a:solidFill>
              <a:schemeClr val="bg1"/>
            </a:solidFill>
            <a:prstDash val="solid"/>
          </a:ln>
        </p:spPr>
      </p:sp>
      <p:sp>
        <p:nvSpPr>
          <p:cNvPr id="22" name="Número"/>
          <p:cNvSpPr txBox="1"/>
          <p:nvPr/>
        </p:nvSpPr>
        <p:spPr>
          <a:xfrm>
            <a:off x="9269501" y="2743200"/>
            <a:ext cx="502920" cy="50292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900" b="1" dirty="0">
                <a:solidFill>
                  <a:schemeClr val="bg1"/>
                </a:solidFill>
              </a:rPr>
              <a:t>4</a:t>
            </a:r>
            <a:endParaRPr lang="en-US" sz="1900" dirty="0"/>
          </a:p>
        </p:txBody>
      </p:sp>
      <p:pic>
        <p:nvPicPr>
          <p:cNvPr id="23" name="Image 3" descr="Casos borde">    </p:cNvPr>
          <p:cNvPicPr>
            <a:picLocks noChangeAspect="1"/>
          </p:cNvPicPr>
          <p:nvPr/>
        </p:nvPicPr>
        <p:blipFill>
          <a:blip r:embed="rId4"/>
          <a:stretch>
            <a:fillRect/>
          </a:stretch>
        </p:blipFill>
        <p:spPr>
          <a:xfrm>
            <a:off x="10957255" y="2788920"/>
            <a:ext cx="411480" cy="411480"/>
          </a:xfrm>
          <a:prstGeom prst="rect">
            <a:avLst/>
          </a:prstGeom>
        </p:spPr>
      </p:pic>
      <p:sp>
        <p:nvSpPr>
          <p:cNvPr id="24" name="Text 18"/>
          <p:cNvSpPr txBox="1"/>
          <p:nvPr/>
        </p:nvSpPr>
        <p:spPr>
          <a:xfrm>
            <a:off x="9269501" y="3429000"/>
            <a:ext cx="2144954" cy="731520"/>
          </a:xfrm>
          <a:prstGeom prst="rect">
            <a:avLst/>
          </a:prstGeom>
          <a:noFill/>
          <a:ln/>
        </p:spPr>
        <p:txBody>
          <a:bodyPr wrap="square" lIns="0" tIns="0" rIns="0" bIns="0" rtlCol="0" anchor="t"/>
          <a:lstStyle/>
          <a:p>
            <a:pPr indent="0" marL="0">
              <a:buNone/>
            </a:pPr>
            <a:r>
              <a:rPr lang="en-US" sz="1900" b="1" dirty="0">
                <a:solidFill>
                  <a:schemeClr val="tx2"/>
                </a:solidFill>
              </a:rPr>
              <a:t>Casos borde</a:t>
            </a:r>
            <a:endParaRPr lang="en-US" sz="1900" dirty="0"/>
          </a:p>
        </p:txBody>
      </p:sp>
      <p:sp>
        <p:nvSpPr>
          <p:cNvPr id="25" name="Text 19"/>
          <p:cNvSpPr txBox="1"/>
          <p:nvPr/>
        </p:nvSpPr>
        <p:spPr>
          <a:xfrm>
            <a:off x="9269501" y="4206240"/>
            <a:ext cx="2144954" cy="1508760"/>
          </a:xfrm>
          <a:prstGeom prst="rect">
            <a:avLst/>
          </a:prstGeom>
          <a:noFill/>
          <a:ln/>
        </p:spPr>
        <p:txBody>
          <a:bodyPr wrap="square" lIns="0" tIns="0" rIns="0" bIns="0" rtlCol="0" anchor="t"/>
          <a:lstStyle/>
          <a:p>
            <a:pPr indent="0" marL="0">
              <a:buNone/>
            </a:pPr>
            <a:r>
              <a:rPr lang="en-US" sz="1500" dirty="0">
                <a:solidFill>
                  <a:schemeClr val="tx1"/>
                </a:solidFill>
              </a:rPr>
              <a:t>Dos versiones de un campo, PIN incorrecto, enlace no disponible y texto al 200%</a:t>
            </a:r>
            <a:endParaRPr lang="en-US" sz="15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MEJORAS FUTURAS</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Lo que está diseñado y viene después</a:t>
            </a:r>
            <a:endParaRPr lang="en-US" sz="3200" dirty="0"/>
          </a:p>
        </p:txBody>
      </p:sp>
      <p:sp>
        <p:nvSpPr>
          <p:cNvPr id="4" name="Medicamentos y CESFAM"/>
          <p:cNvSpPr/>
          <p:nvPr/>
        </p:nvSpPr>
        <p:spPr>
          <a:xfrm>
            <a:off x="548640" y="1600200"/>
            <a:ext cx="3545738" cy="2148840"/>
          </a:xfrm>
          <a:prstGeom prst="roundRect">
            <a:avLst>
              <a:gd name="adj" fmla="val 5106"/>
            </a:avLst>
          </a:prstGeom>
          <a:solidFill>
            <a:schemeClr val="accent4"/>
          </a:solidFill>
          <a:ln w="12700">
            <a:solidFill>
              <a:schemeClr val="accent4"/>
            </a:solidFill>
            <a:prstDash val="solid"/>
          </a:ln>
        </p:spPr>
      </p:sp>
      <p:sp>
        <p:nvSpPr>
          <p:cNvPr id="5" name="Círculo de ícono"/>
          <p:cNvSpPr/>
          <p:nvPr/>
        </p:nvSpPr>
        <p:spPr>
          <a:xfrm>
            <a:off x="777240" y="1828800"/>
            <a:ext cx="566928" cy="566928"/>
          </a:xfrm>
          <a:prstGeom prst="ellipse">
            <a:avLst/>
          </a:prstGeom>
          <a:solidFill>
            <a:schemeClr val="tx2"/>
          </a:solidFill>
          <a:ln w="12700">
            <a:solidFill>
              <a:schemeClr val="tx2"/>
            </a:solidFill>
            <a:prstDash val="solid"/>
          </a:ln>
        </p:spPr>
      </p:sp>
      <p:pic>
        <p:nvPicPr>
          <p:cNvPr id="6" name="Image 0" descr="Ícono Pill">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508760" y="1828800"/>
            <a:ext cx="2448458" cy="566928"/>
          </a:xfrm>
          <a:prstGeom prst="rect">
            <a:avLst/>
          </a:prstGeom>
          <a:noFill/>
          <a:ln/>
        </p:spPr>
        <p:txBody>
          <a:bodyPr wrap="square" lIns="0" tIns="0" rIns="0" bIns="0" rtlCol="0" anchor="ctr"/>
          <a:lstStyle/>
          <a:p>
            <a:pPr indent="0" marL="0">
              <a:buNone/>
            </a:pPr>
            <a:r>
              <a:rPr lang="en-US" sz="1800" b="1" dirty="0">
                <a:solidFill>
                  <a:schemeClr val="tx1"/>
                </a:solidFill>
              </a:rPr>
              <a:t>Medicamentos y CESFAM</a:t>
            </a:r>
            <a:endParaRPr lang="en-US" sz="1800" dirty="0"/>
          </a:p>
        </p:txBody>
      </p:sp>
      <p:sp>
        <p:nvSpPr>
          <p:cNvPr id="8" name="Text 5"/>
          <p:cNvSpPr txBox="1"/>
          <p:nvPr/>
        </p:nvSpPr>
        <p:spPr>
          <a:xfrm>
            <a:off x="777240" y="2514600"/>
            <a:ext cx="3088538" cy="1143000"/>
          </a:xfrm>
          <a:prstGeom prst="rect">
            <a:avLst/>
          </a:prstGeom>
          <a:noFill/>
          <a:ln/>
        </p:spPr>
        <p:txBody>
          <a:bodyPr wrap="square" lIns="0" tIns="0" rIns="0" bIns="0" rtlCol="0" anchor="t"/>
          <a:lstStyle/>
          <a:p>
            <a:pPr indent="0" marL="0">
              <a:buNone/>
            </a:pPr>
            <a:r>
              <a:rPr lang="en-US" sz="1500" dirty="0">
                <a:solidFill>
                  <a:schemeClr val="tx1"/>
                </a:solidFill>
              </a:rPr>
              <a:t>Primera prioridad de la fase 2. Tres de diez entrevistadas dependen del hospital o del consultorio para sus fármacos</a:t>
            </a:r>
            <a:endParaRPr lang="en-US" sz="1500" dirty="0"/>
          </a:p>
        </p:txBody>
      </p:sp>
      <p:sp>
        <p:nvSpPr>
          <p:cNvPr id="9" name="App móvil nativa"/>
          <p:cNvSpPr/>
          <p:nvPr/>
        </p:nvSpPr>
        <p:spPr>
          <a:xfrm>
            <a:off x="4322978" y="1600200"/>
            <a:ext cx="3545738" cy="2148840"/>
          </a:xfrm>
          <a:prstGeom prst="roundRect">
            <a:avLst>
              <a:gd name="adj" fmla="val 5106"/>
            </a:avLst>
          </a:prstGeom>
          <a:solidFill>
            <a:schemeClr val="bg1"/>
          </a:solidFill>
          <a:ln w="12700">
            <a:solidFill>
              <a:schemeClr val="bg1"/>
            </a:solidFill>
            <a:prstDash val="solid"/>
          </a:ln>
        </p:spPr>
      </p:sp>
      <p:sp>
        <p:nvSpPr>
          <p:cNvPr id="10" name="Círculo de ícono"/>
          <p:cNvSpPr/>
          <p:nvPr/>
        </p:nvSpPr>
        <p:spPr>
          <a:xfrm>
            <a:off x="4551578" y="1828800"/>
            <a:ext cx="566928" cy="566928"/>
          </a:xfrm>
          <a:prstGeom prst="ellipse">
            <a:avLst/>
          </a:prstGeom>
          <a:solidFill>
            <a:schemeClr val="tx2"/>
          </a:solidFill>
          <a:ln w="12700">
            <a:solidFill>
              <a:schemeClr val="tx2"/>
            </a:solidFill>
            <a:prstDash val="solid"/>
          </a:ln>
        </p:spPr>
      </p:sp>
      <p:pic>
        <p:nvPicPr>
          <p:cNvPr id="11" name="Image 1" descr="Ícono Smartphone">    </p:cNvPr>
          <p:cNvPicPr>
            <a:picLocks noChangeAspect="1"/>
          </p:cNvPicPr>
          <p:nvPr/>
        </p:nvPicPr>
        <p:blipFill>
          <a:blip r:embed="rId2"/>
          <a:stretch>
            <a:fillRect/>
          </a:stretch>
        </p:blipFill>
        <p:spPr>
          <a:xfrm>
            <a:off x="4687641" y="1964863"/>
            <a:ext cx="294803" cy="294803"/>
          </a:xfrm>
          <a:prstGeom prst="rect">
            <a:avLst/>
          </a:prstGeom>
        </p:spPr>
      </p:pic>
      <p:sp>
        <p:nvSpPr>
          <p:cNvPr id="12" name="Text 8"/>
          <p:cNvSpPr txBox="1"/>
          <p:nvPr/>
        </p:nvSpPr>
        <p:spPr>
          <a:xfrm>
            <a:off x="5283098" y="1828800"/>
            <a:ext cx="2448458" cy="566928"/>
          </a:xfrm>
          <a:prstGeom prst="rect">
            <a:avLst/>
          </a:prstGeom>
          <a:noFill/>
          <a:ln/>
        </p:spPr>
        <p:txBody>
          <a:bodyPr wrap="square" lIns="0" tIns="0" rIns="0" bIns="0" rtlCol="0" anchor="ctr"/>
          <a:lstStyle/>
          <a:p>
            <a:pPr indent="0" marL="0">
              <a:buNone/>
            </a:pPr>
            <a:r>
              <a:rPr lang="en-US" sz="1800" b="1" dirty="0">
                <a:solidFill>
                  <a:schemeClr val="tx1"/>
                </a:solidFill>
              </a:rPr>
              <a:t>App móvil nativa</a:t>
            </a:r>
            <a:endParaRPr lang="en-US" sz="1800" dirty="0"/>
          </a:p>
        </p:txBody>
      </p:sp>
      <p:sp>
        <p:nvSpPr>
          <p:cNvPr id="13" name="Text 9"/>
          <p:cNvSpPr txBox="1"/>
          <p:nvPr/>
        </p:nvSpPr>
        <p:spPr>
          <a:xfrm>
            <a:off x="4551578" y="2514600"/>
            <a:ext cx="3088538" cy="1143000"/>
          </a:xfrm>
          <a:prstGeom prst="rect">
            <a:avLst/>
          </a:prstGeom>
          <a:noFill/>
          <a:ln/>
        </p:spPr>
        <p:txBody>
          <a:bodyPr wrap="square" lIns="0" tIns="0" rIns="0" bIns="0" rtlCol="0" anchor="t"/>
          <a:lstStyle/>
          <a:p>
            <a:pPr indent="0" marL="0">
              <a:buNone/>
            </a:pPr>
            <a:r>
              <a:rPr lang="en-US" sz="1500" dirty="0">
                <a:solidFill>
                  <a:schemeClr val="tx1"/>
                </a:solidFill>
              </a:rPr>
              <a:t>Es la visión de MATU. En el semestre se construye como app web mobile first (ADR-026)</a:t>
            </a:r>
            <a:endParaRPr lang="en-US" sz="1500" dirty="0"/>
          </a:p>
        </p:txBody>
      </p:sp>
      <p:sp>
        <p:nvSpPr>
          <p:cNvPr id="14" name="Pago dividido entre familiares"/>
          <p:cNvSpPr/>
          <p:nvPr/>
        </p:nvSpPr>
        <p:spPr>
          <a:xfrm>
            <a:off x="8097317" y="1600200"/>
            <a:ext cx="3545738" cy="2148840"/>
          </a:xfrm>
          <a:prstGeom prst="roundRect">
            <a:avLst>
              <a:gd name="adj" fmla="val 5106"/>
            </a:avLst>
          </a:prstGeom>
          <a:solidFill>
            <a:schemeClr val="bg1"/>
          </a:solidFill>
          <a:ln w="12700">
            <a:solidFill>
              <a:schemeClr val="bg1"/>
            </a:solidFill>
            <a:prstDash val="solid"/>
          </a:ln>
        </p:spPr>
      </p:sp>
      <p:sp>
        <p:nvSpPr>
          <p:cNvPr id="15" name="Círculo de ícono"/>
          <p:cNvSpPr/>
          <p:nvPr/>
        </p:nvSpPr>
        <p:spPr>
          <a:xfrm>
            <a:off x="8325917" y="1828800"/>
            <a:ext cx="566928" cy="566928"/>
          </a:xfrm>
          <a:prstGeom prst="ellipse">
            <a:avLst/>
          </a:prstGeom>
          <a:solidFill>
            <a:schemeClr val="tx2"/>
          </a:solidFill>
          <a:ln w="12700">
            <a:solidFill>
              <a:schemeClr val="tx2"/>
            </a:solidFill>
            <a:prstDash val="solid"/>
          </a:ln>
        </p:spPr>
      </p:sp>
      <p:pic>
        <p:nvPicPr>
          <p:cNvPr id="16" name="Image 2" descr="Ícono Users">    </p:cNvPr>
          <p:cNvPicPr>
            <a:picLocks noChangeAspect="1"/>
          </p:cNvPicPr>
          <p:nvPr/>
        </p:nvPicPr>
        <p:blipFill>
          <a:blip r:embed="rId3"/>
          <a:stretch>
            <a:fillRect/>
          </a:stretch>
        </p:blipFill>
        <p:spPr>
          <a:xfrm>
            <a:off x="8461980" y="1964863"/>
            <a:ext cx="294803" cy="294803"/>
          </a:xfrm>
          <a:prstGeom prst="rect">
            <a:avLst/>
          </a:prstGeom>
        </p:spPr>
      </p:pic>
      <p:sp>
        <p:nvSpPr>
          <p:cNvPr id="17" name="Text 12"/>
          <p:cNvSpPr txBox="1"/>
          <p:nvPr/>
        </p:nvSpPr>
        <p:spPr>
          <a:xfrm>
            <a:off x="9057437" y="1828800"/>
            <a:ext cx="2448458" cy="566928"/>
          </a:xfrm>
          <a:prstGeom prst="rect">
            <a:avLst/>
          </a:prstGeom>
          <a:noFill/>
          <a:ln/>
        </p:spPr>
        <p:txBody>
          <a:bodyPr wrap="square" lIns="0" tIns="0" rIns="0" bIns="0" rtlCol="0" anchor="ctr"/>
          <a:lstStyle/>
          <a:p>
            <a:pPr indent="0" marL="0">
              <a:buNone/>
            </a:pPr>
            <a:r>
              <a:rPr lang="en-US" sz="1800" b="1" dirty="0">
                <a:solidFill>
                  <a:schemeClr val="tx1"/>
                </a:solidFill>
              </a:rPr>
              <a:t>Pago dividido entre familiares</a:t>
            </a:r>
            <a:endParaRPr lang="en-US" sz="1800" dirty="0"/>
          </a:p>
        </p:txBody>
      </p:sp>
      <p:sp>
        <p:nvSpPr>
          <p:cNvPr id="18" name="Text 13"/>
          <p:cNvSpPr txBox="1"/>
          <p:nvPr/>
        </p:nvSpPr>
        <p:spPr>
          <a:xfrm>
            <a:off x="8325917" y="2514600"/>
            <a:ext cx="3088538" cy="1143000"/>
          </a:xfrm>
          <a:prstGeom prst="rect">
            <a:avLst/>
          </a:prstGeom>
          <a:noFill/>
          <a:ln/>
        </p:spPr>
        <p:txBody>
          <a:bodyPr wrap="square" lIns="0" tIns="0" rIns="0" bIns="0" rtlCol="0" anchor="t"/>
          <a:lstStyle/>
          <a:p>
            <a:pPr indent="0" marL="0">
              <a:buNone/>
            </a:pPr>
            <a:r>
              <a:rPr lang="en-US" sz="1500" dirty="0">
                <a:solidFill>
                  <a:schemeClr val="tx1"/>
                </a:solidFill>
              </a:rPr>
              <a:t>Reparto del gasto, respaldo y cobro prorrateado (RF-22 a RF-24). La tabla ya existe</a:t>
            </a:r>
            <a:endParaRPr lang="en-US" sz="1500" dirty="0"/>
          </a:p>
        </p:txBody>
      </p:sp>
      <p:sp>
        <p:nvSpPr>
          <p:cNvPr id="19" name="Reposición programada"/>
          <p:cNvSpPr/>
          <p:nvPr/>
        </p:nvSpPr>
        <p:spPr>
          <a:xfrm>
            <a:off x="548640" y="3931920"/>
            <a:ext cx="3545738" cy="2148840"/>
          </a:xfrm>
          <a:prstGeom prst="roundRect">
            <a:avLst>
              <a:gd name="adj" fmla="val 5106"/>
            </a:avLst>
          </a:prstGeom>
          <a:solidFill>
            <a:schemeClr val="bg1"/>
          </a:solidFill>
          <a:ln w="12700">
            <a:solidFill>
              <a:schemeClr val="bg1"/>
            </a:solidFill>
            <a:prstDash val="solid"/>
          </a:ln>
        </p:spPr>
      </p:sp>
      <p:sp>
        <p:nvSpPr>
          <p:cNvPr id="20" name="Círculo de ícono"/>
          <p:cNvSpPr/>
          <p:nvPr/>
        </p:nvSpPr>
        <p:spPr>
          <a:xfrm>
            <a:off x="777240" y="4160520"/>
            <a:ext cx="566928" cy="566928"/>
          </a:xfrm>
          <a:prstGeom prst="ellipse">
            <a:avLst/>
          </a:prstGeom>
          <a:solidFill>
            <a:schemeClr val="tx2"/>
          </a:solidFill>
          <a:ln w="12700">
            <a:solidFill>
              <a:schemeClr val="tx2"/>
            </a:solidFill>
            <a:prstDash val="solid"/>
          </a:ln>
        </p:spPr>
      </p:sp>
      <p:pic>
        <p:nvPicPr>
          <p:cNvPr id="21" name="Image 3" descr="Ícono Repeat">    </p:cNvPr>
          <p:cNvPicPr>
            <a:picLocks noChangeAspect="1"/>
          </p:cNvPicPr>
          <p:nvPr/>
        </p:nvPicPr>
        <p:blipFill>
          <a:blip r:embed="rId4"/>
          <a:stretch>
            <a:fillRect/>
          </a:stretch>
        </p:blipFill>
        <p:spPr>
          <a:xfrm>
            <a:off x="913303" y="4296583"/>
            <a:ext cx="294803" cy="294803"/>
          </a:xfrm>
          <a:prstGeom prst="rect">
            <a:avLst/>
          </a:prstGeom>
        </p:spPr>
      </p:pic>
      <p:sp>
        <p:nvSpPr>
          <p:cNvPr id="22" name="Text 16"/>
          <p:cNvSpPr txBox="1"/>
          <p:nvPr/>
        </p:nvSpPr>
        <p:spPr>
          <a:xfrm>
            <a:off x="1508760" y="4160520"/>
            <a:ext cx="2448458" cy="566928"/>
          </a:xfrm>
          <a:prstGeom prst="rect">
            <a:avLst/>
          </a:prstGeom>
          <a:noFill/>
          <a:ln/>
        </p:spPr>
        <p:txBody>
          <a:bodyPr wrap="square" lIns="0" tIns="0" rIns="0" bIns="0" rtlCol="0" anchor="ctr"/>
          <a:lstStyle/>
          <a:p>
            <a:pPr indent="0" marL="0">
              <a:buNone/>
            </a:pPr>
            <a:r>
              <a:rPr lang="en-US" sz="1800" b="1" dirty="0">
                <a:solidFill>
                  <a:schemeClr val="tx1"/>
                </a:solidFill>
              </a:rPr>
              <a:t>Reposición programada</a:t>
            </a:r>
            <a:endParaRPr lang="en-US" sz="1800" dirty="0"/>
          </a:p>
        </p:txBody>
      </p:sp>
      <p:sp>
        <p:nvSpPr>
          <p:cNvPr id="23" name="Text 17"/>
          <p:cNvSpPr txBox="1"/>
          <p:nvPr/>
        </p:nvSpPr>
        <p:spPr>
          <a:xfrm>
            <a:off x="777240" y="4846320"/>
            <a:ext cx="3088538" cy="1143000"/>
          </a:xfrm>
          <a:prstGeom prst="rect">
            <a:avLst/>
          </a:prstGeom>
          <a:noFill/>
          <a:ln/>
        </p:spPr>
        <p:txBody>
          <a:bodyPr wrap="square" lIns="0" tIns="0" rIns="0" bIns="0" rtlCol="0" anchor="t"/>
          <a:lstStyle/>
          <a:p>
            <a:pPr indent="0" marL="0">
              <a:buNone/>
            </a:pPr>
            <a:r>
              <a:rPr lang="en-US" sz="1500" dirty="0">
                <a:solidFill>
                  <a:schemeClr val="tx1"/>
                </a:solidFill>
              </a:rPr>
              <a:t>Envíos periódicos con frecuencia definida (RF-16 a RF-19)</a:t>
            </a:r>
            <a:endParaRPr lang="en-US" sz="1500" dirty="0"/>
          </a:p>
        </p:txBody>
      </p:sp>
      <p:sp>
        <p:nvSpPr>
          <p:cNvPr id="24" name="App de repartidor"/>
          <p:cNvSpPr/>
          <p:nvPr/>
        </p:nvSpPr>
        <p:spPr>
          <a:xfrm>
            <a:off x="4322978" y="3931920"/>
            <a:ext cx="3545738" cy="2148840"/>
          </a:xfrm>
          <a:prstGeom prst="roundRect">
            <a:avLst>
              <a:gd name="adj" fmla="val 5106"/>
            </a:avLst>
          </a:prstGeom>
          <a:solidFill>
            <a:schemeClr val="bg1"/>
          </a:solidFill>
          <a:ln w="12700">
            <a:solidFill>
              <a:schemeClr val="bg1"/>
            </a:solidFill>
            <a:prstDash val="solid"/>
          </a:ln>
        </p:spPr>
      </p:sp>
      <p:sp>
        <p:nvSpPr>
          <p:cNvPr id="25" name="Círculo de ícono"/>
          <p:cNvSpPr/>
          <p:nvPr/>
        </p:nvSpPr>
        <p:spPr>
          <a:xfrm>
            <a:off x="4551578" y="4160520"/>
            <a:ext cx="566928" cy="566928"/>
          </a:xfrm>
          <a:prstGeom prst="ellipse">
            <a:avLst/>
          </a:prstGeom>
          <a:solidFill>
            <a:schemeClr val="tx2"/>
          </a:solidFill>
          <a:ln w="12700">
            <a:solidFill>
              <a:schemeClr val="tx2"/>
            </a:solidFill>
            <a:prstDash val="solid"/>
          </a:ln>
        </p:spPr>
      </p:sp>
      <p:pic>
        <p:nvPicPr>
          <p:cNvPr id="26" name="Image 4" descr="Ícono Bike">    </p:cNvPr>
          <p:cNvPicPr>
            <a:picLocks noChangeAspect="1"/>
          </p:cNvPicPr>
          <p:nvPr/>
        </p:nvPicPr>
        <p:blipFill>
          <a:blip r:embed="rId5"/>
          <a:stretch>
            <a:fillRect/>
          </a:stretch>
        </p:blipFill>
        <p:spPr>
          <a:xfrm>
            <a:off x="4687641" y="4296583"/>
            <a:ext cx="294803" cy="294803"/>
          </a:xfrm>
          <a:prstGeom prst="rect">
            <a:avLst/>
          </a:prstGeom>
        </p:spPr>
      </p:pic>
      <p:sp>
        <p:nvSpPr>
          <p:cNvPr id="27" name="Text 20"/>
          <p:cNvSpPr txBox="1"/>
          <p:nvPr/>
        </p:nvSpPr>
        <p:spPr>
          <a:xfrm>
            <a:off x="5283098" y="4160520"/>
            <a:ext cx="2448458" cy="566928"/>
          </a:xfrm>
          <a:prstGeom prst="rect">
            <a:avLst/>
          </a:prstGeom>
          <a:noFill/>
          <a:ln/>
        </p:spPr>
        <p:txBody>
          <a:bodyPr wrap="square" lIns="0" tIns="0" rIns="0" bIns="0" rtlCol="0" anchor="ctr"/>
          <a:lstStyle/>
          <a:p>
            <a:pPr indent="0" marL="0">
              <a:buNone/>
            </a:pPr>
            <a:r>
              <a:rPr lang="en-US" sz="1800" b="1" dirty="0">
                <a:solidFill>
                  <a:schemeClr val="tx1"/>
                </a:solidFill>
              </a:rPr>
              <a:t>App de repartidor</a:t>
            </a:r>
            <a:endParaRPr lang="en-US" sz="1800" dirty="0"/>
          </a:p>
        </p:txBody>
      </p:sp>
      <p:sp>
        <p:nvSpPr>
          <p:cNvPr id="28" name="Text 21"/>
          <p:cNvSpPr txBox="1"/>
          <p:nvPr/>
        </p:nvSpPr>
        <p:spPr>
          <a:xfrm>
            <a:off x="4551578" y="4846320"/>
            <a:ext cx="3088538" cy="1143000"/>
          </a:xfrm>
          <a:prstGeom prst="rect">
            <a:avLst/>
          </a:prstGeom>
          <a:noFill/>
          <a:ln/>
        </p:spPr>
        <p:txBody>
          <a:bodyPr wrap="square" lIns="0" tIns="0" rIns="0" bIns="0" rtlCol="0" anchor="t"/>
          <a:lstStyle/>
          <a:p>
            <a:pPr indent="0" marL="0">
              <a:buNone/>
            </a:pPr>
            <a:r>
              <a:rPr lang="en-US" sz="1500" dirty="0">
                <a:solidFill>
                  <a:schemeClr val="tx1"/>
                </a:solidFill>
              </a:rPr>
              <a:t>Ofertas en cascada, código y evidencia, y el cambio de local después de pagar (ADR-025 y ADR-027)</a:t>
            </a:r>
            <a:endParaRPr lang="en-US" sz="1500" dirty="0"/>
          </a:p>
        </p:txBody>
      </p:sp>
      <p:sp>
        <p:nvSpPr>
          <p:cNvPr id="29" name="Comercios reales en convenio"/>
          <p:cNvSpPr/>
          <p:nvPr/>
        </p:nvSpPr>
        <p:spPr>
          <a:xfrm>
            <a:off x="8097317" y="3931920"/>
            <a:ext cx="3545738" cy="2148840"/>
          </a:xfrm>
          <a:prstGeom prst="roundRect">
            <a:avLst>
              <a:gd name="adj" fmla="val 5106"/>
            </a:avLst>
          </a:prstGeom>
          <a:solidFill>
            <a:schemeClr val="bg1"/>
          </a:solidFill>
          <a:ln w="12700">
            <a:solidFill>
              <a:schemeClr val="bg1"/>
            </a:solidFill>
            <a:prstDash val="solid"/>
          </a:ln>
        </p:spPr>
      </p:sp>
      <p:sp>
        <p:nvSpPr>
          <p:cNvPr id="30" name="Círculo de ícono"/>
          <p:cNvSpPr/>
          <p:nvPr/>
        </p:nvSpPr>
        <p:spPr>
          <a:xfrm>
            <a:off x="8325917" y="4160520"/>
            <a:ext cx="566928" cy="566928"/>
          </a:xfrm>
          <a:prstGeom prst="ellipse">
            <a:avLst/>
          </a:prstGeom>
          <a:solidFill>
            <a:schemeClr val="tx2"/>
          </a:solidFill>
          <a:ln w="12700">
            <a:solidFill>
              <a:schemeClr val="tx2"/>
            </a:solidFill>
            <a:prstDash val="solid"/>
          </a:ln>
        </p:spPr>
      </p:sp>
      <p:pic>
        <p:nvPicPr>
          <p:cNvPr id="31" name="Image 5" descr="Ícono Handshake">    </p:cNvPr>
          <p:cNvPicPr>
            <a:picLocks noChangeAspect="1"/>
          </p:cNvPicPr>
          <p:nvPr/>
        </p:nvPicPr>
        <p:blipFill>
          <a:blip r:embed="rId6"/>
          <a:stretch>
            <a:fillRect/>
          </a:stretch>
        </p:blipFill>
        <p:spPr>
          <a:xfrm>
            <a:off x="8461980" y="4296583"/>
            <a:ext cx="294803" cy="294803"/>
          </a:xfrm>
          <a:prstGeom prst="rect">
            <a:avLst/>
          </a:prstGeom>
        </p:spPr>
      </p:pic>
      <p:sp>
        <p:nvSpPr>
          <p:cNvPr id="32" name="Text 24"/>
          <p:cNvSpPr txBox="1"/>
          <p:nvPr/>
        </p:nvSpPr>
        <p:spPr>
          <a:xfrm>
            <a:off x="9057437" y="4160520"/>
            <a:ext cx="2448458" cy="566928"/>
          </a:xfrm>
          <a:prstGeom prst="rect">
            <a:avLst/>
          </a:prstGeom>
          <a:noFill/>
          <a:ln/>
        </p:spPr>
        <p:txBody>
          <a:bodyPr wrap="square" lIns="0" tIns="0" rIns="0" bIns="0" rtlCol="0" anchor="ctr"/>
          <a:lstStyle/>
          <a:p>
            <a:pPr indent="0" marL="0">
              <a:buNone/>
            </a:pPr>
            <a:r>
              <a:rPr lang="en-US" sz="1800" b="1" dirty="0">
                <a:solidFill>
                  <a:schemeClr val="tx1"/>
                </a:solidFill>
              </a:rPr>
              <a:t>Comercios reales en convenio</a:t>
            </a:r>
            <a:endParaRPr lang="en-US" sz="1800" dirty="0"/>
          </a:p>
        </p:txBody>
      </p:sp>
      <p:sp>
        <p:nvSpPr>
          <p:cNvPr id="33" name="Text 25"/>
          <p:cNvSpPr txBox="1"/>
          <p:nvPr/>
        </p:nvSpPr>
        <p:spPr>
          <a:xfrm>
            <a:off x="8325917" y="4846320"/>
            <a:ext cx="3088538" cy="1143000"/>
          </a:xfrm>
          <a:prstGeom prst="rect">
            <a:avLst/>
          </a:prstGeom>
          <a:noFill/>
          <a:ln/>
        </p:spPr>
        <p:txBody>
          <a:bodyPr wrap="square" lIns="0" tIns="0" rIns="0" bIns="0" rtlCol="0" anchor="t"/>
          <a:lstStyle/>
          <a:p>
            <a:pPr indent="0" marL="0">
              <a:buNone/>
            </a:pPr>
            <a:r>
              <a:rPr lang="en-US" sz="1500" dirty="0">
                <a:solidFill>
                  <a:schemeClr val="tx1"/>
                </a:solidFill>
              </a:rPr>
              <a:t>Un adaptador real del puerto CatalogoComercio, sin tocar los módulos que lo usan</a:t>
            </a:r>
            <a:endParaRPr lang="en-US" sz="15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92608"/>
          </a:xfrm>
          <a:prstGeom prst="rect">
            <a:avLst/>
          </a:prstGeom>
          <a:noFill/>
          <a:ln/>
        </p:spPr>
        <p:txBody>
          <a:bodyPr wrap="square" lIns="0" tIns="0" rIns="0" bIns="0" rtlCol="0" anchor="ctr"/>
          <a:lstStyle/>
          <a:p>
            <a:pPr indent="0" marL="0">
              <a:buNone/>
            </a:pPr>
            <a:r>
              <a:rPr lang="en-US" sz="1300" b="1" spc="150" kern="0" dirty="0">
                <a:solidFill>
                  <a:schemeClr val="tx2"/>
                </a:solidFill>
              </a:rPr>
              <a:t>CONCLUSIÓN</a:t>
            </a:r>
            <a:endParaRPr lang="en-US" sz="1300" dirty="0"/>
          </a:p>
        </p:txBody>
      </p:sp>
      <p:sp>
        <p:nvSpPr>
          <p:cNvPr id="3" name="Text 1"/>
          <p:cNvSpPr/>
          <p:nvPr>
            <p:ph idx="103" type="title" hasCustomPrompt="1"/>
          </p:nvPr>
        </p:nvSpPr>
        <p:spPr>
          <a:xfrm>
            <a:off x="548640" y="658368"/>
            <a:ext cx="11094415"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Hacer transferible lo que sabe quien cuida</a:t>
            </a:r>
            <a:endParaRPr lang="en-US" sz="3200" dirty="0"/>
          </a:p>
        </p:txBody>
      </p:sp>
      <p:sp>
        <p:nvSpPr>
          <p:cNvPr id="4" name="Un problema medido"/>
          <p:cNvSpPr/>
          <p:nvPr/>
        </p:nvSpPr>
        <p:spPr>
          <a:xfrm>
            <a:off x="548640" y="1600200"/>
            <a:ext cx="3545738" cy="3154680"/>
          </a:xfrm>
          <a:prstGeom prst="roundRect">
            <a:avLst>
              <a:gd name="adj" fmla="val 3478"/>
            </a:avLst>
          </a:prstGeom>
          <a:solidFill>
            <a:schemeClr val="bg1"/>
          </a:solidFill>
          <a:ln w="12700">
            <a:solidFill>
              <a:schemeClr val="bg1"/>
            </a:solidFill>
            <a:prstDash val="solid"/>
          </a:ln>
        </p:spPr>
      </p:sp>
      <p:sp>
        <p:nvSpPr>
          <p:cNvPr id="5" name="Círculo de ícono"/>
          <p:cNvSpPr/>
          <p:nvPr/>
        </p:nvSpPr>
        <p:spPr>
          <a:xfrm>
            <a:off x="822960" y="1874520"/>
            <a:ext cx="777240" cy="777240"/>
          </a:xfrm>
          <a:prstGeom prst="ellipse">
            <a:avLst/>
          </a:prstGeom>
          <a:solidFill>
            <a:schemeClr val="tx2"/>
          </a:solidFill>
          <a:ln w="12700">
            <a:solidFill>
              <a:schemeClr val="tx2"/>
            </a:solidFill>
            <a:prstDash val="solid"/>
          </a:ln>
        </p:spPr>
      </p:sp>
      <p:pic>
        <p:nvPicPr>
          <p:cNvPr id="6" name="Image 0" descr="Ícono SearchCheck">    </p:cNvPr>
          <p:cNvPicPr>
            <a:picLocks noChangeAspect="1"/>
          </p:cNvPicPr>
          <p:nvPr/>
        </p:nvPicPr>
        <p:blipFill>
          <a:blip r:embed="rId1"/>
          <a:stretch>
            <a:fillRect/>
          </a:stretch>
        </p:blipFill>
        <p:spPr>
          <a:xfrm>
            <a:off x="1009498" y="2061058"/>
            <a:ext cx="404165" cy="404165"/>
          </a:xfrm>
          <a:prstGeom prst="rect">
            <a:avLst/>
          </a:prstGeom>
        </p:spPr>
      </p:pic>
      <p:sp>
        <p:nvSpPr>
          <p:cNvPr id="7" name="Text 4"/>
          <p:cNvSpPr txBox="1"/>
          <p:nvPr/>
        </p:nvSpPr>
        <p:spPr>
          <a:xfrm>
            <a:off x="822960" y="2834640"/>
            <a:ext cx="2997098" cy="45720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Un problema medido</a:t>
            </a:r>
            <a:endParaRPr lang="en-US" sz="2100" dirty="0"/>
          </a:p>
        </p:txBody>
      </p:sp>
      <p:sp>
        <p:nvSpPr>
          <p:cNvPr id="8" name="Text 5"/>
          <p:cNvSpPr txBox="1"/>
          <p:nvPr/>
        </p:nvSpPr>
        <p:spPr>
          <a:xfrm>
            <a:off x="822960" y="3337560"/>
            <a:ext cx="2997098" cy="1280160"/>
          </a:xfrm>
          <a:prstGeom prst="rect">
            <a:avLst/>
          </a:prstGeom>
          <a:noFill/>
          <a:ln/>
        </p:spPr>
        <p:txBody>
          <a:bodyPr wrap="square" lIns="0" tIns="0" rIns="0" bIns="0" rtlCol="0" anchor="t"/>
          <a:lstStyle/>
          <a:p>
            <a:pPr indent="0" marL="0">
              <a:buNone/>
            </a:pPr>
            <a:r>
              <a:rPr lang="en-US" sz="1600" dirty="0">
                <a:solidFill>
                  <a:schemeClr val="tx1"/>
                </a:solidFill>
              </a:rPr>
              <a:t>9 de 10 cuidadoras dejaron de salir por falta de relevo, y 6 de 10 se quedaron sin un insumo en tres meses.</a:t>
            </a:r>
            <a:endParaRPr lang="en-US" sz="1600" dirty="0"/>
          </a:p>
        </p:txBody>
      </p:sp>
      <p:sp>
        <p:nvSpPr>
          <p:cNvPr id="9" name="Una solución en orden"/>
          <p:cNvSpPr/>
          <p:nvPr/>
        </p:nvSpPr>
        <p:spPr>
          <a:xfrm>
            <a:off x="4322978" y="1600200"/>
            <a:ext cx="3545738" cy="3154680"/>
          </a:xfrm>
          <a:prstGeom prst="roundRect">
            <a:avLst>
              <a:gd name="adj" fmla="val 3478"/>
            </a:avLst>
          </a:prstGeom>
          <a:solidFill>
            <a:schemeClr val="bg1"/>
          </a:solidFill>
          <a:ln w="12700">
            <a:solidFill>
              <a:schemeClr val="bg1"/>
            </a:solidFill>
            <a:prstDash val="solid"/>
          </a:ln>
        </p:spPr>
      </p:sp>
      <p:sp>
        <p:nvSpPr>
          <p:cNvPr id="10" name="Círculo de ícono"/>
          <p:cNvSpPr/>
          <p:nvPr/>
        </p:nvSpPr>
        <p:spPr>
          <a:xfrm>
            <a:off x="4597298" y="1874520"/>
            <a:ext cx="777240" cy="777240"/>
          </a:xfrm>
          <a:prstGeom prst="ellipse">
            <a:avLst/>
          </a:prstGeom>
          <a:solidFill>
            <a:schemeClr val="tx2"/>
          </a:solidFill>
          <a:ln w="12700">
            <a:solidFill>
              <a:schemeClr val="tx2"/>
            </a:solidFill>
            <a:prstDash val="solid"/>
          </a:ln>
        </p:spPr>
      </p:sp>
      <p:pic>
        <p:nvPicPr>
          <p:cNvPr id="11" name="Image 1" descr="Ícono Layers">    </p:cNvPr>
          <p:cNvPicPr>
            <a:picLocks noChangeAspect="1"/>
          </p:cNvPicPr>
          <p:nvPr/>
        </p:nvPicPr>
        <p:blipFill>
          <a:blip r:embed="rId2"/>
          <a:stretch>
            <a:fillRect/>
          </a:stretch>
        </p:blipFill>
        <p:spPr>
          <a:xfrm>
            <a:off x="4783836" y="2061058"/>
            <a:ext cx="404165" cy="404165"/>
          </a:xfrm>
          <a:prstGeom prst="rect">
            <a:avLst/>
          </a:prstGeom>
        </p:spPr>
      </p:pic>
      <p:sp>
        <p:nvSpPr>
          <p:cNvPr id="12" name="Text 8"/>
          <p:cNvSpPr txBox="1"/>
          <p:nvPr/>
        </p:nvSpPr>
        <p:spPr>
          <a:xfrm>
            <a:off x="4597298" y="2834640"/>
            <a:ext cx="2997098" cy="45720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Una solución en orden</a:t>
            </a:r>
            <a:endParaRPr lang="en-US" sz="2100" dirty="0"/>
          </a:p>
        </p:txBody>
      </p:sp>
      <p:sp>
        <p:nvSpPr>
          <p:cNvPr id="13" name="Text 9"/>
          <p:cNvSpPr txBox="1"/>
          <p:nvPr/>
        </p:nvSpPr>
        <p:spPr>
          <a:xfrm>
            <a:off x="4597298" y="3337560"/>
            <a:ext cx="2997098" cy="1280160"/>
          </a:xfrm>
          <a:prstGeom prst="rect">
            <a:avLst/>
          </a:prstGeom>
          <a:noFill/>
          <a:ln/>
        </p:spPr>
        <p:txBody>
          <a:bodyPr wrap="square" lIns="0" tIns="0" rIns="0" bIns="0" rtlCol="0" anchor="t"/>
          <a:lstStyle/>
          <a:p>
            <a:pPr indent="0" marL="0">
              <a:buNone/>
            </a:pPr>
            <a:r>
              <a:rPr lang="en-US" sz="1600" dirty="0">
                <a:solidFill>
                  <a:schemeClr val="tx1"/>
                </a:solidFill>
              </a:rPr>
              <a:t>La ficha de relevo es el producto, la predicción es el diferenciador y el despacho es un servicio que se puede quitar.</a:t>
            </a:r>
            <a:endParaRPr lang="en-US" sz="1600" dirty="0"/>
          </a:p>
        </p:txBody>
      </p:sp>
      <p:sp>
        <p:nvSpPr>
          <p:cNvPr id="14" name="Seguro desde el diseño"/>
          <p:cNvSpPr/>
          <p:nvPr/>
        </p:nvSpPr>
        <p:spPr>
          <a:xfrm>
            <a:off x="8097317" y="1600200"/>
            <a:ext cx="3545738" cy="3154680"/>
          </a:xfrm>
          <a:prstGeom prst="roundRect">
            <a:avLst>
              <a:gd name="adj" fmla="val 3478"/>
            </a:avLst>
          </a:prstGeom>
          <a:solidFill>
            <a:schemeClr val="bg1"/>
          </a:solidFill>
          <a:ln w="12700">
            <a:solidFill>
              <a:schemeClr val="bg1"/>
            </a:solidFill>
            <a:prstDash val="solid"/>
          </a:ln>
        </p:spPr>
      </p:sp>
      <p:sp>
        <p:nvSpPr>
          <p:cNvPr id="15" name="Círculo de ícono"/>
          <p:cNvSpPr/>
          <p:nvPr/>
        </p:nvSpPr>
        <p:spPr>
          <a:xfrm>
            <a:off x="8371637" y="1874520"/>
            <a:ext cx="777240" cy="777240"/>
          </a:xfrm>
          <a:prstGeom prst="ellipse">
            <a:avLst/>
          </a:prstGeom>
          <a:solidFill>
            <a:schemeClr val="tx2"/>
          </a:solidFill>
          <a:ln w="12700">
            <a:solidFill>
              <a:schemeClr val="tx2"/>
            </a:solidFill>
            <a:prstDash val="solid"/>
          </a:ln>
        </p:spPr>
      </p:sp>
      <p:pic>
        <p:nvPicPr>
          <p:cNvPr id="16" name="Image 2" descr="Ícono ShieldCheck">    </p:cNvPr>
          <p:cNvPicPr>
            <a:picLocks noChangeAspect="1"/>
          </p:cNvPicPr>
          <p:nvPr/>
        </p:nvPicPr>
        <p:blipFill>
          <a:blip r:embed="rId3"/>
          <a:stretch>
            <a:fillRect/>
          </a:stretch>
        </p:blipFill>
        <p:spPr>
          <a:xfrm>
            <a:off x="8558174" y="2061058"/>
            <a:ext cx="404165" cy="404165"/>
          </a:xfrm>
          <a:prstGeom prst="rect">
            <a:avLst/>
          </a:prstGeom>
        </p:spPr>
      </p:pic>
      <p:sp>
        <p:nvSpPr>
          <p:cNvPr id="17" name="Text 12"/>
          <p:cNvSpPr txBox="1"/>
          <p:nvPr/>
        </p:nvSpPr>
        <p:spPr>
          <a:xfrm>
            <a:off x="8371637" y="2834640"/>
            <a:ext cx="2997098" cy="457200"/>
          </a:xfrm>
          <a:prstGeom prst="rect">
            <a:avLst/>
          </a:prstGeom>
          <a:noFill/>
          <a:ln/>
        </p:spPr>
        <p:txBody>
          <a:bodyPr wrap="square" lIns="0" tIns="0" rIns="0" bIns="0" rtlCol="0" anchor="t"/>
          <a:lstStyle/>
          <a:p>
            <a:pPr indent="0" marL="0">
              <a:buNone/>
            </a:pPr>
            <a:r>
              <a:rPr lang="en-US" sz="2100" b="1" dirty="0">
                <a:solidFill>
                  <a:schemeClr val="tx1"/>
                </a:solidFill>
                <a:latin typeface="+mj-lt" pitchFamily="34" charset="0"/>
                <a:ea typeface="+mj-lt" pitchFamily="34" charset="-122"/>
                <a:cs typeface="+mj-lt" pitchFamily="34" charset="-120"/>
              </a:rPr>
              <a:t>Seguro desde el diseño</a:t>
            </a:r>
            <a:endParaRPr lang="en-US" sz="2100" dirty="0"/>
          </a:p>
        </p:txBody>
      </p:sp>
      <p:sp>
        <p:nvSpPr>
          <p:cNvPr id="18" name="Text 13"/>
          <p:cNvSpPr txBox="1"/>
          <p:nvPr/>
        </p:nvSpPr>
        <p:spPr>
          <a:xfrm>
            <a:off x="8371637" y="3337560"/>
            <a:ext cx="2997098" cy="1280160"/>
          </a:xfrm>
          <a:prstGeom prst="rect">
            <a:avLst/>
          </a:prstGeom>
          <a:noFill/>
          <a:ln/>
        </p:spPr>
        <p:txBody>
          <a:bodyPr wrap="square" lIns="0" tIns="0" rIns="0" bIns="0" rtlCol="0" anchor="t"/>
          <a:lstStyle/>
          <a:p>
            <a:pPr indent="0" marL="0">
              <a:buNone/>
            </a:pPr>
            <a:r>
              <a:rPr lang="en-US" sz="1600" dirty="0">
                <a:solidFill>
                  <a:schemeClr val="tx1"/>
                </a:solidFill>
              </a:rPr>
              <a:t>Cada familia aislada con RLS, la ficha cifrada con una clave por persona y la Ley 21.719 como requisito.</a:t>
            </a:r>
            <a:endParaRPr lang="en-US" sz="1600" dirty="0"/>
          </a:p>
        </p:txBody>
      </p:sp>
      <p:sp>
        <p:nvSpPr>
          <p:cNvPr id="19" name="Lo que falta"/>
          <p:cNvSpPr/>
          <p:nvPr/>
        </p:nvSpPr>
        <p:spPr>
          <a:xfrm>
            <a:off x="548640" y="4983480"/>
            <a:ext cx="11094415" cy="1143000"/>
          </a:xfrm>
          <a:prstGeom prst="roundRect">
            <a:avLst>
              <a:gd name="adj" fmla="val 9600"/>
            </a:avLst>
          </a:prstGeom>
          <a:solidFill>
            <a:schemeClr val="accent4"/>
          </a:solidFill>
          <a:ln w="12700">
            <a:solidFill>
              <a:schemeClr val="accent4"/>
            </a:solidFill>
            <a:prstDash val="solid"/>
          </a:ln>
        </p:spPr>
      </p:sp>
      <p:sp>
        <p:nvSpPr>
          <p:cNvPr id="20" name="Círculo de ícono"/>
          <p:cNvSpPr/>
          <p:nvPr/>
        </p:nvSpPr>
        <p:spPr>
          <a:xfrm>
            <a:off x="822960" y="5230368"/>
            <a:ext cx="640080" cy="640080"/>
          </a:xfrm>
          <a:prstGeom prst="ellipse">
            <a:avLst/>
          </a:prstGeom>
          <a:solidFill>
            <a:schemeClr val="accent2"/>
          </a:solidFill>
          <a:ln w="12700">
            <a:solidFill>
              <a:schemeClr val="accent2"/>
            </a:solidFill>
            <a:prstDash val="solid"/>
          </a:ln>
        </p:spPr>
      </p:sp>
      <p:pic>
        <p:nvPicPr>
          <p:cNvPr id="21" name="Image 3" descr="Ícono ListTodo">    </p:cNvPr>
          <p:cNvPicPr>
            <a:picLocks noChangeAspect="1"/>
          </p:cNvPicPr>
          <p:nvPr/>
        </p:nvPicPr>
        <p:blipFill>
          <a:blip r:embed="rId4"/>
          <a:stretch>
            <a:fillRect/>
          </a:stretch>
        </p:blipFill>
        <p:spPr>
          <a:xfrm>
            <a:off x="976579" y="5383987"/>
            <a:ext cx="332842" cy="332842"/>
          </a:xfrm>
          <a:prstGeom prst="rect">
            <a:avLst/>
          </a:prstGeom>
        </p:spPr>
      </p:pic>
      <p:sp>
        <p:nvSpPr>
          <p:cNvPr id="22" name="Text 16"/>
          <p:cNvSpPr txBox="1"/>
          <p:nvPr/>
        </p:nvSpPr>
        <p:spPr>
          <a:xfrm>
            <a:off x="1691640" y="5029200"/>
            <a:ext cx="9722815" cy="1051560"/>
          </a:xfrm>
          <a:prstGeom prst="rect">
            <a:avLst/>
          </a:prstGeom>
          <a:noFill/>
          <a:ln/>
        </p:spPr>
        <p:txBody>
          <a:bodyPr wrap="square" lIns="0" tIns="0" rIns="0" bIns="0" rtlCol="0" anchor="ctr"/>
          <a:lstStyle/>
          <a:p>
            <a:pPr indent="0" marL="0">
              <a:buNone/>
            </a:pPr>
            <a:r>
              <a:rPr lang="en-US" sz="1600" b="1" dirty="0">
                <a:solidFill>
                  <a:schemeClr val="tx1"/>
                </a:solidFill>
              </a:rPr>
              <a:t>Lo que falta, dicho claro. </a:t>
            </a:r>
            <a:pPr indent="0" marL="0">
              <a:buNone/>
            </a:pPr>
            <a:r>
              <a:rPr lang="en-US" sz="1600" dirty="0">
                <a:solidFill>
                  <a:schemeClr val="tx1"/>
                </a:solidFill>
              </a:rPr>
              <a:t>La consulta legal antes de cobrar dinero real, una figura jurídica para vender y los convenios con comercios. Por eso el semestre entrega un entorno de demostración.</a:t>
            </a:r>
            <a:endParaRPr lang="en-US" sz="16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Logo de MATU">    </p:cNvPr>
          <p:cNvPicPr>
            <a:picLocks noChangeAspect="1"/>
          </p:cNvPicPr>
          <p:nvPr/>
        </p:nvPicPr>
        <p:blipFill>
          <a:blip r:embed="rId1"/>
          <a:stretch>
            <a:fillRect/>
          </a:stretch>
        </p:blipFill>
        <p:spPr>
          <a:xfrm>
            <a:off x="5410048" y="1005840"/>
            <a:ext cx="1371600" cy="1371600"/>
          </a:xfrm>
          <a:prstGeom prst="rect">
            <a:avLst/>
          </a:prstGeom>
        </p:spPr>
      </p:pic>
      <p:sp>
        <p:nvSpPr>
          <p:cNvPr id="3" name="Text 0"/>
          <p:cNvSpPr txBox="1"/>
          <p:nvPr/>
        </p:nvSpPr>
        <p:spPr>
          <a:xfrm>
            <a:off x="914400" y="2606040"/>
            <a:ext cx="10362895" cy="1005840"/>
          </a:xfrm>
          <a:prstGeom prst="rect">
            <a:avLst/>
          </a:prstGeom>
          <a:noFill/>
          <a:ln/>
        </p:spPr>
        <p:txBody>
          <a:bodyPr wrap="square" lIns="0" tIns="0" rIns="0" bIns="0" rtlCol="0" anchor="ctr"/>
          <a:lstStyle/>
          <a:p>
            <a:pPr algn="ctr" indent="0" marL="0">
              <a:buNone/>
            </a:pPr>
            <a:r>
              <a:rPr lang="en-US" sz="6000" b="1" dirty="0">
                <a:solidFill>
                  <a:schemeClr val="bg1"/>
                </a:solidFill>
                <a:latin typeface="+mj-lt" pitchFamily="34" charset="0"/>
                <a:ea typeface="+mj-lt" pitchFamily="34" charset="-122"/>
                <a:cs typeface="+mj-lt" pitchFamily="34" charset="-120"/>
              </a:rPr>
              <a:t>Gracias</a:t>
            </a:r>
            <a:endParaRPr lang="en-US" sz="6000" dirty="0"/>
          </a:p>
        </p:txBody>
      </p:sp>
      <p:sp>
        <p:nvSpPr>
          <p:cNvPr id="4" name="Text 1"/>
          <p:cNvSpPr txBox="1"/>
          <p:nvPr/>
        </p:nvSpPr>
        <p:spPr>
          <a:xfrm>
            <a:off x="914400" y="3611880"/>
            <a:ext cx="10362895" cy="548640"/>
          </a:xfrm>
          <a:prstGeom prst="rect">
            <a:avLst/>
          </a:prstGeom>
          <a:noFill/>
          <a:ln/>
        </p:spPr>
        <p:txBody>
          <a:bodyPr wrap="square" lIns="0" tIns="0" rIns="0" bIns="0" rtlCol="0" anchor="ctr"/>
          <a:lstStyle/>
          <a:p>
            <a:pPr algn="ctr" indent="0" marL="0">
              <a:buNone/>
            </a:pPr>
            <a:r>
              <a:rPr lang="en-US" sz="2600" dirty="0">
                <a:solidFill>
                  <a:schemeClr val="bg1"/>
                </a:solidFill>
              </a:rPr>
              <a:t>¿Preguntas?</a:t>
            </a:r>
            <a:endParaRPr lang="en-US" sz="2600" dirty="0"/>
          </a:p>
        </p:txBody>
      </p:sp>
      <p:sp>
        <p:nvSpPr>
          <p:cNvPr id="5" name="Text 2"/>
          <p:cNvSpPr txBox="1"/>
          <p:nvPr/>
        </p:nvSpPr>
        <p:spPr>
          <a:xfrm>
            <a:off x="914400" y="4434840"/>
            <a:ext cx="10362895" cy="457200"/>
          </a:xfrm>
          <a:prstGeom prst="rect">
            <a:avLst/>
          </a:prstGeom>
          <a:noFill/>
          <a:ln/>
        </p:spPr>
        <p:txBody>
          <a:bodyPr wrap="square" lIns="0" tIns="0" rIns="0" bIns="0" rtlCol="0" anchor="ctr"/>
          <a:lstStyle/>
          <a:p>
            <a:pPr algn="ctr" indent="0" marL="0">
              <a:buNone/>
            </a:pPr>
            <a:r>
              <a:rPr lang="en-US" sz="2000" b="1" dirty="0">
                <a:solidFill>
                  <a:schemeClr val="bg1"/>
                </a:solidFill>
              </a:rPr>
              <a:t>Jorge Espinoza · Martín Henríquez</a:t>
            </a:r>
            <a:endParaRPr lang="en-US" sz="2000" dirty="0"/>
          </a:p>
        </p:txBody>
      </p:sp>
      <p:sp>
        <p:nvSpPr>
          <p:cNvPr id="6" name="Text 3"/>
          <p:cNvSpPr txBox="1"/>
          <p:nvPr/>
        </p:nvSpPr>
        <p:spPr>
          <a:xfrm>
            <a:off x="914400" y="4937760"/>
            <a:ext cx="10362895" cy="365760"/>
          </a:xfrm>
          <a:prstGeom prst="rect">
            <a:avLst/>
          </a:prstGeom>
          <a:noFill/>
          <a:ln/>
        </p:spPr>
        <p:txBody>
          <a:bodyPr wrap="square" lIns="0" tIns="0" rIns="0" bIns="0" rtlCol="0" anchor="ctr"/>
          <a:lstStyle/>
          <a:p>
            <a:pPr algn="ctr" indent="0" marL="0">
              <a:buNone/>
            </a:pPr>
            <a:r>
              <a:rPr lang="en-US" sz="1500" dirty="0">
                <a:solidFill>
                  <a:schemeClr val="bg1"/>
                </a:solidFill>
              </a:rPr>
              <a:t>MATU · Sistema de continuidad del cuidado</a:t>
            </a:r>
            <a:endParaRPr lang="en-US" sz="1500" dirty="0"/>
          </a:p>
        </p:txBody>
      </p:sp>
      <p:sp>
        <p:nvSpPr>
          <p:cNvPr id="25" name="Slide Number Placeholder 0"/>
          <p:cNvSpPr>
            <a:spLocks noGrp="1"/>
          </p:cNvSpPr>
          <p:nvPr>
            <p:ph type="sldNum" sz="quarter" idx="4294967295"/>
          </p:nvPr>
        </p:nvSpPr>
        <p:spPr>
          <a:xfrm>
            <a:off x="11094415" y="633679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MATU">
  <a:themeElements>
    <a:clrScheme name="MATU">
      <a:dk1>
        <a:srgbClr val="13252A"/>
      </a:dk1>
      <a:lt1>
        <a:srgbClr val="FFFFFF"/>
      </a:lt1>
      <a:dk2>
        <a:srgbClr val="086764"/>
      </a:dk2>
      <a:lt2>
        <a:srgbClr val="ECF3F2"/>
      </a:lt2>
      <a:accent1>
        <a:srgbClr val="0D9A94"/>
      </a:accent1>
      <a:accent2>
        <a:srgbClr val="E3A43A"/>
      </a:accent2>
      <a:accent3>
        <a:srgbClr val="485B5F"/>
      </a:accent3>
      <a:accent4>
        <a:srgbClr val="E1EDEC"/>
      </a:accent4>
      <a:accent5>
        <a:srgbClr val="22663D"/>
      </a:accent5>
      <a:accent6>
        <a:srgbClr val="A8261B"/>
      </a:accent6>
      <a:hlink>
        <a:srgbClr val="086764"/>
      </a:hlink>
      <a:folHlink>
        <a:srgbClr val="485B5F"/>
      </a:folHlink>
    </a:clrScheme>
    <a:fontScheme name="MATU">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MATU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MATU · Presentación Fase 2</dc:title>
  <dc:subject>PptxGenJS Presentation</dc:subject>
  <dc:creator>Jorge Espinoza y Martín Henríquez</dc:creator>
  <cp:lastModifiedBy>Jorge Espinoza y Martín Henríquez</cp:lastModifiedBy>
  <cp:revision>1</cp:revision>
  <dcterms:created xsi:type="dcterms:W3CDTF">2026-10-28T13:03:22Z</dcterms:created>
  <dcterms:modified xsi:type="dcterms:W3CDTF">2026-10-28T13:03:22Z</dcterms:modified>
</cp:coreProperties>
</file>