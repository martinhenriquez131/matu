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c31eaa5-0249-ca6b-805c-b50b20efa01d}">
          <p14:sldIdLst>
            <p14:sldId id="256"/>
          </p14:sldIdLst>
        </p14:section>
        <p14:section name="Equipo" id="{f60cec05-5050-b67e-b37c-98be6fbdc386}">
          <p14:sldIdLst>
            <p14:sldId id="257"/>
          </p14:sldIdLst>
        </p14:section>
        <p14:section name="Contexto" id="{305862f1-b17d-adad-9060-20a02359c15b}">
          <p14:sldIdLst>
            <p14:sldId id="258"/>
          </p14:sldIdLst>
        </p14:section>
        <p14:section name="Objetivos" id="{81b84347-3938-5add-20d2-074181686860}">
          <p14:sldIdLst>
            <p14:sldId id="259"/>
            <p14:sldId id="260"/>
          </p14:sldIdLst>
        </p14:section>
        <p14:section name="Alcance y requerimientos" id="{3163d529-d0ed-b0a9-c9d3-86a4e5298a26}">
          <p14:sldIdLst>
            <p14:sldId id="261"/>
            <p14:sldId id="262"/>
          </p14:sldIdLst>
        </p14:section>
        <p14:section name="Metodología y cronograma" id="{87e2e867-a3ac-7724-38b4-5a49be3ffccc}">
          <p14:sldIdLst>
            <p14:sldId id="263"/>
            <p14:sldId id="264"/>
          </p14:sldIdLst>
        </p14:section>
        <p14:section name="Solución técnica" id="{95388648-6cf4-02ae-da9b-420b6bdd5a67}">
          <p14:sldIdLst>
            <p14:sldId id="265"/>
            <p14:sldId id="266"/>
            <p14:sldId id="267"/>
          </p14:sldIdLst>
        </p14:section>
        <p14:section name="Negocio" id="{30321be0-6831-46f6-e85c-e9b83b141e47}">
          <p14:sldIdLst>
            <p14:sldId id="268"/>
          </p14:sldIdLst>
        </p14:section>
        <p14:section name="Demostración" id="{f426fab9-c824-d6a7-a18a-9e0f152965a9}">
          <p14:sldIdLst>
            <p14:sldId id="269"/>
          </p14:sldIdLst>
        </p14:section>
        <p14:section name="Cierre" id="{9ad9a38d-9bfa-180e-e235-531b08f76385}">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específicos, cada uno con su sprint. Dos ya están cumplidos: la validación y el aislamiento entre familias. El tercero, la ficha con su relevo, es el que verán en la demo. El del pago cambió con el ADR-027: ahora es un solo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y 1 están cerrados. El 2, la ficha y el relevo, cierra este jueves. Quedan tres de construcción hasta la semana 15, y dos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Plan B: saltar de escena desde la guía, todo es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chemeClr val="tx2"/>
                </a:solidFill>
              </a:defRPr>
            </a:lvl1pPr>
          </a:lstStyle>
          <a:p>
            <a:pPr indent="0" marL="0">
              <a:buNone/>
            </a:pPr>
            <a:endParaRPr lang="en-US" sz="13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EQUIPO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Integrantes, roles y responsabilidades</a:t>
            </a:r>
            <a:endParaRPr lang="en-US" sz="3200" dirty="0"/>
          </a:p>
        </p:txBody>
      </p:sp>
      <p:sp>
        <p:nvSpPr>
          <p:cNvPr id="4" name="Tarjeta de Jorge Espinoza"/>
          <p:cNvSpPr/>
          <p:nvPr/>
        </p:nvSpPr>
        <p:spPr>
          <a:xfrm>
            <a:off x="548640" y="1600200"/>
            <a:ext cx="5394960"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care_plan · consumption · catalog</a:t>
            </a:r>
            <a:endParaRPr lang="en-US" sz="13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190488" y="1600200"/>
            <a:ext cx="5394960"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1052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19011" y="2128723"/>
            <a:ext cx="451714" cy="451714"/>
          </a:xfrm>
          <a:prstGeom prst="rect">
            <a:avLst/>
          </a:prstGeom>
        </p:spPr>
      </p:pic>
      <p:sp>
        <p:nvSpPr>
          <p:cNvPr id="15" name="Text 11"/>
          <p:cNvSpPr txBox="1"/>
          <p:nvPr/>
        </p:nvSpPr>
        <p:spPr>
          <a:xfrm>
            <a:off x="756208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6208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1052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10528"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iam · care_circle · ordering · payments · settlement · backoffice</a:t>
            </a:r>
            <a:endParaRPr lang="en-US" sz="1300" dirty="0"/>
          </a:p>
        </p:txBody>
      </p:sp>
      <p:sp>
        <p:nvSpPr>
          <p:cNvPr id="19" name="Text 15"/>
          <p:cNvSpPr txBox="1"/>
          <p:nvPr/>
        </p:nvSpPr>
        <p:spPr>
          <a:xfrm>
            <a:off x="651052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CONTEXTO · PROBLEMA Y PROPUESTA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 GENERAL</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accent4"/>
          </a:solidFill>
          <a:ln w="12700">
            <a:solidFill>
              <a:schemeClr val="accent4"/>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OBJETIVOS ESPECÍFICOS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300" b="1" dirty="0">
                <a:solidFill>
                  <a:schemeClr val="accent3"/>
                </a:solidFill>
              </a:rPr>
              <a:t>Objetivo</a:t>
            </a:r>
            <a:endParaRPr lang="en-US" sz="1300" dirty="0"/>
          </a:p>
        </p:txBody>
      </p:sp>
      <p:sp>
        <p:nvSpPr>
          <p:cNvPr id="5" name="Text 3"/>
          <p:cNvSpPr txBox="1"/>
          <p:nvPr/>
        </p:nvSpPr>
        <p:spPr>
          <a:xfrm>
            <a:off x="8366760" y="1481328"/>
            <a:ext cx="1280160" cy="274320"/>
          </a:xfrm>
          <a:prstGeom prst="rect">
            <a:avLst/>
          </a:prstGeom>
          <a:noFill/>
          <a:ln/>
        </p:spPr>
        <p:txBody>
          <a:bodyPr wrap="square" lIns="0" tIns="0" rIns="0" bIns="0" rtlCol="0" anchor="t"/>
          <a:lstStyle/>
          <a:p>
            <a:pPr algn="ctr" indent="0" marL="0">
              <a:buNone/>
            </a:pPr>
            <a:r>
              <a:rPr lang="en-US" sz="1300" b="1" dirty="0">
                <a:solidFill>
                  <a:schemeClr val="accent3"/>
                </a:solidFill>
              </a:rPr>
              <a:t>Sprint</a:t>
            </a:r>
            <a:endParaRPr lang="en-US" sz="1300" dirty="0"/>
          </a:p>
        </p:txBody>
      </p:sp>
      <p:sp>
        <p:nvSpPr>
          <p:cNvPr id="6" name="Text 4"/>
          <p:cNvSpPr txBox="1"/>
          <p:nvPr/>
        </p:nvSpPr>
        <p:spPr>
          <a:xfrm>
            <a:off x="9829800" y="1481328"/>
            <a:ext cx="1600200" cy="274320"/>
          </a:xfrm>
          <a:prstGeom prst="rect">
            <a:avLst/>
          </a:prstGeom>
          <a:noFill/>
          <a:ln/>
        </p:spPr>
        <p:txBody>
          <a:bodyPr wrap="square" lIns="0" tIns="0" rIns="0" bIns="0" rtlCol="0" anchor="t"/>
          <a:lstStyle/>
          <a:p>
            <a:pPr algn="ctr" indent="0" marL="0">
              <a:buNone/>
            </a:pPr>
            <a:r>
              <a:rPr lang="en-US" sz="1300" b="1" dirty="0">
                <a:solidFill>
                  <a:schemeClr val="accent3"/>
                </a:solidFill>
              </a:rPr>
              <a:t>Estado</a:t>
            </a:r>
            <a:endParaRPr lang="en-US" sz="13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731520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836676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829800" y="1901952"/>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731520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836676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829800" y="2505456"/>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731520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836676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829800" y="3108960"/>
            <a:ext cx="1600200" cy="329184"/>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 En curso</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731520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836676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829800" y="3712464"/>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731520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836676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829800" y="4315968"/>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731520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836676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829800" y="4919472"/>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731520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836676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829800" y="5522976"/>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ALCANCE</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entra en el semestre y qué no</a:t>
            </a:r>
            <a:endParaRPr lang="en-US" sz="3200" dirty="0"/>
          </a:p>
        </p:txBody>
      </p:sp>
      <p:sp>
        <p:nvSpPr>
          <p:cNvPr id="4" name="Funcionalidades"/>
          <p:cNvSpPr/>
          <p:nvPr/>
        </p:nvSpPr>
        <p:spPr>
          <a:xfrm>
            <a:off x="548640" y="1600200"/>
            <a:ext cx="5394960"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190488" y="1600200"/>
            <a:ext cx="5394960"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6480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00871" y="1992295"/>
            <a:ext cx="294803" cy="294803"/>
          </a:xfrm>
          <a:prstGeom prst="rect">
            <a:avLst/>
          </a:prstGeom>
        </p:spPr>
      </p:pic>
      <p:sp>
        <p:nvSpPr>
          <p:cNvPr id="21" name="Text 12"/>
          <p:cNvSpPr txBox="1"/>
          <p:nvPr/>
        </p:nvSpPr>
        <p:spPr>
          <a:xfrm>
            <a:off x="719632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10528" y="2688336"/>
            <a:ext cx="274320" cy="274320"/>
          </a:xfrm>
          <a:prstGeom prst="rect">
            <a:avLst/>
          </a:prstGeom>
        </p:spPr>
      </p:pic>
      <p:sp>
        <p:nvSpPr>
          <p:cNvPr id="23" name="Text 13"/>
          <p:cNvSpPr txBox="1"/>
          <p:nvPr/>
        </p:nvSpPr>
        <p:spPr>
          <a:xfrm>
            <a:off x="6967728"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10528" y="3374136"/>
            <a:ext cx="274320" cy="274320"/>
          </a:xfrm>
          <a:prstGeom prst="rect">
            <a:avLst/>
          </a:prstGeom>
        </p:spPr>
      </p:pic>
      <p:sp>
        <p:nvSpPr>
          <p:cNvPr id="25" name="Text 14"/>
          <p:cNvSpPr txBox="1"/>
          <p:nvPr/>
        </p:nvSpPr>
        <p:spPr>
          <a:xfrm>
            <a:off x="6967728"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10528" y="4059936"/>
            <a:ext cx="274320" cy="274320"/>
          </a:xfrm>
          <a:prstGeom prst="rect">
            <a:avLst/>
          </a:prstGeom>
        </p:spPr>
      </p:pic>
      <p:sp>
        <p:nvSpPr>
          <p:cNvPr id="27" name="Text 15"/>
          <p:cNvSpPr txBox="1"/>
          <p:nvPr/>
        </p:nvSpPr>
        <p:spPr>
          <a:xfrm>
            <a:off x="6967728"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10528" y="4745736"/>
            <a:ext cx="274320" cy="274320"/>
          </a:xfrm>
          <a:prstGeom prst="rect">
            <a:avLst/>
          </a:prstGeom>
        </p:spPr>
      </p:pic>
      <p:sp>
        <p:nvSpPr>
          <p:cNvPr id="29" name="Text 16"/>
          <p:cNvSpPr txBox="1"/>
          <p:nvPr/>
        </p:nvSpPr>
        <p:spPr>
          <a:xfrm>
            <a:off x="6967728"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10528" y="5431536"/>
            <a:ext cx="274320" cy="274320"/>
          </a:xfrm>
          <a:prstGeom prst="rect">
            <a:avLst/>
          </a:prstGeom>
        </p:spPr>
      </p:pic>
      <p:sp>
        <p:nvSpPr>
          <p:cNvPr id="31" name="Text 17"/>
          <p:cNvSpPr txBox="1"/>
          <p:nvPr/>
        </p:nvSpPr>
        <p:spPr>
          <a:xfrm>
            <a:off x="6967728"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REQUERIMIENTOS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Requerimientos funcionales y no funcionales</a:t>
            </a:r>
            <a:endParaRPr lang="en-US" sz="3200" dirty="0"/>
          </a:p>
        </p:txBody>
      </p:sp>
      <p:sp>
        <p:nvSpPr>
          <p:cNvPr id="4" name="Text 2"/>
          <p:cNvSpPr txBox="1"/>
          <p:nvPr/>
        </p:nvSpPr>
        <p:spPr>
          <a:xfrm>
            <a:off x="548640" y="1481328"/>
            <a:ext cx="5989320" cy="320040"/>
          </a:xfrm>
          <a:prstGeom prst="rect">
            <a:avLst/>
          </a:prstGeom>
          <a:noFill/>
          <a:ln/>
        </p:spPr>
        <p:txBody>
          <a:bodyPr wrap="square" lIns="0" tIns="0" rIns="0" bIns="0" rtlCol="0" anchor="t"/>
          <a:lstStyle/>
          <a:p>
            <a:pPr indent="0" marL="0">
              <a:buNone/>
            </a:pPr>
            <a:r>
              <a:rPr lang="en-US" sz="1600" b="1" dirty="0">
                <a:solidFill>
                  <a:schemeClr val="tx2"/>
                </a:solidFill>
              </a:rPr>
              <a:t>Funcionales</a:t>
            </a:r>
            <a:pPr indent="0" marL="0">
              <a:buNone/>
            </a:pPr>
            <a:r>
              <a:rPr lang="en-US" sz="1600" dirty="0">
                <a:solidFill>
                  <a:schemeClr val="accent3"/>
                </a:solidFill>
              </a:rPr>
              <a:t>  ·  42 en el catálogo, 26 obligatorios (Debe)</a:t>
            </a:r>
            <a:endParaRPr lang="en-US" sz="1600" dirty="0"/>
          </a:p>
        </p:txBody>
      </p:sp>
      <p:sp>
        <p:nvSpPr>
          <p:cNvPr id="5" name="Capa 1"/>
          <p:cNvSpPr/>
          <p:nvPr/>
        </p:nvSpPr>
        <p:spPr>
          <a:xfrm>
            <a:off x="548640" y="1874520"/>
            <a:ext cx="5989320" cy="969264"/>
          </a:xfrm>
          <a:prstGeom prst="roundRect">
            <a:avLst>
              <a:gd name="adj" fmla="val 11321"/>
            </a:avLst>
          </a:prstGeom>
          <a:solidFill>
            <a:schemeClr val="bg1"/>
          </a:solidFill>
          <a:ln w="12700">
            <a:solidFill>
              <a:schemeClr val="bg1"/>
            </a:solidFill>
            <a:prstDash val="solid"/>
          </a:ln>
        </p:spPr>
      </p:sp>
      <p:sp>
        <p:nvSpPr>
          <p:cNvPr id="6" name="Etiqueta"/>
          <p:cNvSpPr txBox="1"/>
          <p:nvPr/>
        </p:nvSpPr>
        <p:spPr>
          <a:xfrm>
            <a:off x="731520" y="2176272"/>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1</a:t>
            </a:r>
            <a:endParaRPr lang="en-US" sz="1300" dirty="0"/>
          </a:p>
        </p:txBody>
      </p:sp>
      <p:sp>
        <p:nvSpPr>
          <p:cNvPr id="7" name="Text 5"/>
          <p:cNvSpPr txBox="1"/>
          <p:nvPr/>
        </p:nvSpPr>
        <p:spPr>
          <a:xfrm>
            <a:off x="2331720" y="1965960"/>
            <a:ext cx="4023360" cy="786384"/>
          </a:xfrm>
          <a:prstGeom prst="rect">
            <a:avLst/>
          </a:prstGeom>
          <a:noFill/>
          <a:ln/>
        </p:spPr>
        <p:txBody>
          <a:bodyPr wrap="square" lIns="0" tIns="0" rIns="0" bIns="0" rtlCol="0" anchor="ctr"/>
          <a:lstStyle/>
          <a:p>
            <a:pPr indent="0" marL="0">
              <a:buNone/>
            </a:pPr>
            <a:r>
              <a:rPr lang="en-US" sz="1400" dirty="0">
                <a:solidFill>
                  <a:schemeClr val="tx1"/>
                </a:solidFill>
              </a:rPr>
              <a:t>RF-02 ficha de tres campos · RF-05 y RF-06 acceso de relevo sin cuenta · RF-07 cortarlo · RF-08 registro de cada acceso · RF-42 llenado asistido</a:t>
            </a:r>
            <a:endParaRPr lang="en-US" sz="1400" dirty="0"/>
          </a:p>
        </p:txBody>
      </p:sp>
      <p:sp>
        <p:nvSpPr>
          <p:cNvPr id="8" name="Capa 2"/>
          <p:cNvSpPr/>
          <p:nvPr/>
        </p:nvSpPr>
        <p:spPr>
          <a:xfrm>
            <a:off x="548640" y="2953512"/>
            <a:ext cx="5989320" cy="969264"/>
          </a:xfrm>
          <a:prstGeom prst="roundRect">
            <a:avLst>
              <a:gd name="adj" fmla="val 11321"/>
            </a:avLst>
          </a:prstGeom>
          <a:solidFill>
            <a:schemeClr val="bg1"/>
          </a:solidFill>
          <a:ln w="12700">
            <a:solidFill>
              <a:schemeClr val="bg1"/>
            </a:solidFill>
            <a:prstDash val="solid"/>
          </a:ln>
        </p:spPr>
      </p:sp>
      <p:sp>
        <p:nvSpPr>
          <p:cNvPr id="9" name="Etiqueta"/>
          <p:cNvSpPr txBox="1"/>
          <p:nvPr/>
        </p:nvSpPr>
        <p:spPr>
          <a:xfrm>
            <a:off x="731520" y="3255264"/>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2</a:t>
            </a:r>
            <a:endParaRPr lang="en-US" sz="1300" dirty="0"/>
          </a:p>
        </p:txBody>
      </p:sp>
      <p:sp>
        <p:nvSpPr>
          <p:cNvPr id="10" name="Text 8"/>
          <p:cNvSpPr txBox="1"/>
          <p:nvPr/>
        </p:nvSpPr>
        <p:spPr>
          <a:xfrm>
            <a:off x="2331720" y="3044952"/>
            <a:ext cx="4023360" cy="786384"/>
          </a:xfrm>
          <a:prstGeom prst="rect">
            <a:avLst/>
          </a:prstGeom>
          <a:noFill/>
          <a:ln/>
        </p:spPr>
        <p:txBody>
          <a:bodyPr wrap="square" lIns="0" tIns="0" rIns="0" bIns="0" rtlCol="0" anchor="ctr"/>
          <a:lstStyle/>
          <a:p>
            <a:pPr indent="0" marL="0">
              <a:buNone/>
            </a:pPr>
            <a:r>
              <a:rPr lang="en-US" sz="1400" dirty="0">
                <a:solidFill>
                  <a:schemeClr val="tx1"/>
                </a:solidFill>
              </a:rPr>
              <a:t>RF-10 declarar el consumo · RF-11 fecha en que se acaba · RF-12 aviso anticipado · RF-14 y RF-15 lista exportable</a:t>
            </a:r>
            <a:endParaRPr lang="en-US" sz="1400" dirty="0"/>
          </a:p>
        </p:txBody>
      </p:sp>
      <p:sp>
        <p:nvSpPr>
          <p:cNvPr id="11" name="Capa 3"/>
          <p:cNvSpPr/>
          <p:nvPr/>
        </p:nvSpPr>
        <p:spPr>
          <a:xfrm>
            <a:off x="548640" y="4032504"/>
            <a:ext cx="5989320" cy="969264"/>
          </a:xfrm>
          <a:prstGeom prst="roundRect">
            <a:avLst>
              <a:gd name="adj" fmla="val 11321"/>
            </a:avLst>
          </a:prstGeom>
          <a:solidFill>
            <a:schemeClr val="bg1"/>
          </a:solidFill>
          <a:ln w="12700">
            <a:solidFill>
              <a:schemeClr val="bg1"/>
            </a:solidFill>
            <a:prstDash val="solid"/>
          </a:ln>
        </p:spPr>
      </p:sp>
      <p:sp>
        <p:nvSpPr>
          <p:cNvPr id="12" name="Etiqueta"/>
          <p:cNvSpPr txBox="1"/>
          <p:nvPr/>
        </p:nvSpPr>
        <p:spPr>
          <a:xfrm>
            <a:off x="731520" y="4334256"/>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3</a:t>
            </a:r>
            <a:endParaRPr lang="en-US" sz="1300" dirty="0"/>
          </a:p>
        </p:txBody>
      </p:sp>
      <p:sp>
        <p:nvSpPr>
          <p:cNvPr id="13" name="Text 11"/>
          <p:cNvSpPr txBox="1"/>
          <p:nvPr/>
        </p:nvSpPr>
        <p:spPr>
          <a:xfrm>
            <a:off x="2331720" y="4123944"/>
            <a:ext cx="4023360" cy="786384"/>
          </a:xfrm>
          <a:prstGeom prst="rect">
            <a:avLst/>
          </a:prstGeom>
          <a:noFill/>
          <a:ln/>
        </p:spPr>
        <p:txBody>
          <a:bodyPr wrap="square" lIns="0" tIns="0" rIns="0" bIns="0" rtlCol="0" anchor="ctr"/>
          <a:lstStyle/>
          <a:p>
            <a:pPr indent="0" marL="0">
              <a:buNone/>
            </a:pPr>
            <a:r>
              <a:rPr lang="en-US" sz="1400" dirty="0">
                <a:solidFill>
                  <a:schemeClr val="tx1"/>
                </a:solidFill>
              </a:rPr>
              <a:t>RF-20 pedido desde el catálogo · RF-21 qué hacer si falta un producto · RF-25 un solo cobro del total · RF-26 vista de comercio</a:t>
            </a:r>
            <a:endParaRPr lang="en-US" sz="1400" dirty="0"/>
          </a:p>
        </p:txBody>
      </p:sp>
      <p:sp>
        <p:nvSpPr>
          <p:cNvPr id="14" name="Transversales"/>
          <p:cNvSpPr/>
          <p:nvPr/>
        </p:nvSpPr>
        <p:spPr>
          <a:xfrm>
            <a:off x="548640" y="5111496"/>
            <a:ext cx="5989320" cy="969264"/>
          </a:xfrm>
          <a:prstGeom prst="roundRect">
            <a:avLst>
              <a:gd name="adj" fmla="val 11321"/>
            </a:avLst>
          </a:prstGeom>
          <a:solidFill>
            <a:schemeClr val="bg1"/>
          </a:solidFill>
          <a:ln w="12700">
            <a:solidFill>
              <a:schemeClr val="bg1"/>
            </a:solidFill>
            <a:prstDash val="solid"/>
          </a:ln>
        </p:spPr>
      </p:sp>
      <p:sp>
        <p:nvSpPr>
          <p:cNvPr id="15" name="Etiqueta"/>
          <p:cNvSpPr txBox="1"/>
          <p:nvPr/>
        </p:nvSpPr>
        <p:spPr>
          <a:xfrm>
            <a:off x="731520" y="5413248"/>
            <a:ext cx="1417320" cy="365760"/>
          </a:xfrm>
          <a:prstGeom prst="roundRect">
            <a:avLst>
              <a:gd name="adj" fmla="val 50000"/>
            </a:avLst>
          </a:prstGeom>
          <a:solidFill>
            <a:schemeClr val="accent3"/>
          </a:solidFill>
          <a:ln>
            <a:solidFill>
              <a:schemeClr val="accent3"/>
            </a:solidFill>
          </a:ln>
        </p:spPr>
        <p:txBody>
          <a:bodyPr wrap="square" lIns="0" tIns="0" rIns="0" bIns="0" rtlCol="0" anchor="ctr"/>
          <a:lstStyle/>
          <a:p>
            <a:pPr algn="ctr" indent="0" marL="0">
              <a:buNone/>
            </a:pPr>
            <a:r>
              <a:rPr lang="en-US" sz="1300" b="1" dirty="0">
                <a:solidFill>
                  <a:schemeClr val="bg1"/>
                </a:solidFill>
              </a:rPr>
              <a:t>Transversales</a:t>
            </a:r>
            <a:endParaRPr lang="en-US" sz="1300" dirty="0"/>
          </a:p>
        </p:txBody>
      </p:sp>
      <p:sp>
        <p:nvSpPr>
          <p:cNvPr id="16" name="Text 14"/>
          <p:cNvSpPr txBox="1"/>
          <p:nvPr/>
        </p:nvSpPr>
        <p:spPr>
          <a:xfrm>
            <a:off x="2331720" y="5202936"/>
            <a:ext cx="4023360" cy="786384"/>
          </a:xfrm>
          <a:prstGeom prst="rect">
            <a:avLst/>
          </a:prstGeom>
          <a:noFill/>
          <a:ln/>
        </p:spPr>
        <p:txBody>
          <a:bodyPr wrap="square" lIns="0" tIns="0" rIns="0" bIns="0" rtlCol="0" anchor="ctr"/>
          <a:lstStyle/>
          <a:p>
            <a:pPr indent="0" marL="0">
              <a:buNone/>
            </a:pPr>
            <a:r>
              <a:rPr lang="en-US" sz="1400" dirty="0">
                <a:solidFill>
                  <a:schemeClr val="tx1"/>
                </a:solidFill>
              </a:rPr>
              <a:t>RF-37 registro y sesión · RF-38 invitar miembros con su rol · RF-39 avisos por push y correo</a:t>
            </a:r>
            <a:endParaRPr lang="en-US" sz="1400" dirty="0"/>
          </a:p>
        </p:txBody>
      </p:sp>
      <p:sp>
        <p:nvSpPr>
          <p:cNvPr id="17" name="Text 15"/>
          <p:cNvSpPr txBox="1"/>
          <p:nvPr/>
        </p:nvSpPr>
        <p:spPr>
          <a:xfrm>
            <a:off x="6812280" y="1481328"/>
            <a:ext cx="4830775" cy="320040"/>
          </a:xfrm>
          <a:prstGeom prst="rect">
            <a:avLst/>
          </a:prstGeom>
          <a:noFill/>
          <a:ln/>
        </p:spPr>
        <p:txBody>
          <a:bodyPr wrap="square" lIns="0" tIns="0" rIns="0" bIns="0" rtlCol="0" anchor="t"/>
          <a:lstStyle/>
          <a:p>
            <a:pPr indent="0" marL="0">
              <a:buNone/>
            </a:pPr>
            <a:r>
              <a:rPr lang="en-US" sz="1600" b="1" dirty="0">
                <a:solidFill>
                  <a:schemeClr val="tx2"/>
                </a:solidFill>
              </a:rPr>
              <a:t>No funcionales</a:t>
            </a:r>
            <a:pPr indent="0" marL="0">
              <a:buNone/>
            </a:pPr>
            <a:r>
              <a:rPr lang="en-US" sz="1600" dirty="0">
                <a:solidFill>
                  <a:schemeClr val="accent3"/>
                </a:solidFill>
              </a:rPr>
              <a:t>  ·  atributos de calidad</a:t>
            </a:r>
            <a:endParaRPr lang="en-US" sz="1600" dirty="0"/>
          </a:p>
        </p:txBody>
      </p:sp>
      <p:sp>
        <p:nvSpPr>
          <p:cNvPr id="18" name="No funcionales"/>
          <p:cNvSpPr/>
          <p:nvPr/>
        </p:nvSpPr>
        <p:spPr>
          <a:xfrm>
            <a:off x="6812280" y="1874520"/>
            <a:ext cx="4830775" cy="4206240"/>
          </a:xfrm>
          <a:prstGeom prst="roundRect">
            <a:avLst>
              <a:gd name="adj" fmla="val 2609"/>
            </a:avLst>
          </a:prstGeom>
          <a:solidFill>
            <a:schemeClr val="bg1"/>
          </a:solidFill>
          <a:ln w="12700">
            <a:solidFill>
              <a:schemeClr val="bg1"/>
            </a:solidFill>
            <a:prstDash val="solid"/>
          </a:ln>
        </p:spPr>
      </p:sp>
      <p:sp>
        <p:nvSpPr>
          <p:cNvPr id="19" name="Círculo de ícono"/>
          <p:cNvSpPr/>
          <p:nvPr/>
        </p:nvSpPr>
        <p:spPr>
          <a:xfrm>
            <a:off x="6995160" y="2066544"/>
            <a:ext cx="457200" cy="457200"/>
          </a:xfrm>
          <a:prstGeom prst="ellipse">
            <a:avLst/>
          </a:prstGeom>
          <a:solidFill>
            <a:schemeClr val="accent1"/>
          </a:solidFill>
          <a:ln w="12700">
            <a:solidFill>
              <a:schemeClr val="accent1"/>
            </a:solidFill>
            <a:prstDash val="solid"/>
          </a:ln>
        </p:spPr>
      </p:sp>
      <p:pic>
        <p:nvPicPr>
          <p:cNvPr id="20" name="Image 0" descr="Ícono CreditCard">    </p:cNvPr>
          <p:cNvPicPr>
            <a:picLocks noChangeAspect="1"/>
          </p:cNvPicPr>
          <p:nvPr/>
        </p:nvPicPr>
        <p:blipFill>
          <a:blip r:embed="rId1"/>
          <a:stretch>
            <a:fillRect/>
          </a:stretch>
        </p:blipFill>
        <p:spPr>
          <a:xfrm>
            <a:off x="7104888" y="2176272"/>
            <a:ext cx="237744" cy="237744"/>
          </a:xfrm>
          <a:prstGeom prst="rect">
            <a:avLst/>
          </a:prstGeom>
        </p:spPr>
      </p:pic>
      <p:sp>
        <p:nvSpPr>
          <p:cNvPr id="21" name="Text 18"/>
          <p:cNvSpPr txBox="1"/>
          <p:nvPr/>
        </p:nvSpPr>
        <p:spPr>
          <a:xfrm>
            <a:off x="7589520" y="2011680"/>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Integridad del pago</a:t>
            </a:r>
            <a:endParaRPr lang="en-US" sz="1400" dirty="0"/>
          </a:p>
          <a:p>
            <a:pPr indent="0" marL="0">
              <a:buNone/>
            </a:pPr>
            <a:r>
              <a:rPr lang="en-US" sz="1400" dirty="0">
                <a:solidFill>
                  <a:schemeClr val="tx1"/>
                </a:solidFill>
              </a:rPr>
              <a:t>ningún pedido pagado sin registrar</a:t>
            </a:r>
            <a:endParaRPr lang="en-US" sz="1400" dirty="0"/>
          </a:p>
        </p:txBody>
      </p:sp>
      <p:sp>
        <p:nvSpPr>
          <p:cNvPr id="22" name="Círculo de ícono"/>
          <p:cNvSpPr/>
          <p:nvPr/>
        </p:nvSpPr>
        <p:spPr>
          <a:xfrm>
            <a:off x="6995160" y="2734056"/>
            <a:ext cx="457200" cy="457200"/>
          </a:xfrm>
          <a:prstGeom prst="ellipse">
            <a:avLst/>
          </a:prstGeom>
          <a:solidFill>
            <a:schemeClr val="accent1"/>
          </a:solidFill>
          <a:ln w="12700">
            <a:solidFill>
              <a:schemeClr val="accent1"/>
            </a:solidFill>
            <a:prstDash val="solid"/>
          </a:ln>
        </p:spPr>
      </p:sp>
      <p:pic>
        <p:nvPicPr>
          <p:cNvPr id="23" name="Image 1" descr="Ícono Lock">    </p:cNvPr>
          <p:cNvPicPr>
            <a:picLocks noChangeAspect="1"/>
          </p:cNvPicPr>
          <p:nvPr/>
        </p:nvPicPr>
        <p:blipFill>
          <a:blip r:embed="rId2"/>
          <a:stretch>
            <a:fillRect/>
          </a:stretch>
        </p:blipFill>
        <p:spPr>
          <a:xfrm>
            <a:off x="7104888" y="2843784"/>
            <a:ext cx="237744" cy="237744"/>
          </a:xfrm>
          <a:prstGeom prst="rect">
            <a:avLst/>
          </a:prstGeom>
        </p:spPr>
      </p:pic>
      <p:sp>
        <p:nvSpPr>
          <p:cNvPr id="24" name="Text 20"/>
          <p:cNvSpPr txBox="1"/>
          <p:nvPr/>
        </p:nvSpPr>
        <p:spPr>
          <a:xfrm>
            <a:off x="7589520" y="2679192"/>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Confidencialidad</a:t>
            </a:r>
            <a:endParaRPr lang="en-US" sz="1400" dirty="0"/>
          </a:p>
          <a:p>
            <a:pPr indent="0" marL="0">
              <a:buNone/>
            </a:pPr>
            <a:r>
              <a:rPr lang="en-US" sz="1400" dirty="0">
                <a:solidFill>
                  <a:schemeClr val="tx1"/>
                </a:solidFill>
              </a:rPr>
              <a:t>cada acceso a la ficha queda registrado</a:t>
            </a:r>
            <a:endParaRPr lang="en-US" sz="1400" dirty="0"/>
          </a:p>
        </p:txBody>
      </p:sp>
      <p:sp>
        <p:nvSpPr>
          <p:cNvPr id="25" name="Círculo de ícono"/>
          <p:cNvSpPr/>
          <p:nvPr/>
        </p:nvSpPr>
        <p:spPr>
          <a:xfrm>
            <a:off x="6995160" y="3401568"/>
            <a:ext cx="457200" cy="457200"/>
          </a:xfrm>
          <a:prstGeom prst="ellipse">
            <a:avLst/>
          </a:prstGeom>
          <a:solidFill>
            <a:schemeClr val="accent1"/>
          </a:solidFill>
          <a:ln w="12700">
            <a:solidFill>
              <a:schemeClr val="accent1"/>
            </a:solidFill>
            <a:prstDash val="solid"/>
          </a:ln>
        </p:spPr>
      </p:sp>
      <p:pic>
        <p:nvPicPr>
          <p:cNvPr id="26" name="Image 2" descr="Ícono Accessibility">    </p:cNvPr>
          <p:cNvPicPr>
            <a:picLocks noChangeAspect="1"/>
          </p:cNvPicPr>
          <p:nvPr/>
        </p:nvPicPr>
        <p:blipFill>
          <a:blip r:embed="rId3"/>
          <a:stretch>
            <a:fillRect/>
          </a:stretch>
        </p:blipFill>
        <p:spPr>
          <a:xfrm>
            <a:off x="7104888" y="3511296"/>
            <a:ext cx="237744" cy="237744"/>
          </a:xfrm>
          <a:prstGeom prst="rect">
            <a:avLst/>
          </a:prstGeom>
        </p:spPr>
      </p:pic>
      <p:sp>
        <p:nvSpPr>
          <p:cNvPr id="27" name="Text 22"/>
          <p:cNvSpPr txBox="1"/>
          <p:nvPr/>
        </p:nvSpPr>
        <p:spPr>
          <a:xfrm>
            <a:off x="7589520" y="3346704"/>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Accesibilidad</a:t>
            </a:r>
            <a:endParaRPr lang="en-US" sz="1400" dirty="0"/>
          </a:p>
          <a:p>
            <a:pPr indent="0" marL="0">
              <a:buNone/>
            </a:pPr>
            <a:r>
              <a:rPr lang="en-US" sz="1400" dirty="0">
                <a:solidFill>
                  <a:schemeClr val="tx1"/>
                </a:solidFill>
              </a:rPr>
              <a:t>ficha en menos de 3 min, texto al 200%</a:t>
            </a:r>
            <a:endParaRPr lang="en-US" sz="1400" dirty="0"/>
          </a:p>
        </p:txBody>
      </p:sp>
      <p:sp>
        <p:nvSpPr>
          <p:cNvPr id="28" name="Círculo de ícono"/>
          <p:cNvSpPr/>
          <p:nvPr/>
        </p:nvSpPr>
        <p:spPr>
          <a:xfrm>
            <a:off x="6995160" y="4069080"/>
            <a:ext cx="457200" cy="457200"/>
          </a:xfrm>
          <a:prstGeom prst="ellipse">
            <a:avLst/>
          </a:prstGeom>
          <a:solidFill>
            <a:schemeClr val="accent1"/>
          </a:solidFill>
          <a:ln w="12700">
            <a:solidFill>
              <a:schemeClr val="accent1"/>
            </a:solidFill>
            <a:prstDash val="solid"/>
          </a:ln>
        </p:spPr>
      </p:sp>
      <p:pic>
        <p:nvPicPr>
          <p:cNvPr id="29" name="Image 3" descr="Ícono Blocks">    </p:cNvPr>
          <p:cNvPicPr>
            <a:picLocks noChangeAspect="1"/>
          </p:cNvPicPr>
          <p:nvPr/>
        </p:nvPicPr>
        <p:blipFill>
          <a:blip r:embed="rId4"/>
          <a:stretch>
            <a:fillRect/>
          </a:stretch>
        </p:blipFill>
        <p:spPr>
          <a:xfrm>
            <a:off x="7104888" y="4178808"/>
            <a:ext cx="237744" cy="237744"/>
          </a:xfrm>
          <a:prstGeom prst="rect">
            <a:avLst/>
          </a:prstGeom>
        </p:spPr>
      </p:pic>
      <p:sp>
        <p:nvSpPr>
          <p:cNvPr id="30" name="Text 24"/>
          <p:cNvSpPr txBox="1"/>
          <p:nvPr/>
        </p:nvSpPr>
        <p:spPr>
          <a:xfrm>
            <a:off x="7589520" y="4014216"/>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Modularidad</a:t>
            </a:r>
            <a:endParaRPr lang="en-US" sz="1400" dirty="0"/>
          </a:p>
          <a:p>
            <a:pPr indent="0" marL="0">
              <a:buNone/>
            </a:pPr>
            <a:r>
              <a:rPr lang="en-US" sz="1400" dirty="0">
                <a:solidFill>
                  <a:schemeClr val="tx1"/>
                </a:solidFill>
              </a:rPr>
              <a:t>la capa 3 se quita sin romper el resto</a:t>
            </a:r>
            <a:endParaRPr lang="en-US" sz="1400" dirty="0"/>
          </a:p>
        </p:txBody>
      </p:sp>
      <p:sp>
        <p:nvSpPr>
          <p:cNvPr id="31" name="Círculo de ícono"/>
          <p:cNvSpPr/>
          <p:nvPr/>
        </p:nvSpPr>
        <p:spPr>
          <a:xfrm>
            <a:off x="6995160" y="4736592"/>
            <a:ext cx="457200" cy="457200"/>
          </a:xfrm>
          <a:prstGeom prst="ellipse">
            <a:avLst/>
          </a:prstGeom>
          <a:solidFill>
            <a:schemeClr val="accent1"/>
          </a:solidFill>
          <a:ln w="12700">
            <a:solidFill>
              <a:schemeClr val="accent1"/>
            </a:solidFill>
            <a:prstDash val="solid"/>
          </a:ln>
        </p:spPr>
      </p:sp>
      <p:pic>
        <p:nvPicPr>
          <p:cNvPr id="32" name="Image 4" descr="Ícono Gauge">    </p:cNvPr>
          <p:cNvPicPr>
            <a:picLocks noChangeAspect="1"/>
          </p:cNvPicPr>
          <p:nvPr/>
        </p:nvPicPr>
        <p:blipFill>
          <a:blip r:embed="rId5"/>
          <a:stretch>
            <a:fillRect/>
          </a:stretch>
        </p:blipFill>
        <p:spPr>
          <a:xfrm>
            <a:off x="7104888" y="4846320"/>
            <a:ext cx="237744" cy="237744"/>
          </a:xfrm>
          <a:prstGeom prst="rect">
            <a:avLst/>
          </a:prstGeom>
        </p:spPr>
      </p:pic>
      <p:sp>
        <p:nvSpPr>
          <p:cNvPr id="33" name="Text 26"/>
          <p:cNvSpPr txBox="1"/>
          <p:nvPr/>
        </p:nvSpPr>
        <p:spPr>
          <a:xfrm>
            <a:off x="7589520" y="4681728"/>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Rendimiento</a:t>
            </a:r>
            <a:endParaRPr lang="en-US" sz="1400" dirty="0"/>
          </a:p>
          <a:p>
            <a:pPr indent="0" marL="0">
              <a:buNone/>
            </a:pPr>
            <a:r>
              <a:rPr lang="en-US" sz="1400" dirty="0">
                <a:solidFill>
                  <a:schemeClr val="tx1"/>
                </a:solidFill>
              </a:rPr>
              <a:t>bajo 800 ms en p95 con 50 usuarios</a:t>
            </a:r>
            <a:endParaRPr lang="en-US" sz="1400" dirty="0"/>
          </a:p>
        </p:txBody>
      </p:sp>
      <p:sp>
        <p:nvSpPr>
          <p:cNvPr id="34" name="Círculo de ícono"/>
          <p:cNvSpPr/>
          <p:nvPr/>
        </p:nvSpPr>
        <p:spPr>
          <a:xfrm>
            <a:off x="6995160" y="5404104"/>
            <a:ext cx="457200" cy="457200"/>
          </a:xfrm>
          <a:prstGeom prst="ellipse">
            <a:avLst/>
          </a:prstGeom>
          <a:solidFill>
            <a:schemeClr val="accent1"/>
          </a:solidFill>
          <a:ln w="12700">
            <a:solidFill>
              <a:schemeClr val="accent1"/>
            </a:solidFill>
            <a:prstDash val="solid"/>
          </a:ln>
        </p:spPr>
      </p:sp>
      <p:pic>
        <p:nvPicPr>
          <p:cNvPr id="35" name="Image 5" descr="Ícono Activity">    </p:cNvPr>
          <p:cNvPicPr>
            <a:picLocks noChangeAspect="1"/>
          </p:cNvPicPr>
          <p:nvPr/>
        </p:nvPicPr>
        <p:blipFill>
          <a:blip r:embed="rId6"/>
          <a:stretch>
            <a:fillRect/>
          </a:stretch>
        </p:blipFill>
        <p:spPr>
          <a:xfrm>
            <a:off x="7104888" y="5513832"/>
            <a:ext cx="237744" cy="237744"/>
          </a:xfrm>
          <a:prstGeom prst="rect">
            <a:avLst/>
          </a:prstGeom>
        </p:spPr>
      </p:pic>
      <p:sp>
        <p:nvSpPr>
          <p:cNvPr id="36" name="Text 28"/>
          <p:cNvSpPr txBox="1"/>
          <p:nvPr/>
        </p:nvSpPr>
        <p:spPr>
          <a:xfrm>
            <a:off x="7589520" y="5349240"/>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Observabilidad</a:t>
            </a:r>
            <a:endParaRPr lang="en-US" sz="1400" dirty="0"/>
          </a:p>
          <a:p>
            <a:pPr indent="0" marL="0">
              <a:buNone/>
            </a:pPr>
            <a:r>
              <a:rPr lang="en-US" sz="1400" dirty="0">
                <a:solidFill>
                  <a:schemeClr val="tx1"/>
                </a:solidFill>
              </a:rPr>
              <a:t>cada pedido se reconstruye sin tocar la base</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METODOLOGÍA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CRONOGRAMA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493776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5792175" y="1691640"/>
            <a:ext cx="914" cy="3794760"/>
          </a:xfrm>
          <a:prstGeom prst="line">
            <a:avLst/>
          </a:prstGeom>
          <a:noFill/>
          <a:ln w="12700">
            <a:solidFill>
              <a:schemeClr val="accent4"/>
            </a:solidFill>
            <a:prstDash val="solid"/>
          </a:ln>
        </p:spPr>
      </p:sp>
      <p:sp>
        <p:nvSpPr>
          <p:cNvPr id="7" name="Text 5"/>
          <p:cNvSpPr txBox="1"/>
          <p:nvPr/>
        </p:nvSpPr>
        <p:spPr>
          <a:xfrm>
            <a:off x="583789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582595" y="1691640"/>
            <a:ext cx="914" cy="3794760"/>
          </a:xfrm>
          <a:prstGeom prst="line">
            <a:avLst/>
          </a:prstGeom>
          <a:noFill/>
          <a:ln w="12700">
            <a:solidFill>
              <a:schemeClr val="accent4"/>
            </a:solidFill>
            <a:prstDash val="solid"/>
          </a:ln>
        </p:spPr>
      </p:sp>
      <p:sp>
        <p:nvSpPr>
          <p:cNvPr id="9" name="Text 7"/>
          <p:cNvSpPr txBox="1"/>
          <p:nvPr/>
        </p:nvSpPr>
        <p:spPr>
          <a:xfrm>
            <a:off x="862831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283001" y="1691640"/>
            <a:ext cx="914" cy="3794760"/>
          </a:xfrm>
          <a:prstGeom prst="line">
            <a:avLst/>
          </a:prstGeom>
          <a:noFill/>
          <a:ln w="12700">
            <a:solidFill>
              <a:schemeClr val="accent4"/>
            </a:solidFill>
            <a:prstDash val="solid"/>
          </a:ln>
        </p:spPr>
      </p:sp>
      <p:sp>
        <p:nvSpPr>
          <p:cNvPr id="11" name="Text 9"/>
          <p:cNvSpPr txBox="1"/>
          <p:nvPr/>
        </p:nvSpPr>
        <p:spPr>
          <a:xfrm>
            <a:off x="11328721"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21 sep – 15 oct</a:t>
            </a:r>
            <a:endParaRPr lang="en-US" sz="1200" dirty="0"/>
          </a:p>
        </p:txBody>
      </p:sp>
      <p:sp>
        <p:nvSpPr>
          <p:cNvPr id="14" name="Barra Sprint 0 · Preparación"/>
          <p:cNvSpPr/>
          <p:nvPr/>
        </p:nvSpPr>
        <p:spPr>
          <a:xfrm>
            <a:off x="4892040" y="2011680"/>
            <a:ext cx="222290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197242" y="196596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16 – 22 oct</a:t>
            </a:r>
            <a:endParaRPr lang="en-US" sz="1200" dirty="0"/>
          </a:p>
        </p:txBody>
      </p:sp>
      <p:sp>
        <p:nvSpPr>
          <p:cNvPr id="18" name="Barra Sprint 1 · Identidad y grupo"/>
          <p:cNvSpPr/>
          <p:nvPr/>
        </p:nvSpPr>
        <p:spPr>
          <a:xfrm>
            <a:off x="7142378" y="2441448"/>
            <a:ext cx="602663"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7827337" y="2395728"/>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2 · Ficha y acceso de relevo</a:t>
            </a:r>
            <a:endParaRPr lang="en-US" sz="1400" dirty="0"/>
          </a:p>
        </p:txBody>
      </p:sp>
      <p:sp>
        <p:nvSpPr>
          <p:cNvPr id="21" name="Text 19"/>
          <p:cNvSpPr txBox="1"/>
          <p:nvPr/>
        </p:nvSpPr>
        <p:spPr>
          <a:xfrm>
            <a:off x="3794760" y="282549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23 – 29 oct</a:t>
            </a:r>
            <a:endParaRPr lang="en-US" sz="1200" dirty="0"/>
          </a:p>
        </p:txBody>
      </p:sp>
      <p:sp>
        <p:nvSpPr>
          <p:cNvPr id="22" name="Barra Sprint 2 · Ficha y acceso de relevo"/>
          <p:cNvSpPr/>
          <p:nvPr/>
        </p:nvSpPr>
        <p:spPr>
          <a:xfrm>
            <a:off x="7772473" y="2871216"/>
            <a:ext cx="602663" cy="256032"/>
          </a:xfrm>
          <a:prstGeom prst="roundRect">
            <a:avLst>
              <a:gd name="adj" fmla="val 21429"/>
            </a:avLst>
          </a:prstGeom>
          <a:solidFill>
            <a:schemeClr val="accent2"/>
          </a:solidFill>
          <a:ln w="15875">
            <a:solidFill>
              <a:schemeClr val="accent2"/>
            </a:solidFill>
            <a:prstDash val="solid"/>
          </a:ln>
        </p:spPr>
      </p:sp>
      <p:sp>
        <p:nvSpPr>
          <p:cNvPr id="23" name="Text 21"/>
          <p:cNvSpPr txBox="1"/>
          <p:nvPr/>
        </p:nvSpPr>
        <p:spPr>
          <a:xfrm>
            <a:off x="8457432" y="2825496"/>
            <a:ext cx="1005840" cy="347472"/>
          </a:xfrm>
          <a:prstGeom prst="rect">
            <a:avLst/>
          </a:prstGeom>
          <a:noFill/>
          <a:ln/>
        </p:spPr>
        <p:txBody>
          <a:bodyPr wrap="square" lIns="0" tIns="0" rIns="0" bIns="0" rtlCol="0" anchor="ctr"/>
          <a:lstStyle/>
          <a:p>
            <a:pPr indent="0" marL="0">
              <a:buNone/>
            </a:pPr>
            <a:r>
              <a:rPr lang="en-US" sz="1200" b="1" dirty="0">
                <a:solidFill>
                  <a:schemeClr val="tx1"/>
                </a:solidFill>
              </a:rPr>
              <a:t>En curso</a:t>
            </a:r>
            <a:endParaRPr lang="en-US" sz="12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3 · App de familia y consumo</a:t>
            </a:r>
            <a:endParaRPr lang="en-US" sz="1400" dirty="0"/>
          </a:p>
        </p:txBody>
      </p:sp>
      <p:sp>
        <p:nvSpPr>
          <p:cNvPr id="25" name="Text 23"/>
          <p:cNvSpPr txBox="1"/>
          <p:nvPr/>
        </p:nvSpPr>
        <p:spPr>
          <a:xfrm>
            <a:off x="3794760" y="3255264"/>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30 oct – 5 nov</a:t>
            </a:r>
            <a:endParaRPr lang="en-US" sz="1200" dirty="0"/>
          </a:p>
        </p:txBody>
      </p:sp>
      <p:sp>
        <p:nvSpPr>
          <p:cNvPr id="26" name="Barra Sprint 3 · App de familia y consumo"/>
          <p:cNvSpPr/>
          <p:nvPr/>
        </p:nvSpPr>
        <p:spPr>
          <a:xfrm>
            <a:off x="8402568" y="3300984"/>
            <a:ext cx="602663" cy="256032"/>
          </a:xfrm>
          <a:prstGeom prst="roundRect">
            <a:avLst>
              <a:gd name="adj" fmla="val 21429"/>
            </a:avLst>
          </a:prstGeom>
          <a:solidFill>
            <a:schemeClr val="bg1"/>
          </a:solidFill>
          <a:ln w="15875">
            <a:solidFill>
              <a:schemeClr val="tx2"/>
            </a:solidFill>
            <a:prstDash val="solid"/>
          </a:ln>
        </p:spPr>
      </p:sp>
      <p:sp>
        <p:nvSpPr>
          <p:cNvPr id="27" name="Text 25"/>
          <p:cNvSpPr txBox="1"/>
          <p:nvPr/>
        </p:nvSpPr>
        <p:spPr>
          <a:xfrm>
            <a:off x="9087527" y="3255264"/>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6 – 12 nov</a:t>
            </a:r>
            <a:endParaRPr lang="en-US" sz="1200" dirty="0"/>
          </a:p>
        </p:txBody>
      </p:sp>
      <p:sp>
        <p:nvSpPr>
          <p:cNvPr id="30" name="Barra Sprint 4 · Catálogo, pedido y pago"/>
          <p:cNvSpPr/>
          <p:nvPr/>
        </p:nvSpPr>
        <p:spPr>
          <a:xfrm>
            <a:off x="9032663" y="3730752"/>
            <a:ext cx="602663"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717621" y="3685032"/>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13 – 19 nov</a:t>
            </a:r>
            <a:endParaRPr lang="en-US" sz="1200" dirty="0"/>
          </a:p>
        </p:txBody>
      </p:sp>
      <p:sp>
        <p:nvSpPr>
          <p:cNvPr id="34" name="Barra Sprint 5 · Cierre y despliegue"/>
          <p:cNvSpPr/>
          <p:nvPr/>
        </p:nvSpPr>
        <p:spPr>
          <a:xfrm>
            <a:off x="9662757" y="4160520"/>
            <a:ext cx="602663"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347716" y="411480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20 – 26 nov</a:t>
            </a:r>
            <a:endParaRPr lang="en-US" sz="1200" dirty="0"/>
          </a:p>
        </p:txBody>
      </p:sp>
      <p:sp>
        <p:nvSpPr>
          <p:cNvPr id="38" name="Barra Sprint 6 · Reserva: ajustes"/>
          <p:cNvSpPr/>
          <p:nvPr/>
        </p:nvSpPr>
        <p:spPr>
          <a:xfrm>
            <a:off x="10292852" y="4590288"/>
            <a:ext cx="602663"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27 nov – 3 dic</a:t>
            </a:r>
            <a:endParaRPr lang="en-US" sz="1200" dirty="0"/>
          </a:p>
        </p:txBody>
      </p:sp>
      <p:sp>
        <p:nvSpPr>
          <p:cNvPr id="41" name="Barra Sprint 7 · Reserva: presentación"/>
          <p:cNvSpPr/>
          <p:nvPr/>
        </p:nvSpPr>
        <p:spPr>
          <a:xfrm>
            <a:off x="10922947" y="5020056"/>
            <a:ext cx="602663"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4892040" y="5486400"/>
            <a:ext cx="6659575" cy="914"/>
          </a:xfrm>
          <a:prstGeom prst="line">
            <a:avLst/>
          </a:prstGeom>
          <a:noFill/>
          <a:ln w="12700">
            <a:solidFill>
              <a:schemeClr val="accent3"/>
            </a:solidFill>
            <a:prstDash val="solid"/>
          </a:ln>
        </p:spPr>
      </p:sp>
      <p:sp>
        <p:nvSpPr>
          <p:cNvPr id="43" name="Hito Entrega de avance"/>
          <p:cNvSpPr/>
          <p:nvPr/>
        </p:nvSpPr>
        <p:spPr>
          <a:xfrm>
            <a:off x="6960925" y="5394960"/>
            <a:ext cx="182880" cy="182880"/>
          </a:xfrm>
          <a:prstGeom prst="diamond">
            <a:avLst/>
          </a:prstGeom>
          <a:solidFill>
            <a:schemeClr val="tx2"/>
          </a:solidFill>
          <a:ln w="12700">
            <a:solidFill>
              <a:schemeClr val="tx2"/>
            </a:solidFill>
            <a:prstDash val="solid"/>
          </a:ln>
        </p:spPr>
      </p:sp>
      <p:sp>
        <p:nvSpPr>
          <p:cNvPr id="44" name="Text 42"/>
          <p:cNvSpPr txBox="1"/>
          <p:nvPr/>
        </p:nvSpPr>
        <p:spPr>
          <a:xfrm>
            <a:off x="6252265"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de avance</a:t>
            </a:r>
            <a:endParaRPr lang="en-US" sz="1200" dirty="0"/>
          </a:p>
          <a:p>
            <a:pPr algn="ctr" indent="0" marL="0">
              <a:buNone/>
            </a:pPr>
            <a:r>
              <a:rPr lang="en-US" sz="1200" dirty="0">
                <a:solidFill>
                  <a:schemeClr val="tx1"/>
                </a:solidFill>
              </a:rPr>
              <a:t>semana 10</a:t>
            </a:r>
            <a:endParaRPr lang="en-US" sz="1200" dirty="0"/>
          </a:p>
        </p:txBody>
      </p:sp>
      <p:sp>
        <p:nvSpPr>
          <p:cNvPr id="45" name="Hito Presentación"/>
          <p:cNvSpPr/>
          <p:nvPr/>
        </p:nvSpPr>
        <p:spPr>
          <a:xfrm>
            <a:off x="8311128" y="5394960"/>
            <a:ext cx="182880" cy="182880"/>
          </a:xfrm>
          <a:prstGeom prst="diamond">
            <a:avLst/>
          </a:prstGeom>
          <a:solidFill>
            <a:schemeClr val="accent2"/>
          </a:solidFill>
          <a:ln w="12700">
            <a:solidFill>
              <a:schemeClr val="tx2"/>
            </a:solidFill>
            <a:prstDash val="solid"/>
          </a:ln>
        </p:spPr>
      </p:sp>
      <p:sp>
        <p:nvSpPr>
          <p:cNvPr id="46" name="Text 44"/>
          <p:cNvSpPr txBox="1"/>
          <p:nvPr/>
        </p:nvSpPr>
        <p:spPr>
          <a:xfrm>
            <a:off x="760246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Presentación</a:t>
            </a:r>
            <a:endParaRPr lang="en-US" sz="1200" dirty="0"/>
          </a:p>
          <a:p>
            <a:pPr algn="ctr" indent="0" marL="0">
              <a:buNone/>
            </a:pPr>
            <a:r>
              <a:rPr lang="en-US" sz="1200" dirty="0">
                <a:solidFill>
                  <a:schemeClr val="tx1"/>
                </a:solidFill>
              </a:rPr>
              <a:t>30 oct</a:t>
            </a:r>
            <a:endParaRPr lang="en-US" sz="1200" dirty="0"/>
          </a:p>
        </p:txBody>
      </p:sp>
      <p:sp>
        <p:nvSpPr>
          <p:cNvPr id="47" name="Hito Entrega final Fase 2"/>
          <p:cNvSpPr/>
          <p:nvPr/>
        </p:nvSpPr>
        <p:spPr>
          <a:xfrm>
            <a:off x="9841358" y="5394960"/>
            <a:ext cx="182880" cy="182880"/>
          </a:xfrm>
          <a:prstGeom prst="diamond">
            <a:avLst/>
          </a:prstGeom>
          <a:solidFill>
            <a:schemeClr val="tx2"/>
          </a:solidFill>
          <a:ln w="12700">
            <a:solidFill>
              <a:schemeClr val="tx2"/>
            </a:solidFill>
            <a:prstDash val="solid"/>
          </a:ln>
        </p:spPr>
      </p:sp>
      <p:sp>
        <p:nvSpPr>
          <p:cNvPr id="48" name="Text 46"/>
          <p:cNvSpPr txBox="1"/>
          <p:nvPr/>
        </p:nvSpPr>
        <p:spPr>
          <a:xfrm>
            <a:off x="913269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final Fase 2</a:t>
            </a:r>
            <a:endParaRPr lang="en-US" sz="1200" dirty="0"/>
          </a:p>
          <a:p>
            <a:pPr algn="ctr" indent="0" marL="0">
              <a:buNone/>
            </a:pPr>
            <a:r>
              <a:rPr lang="en-US" sz="1200" dirty="0">
                <a:solidFill>
                  <a:schemeClr val="tx1"/>
                </a:solidFill>
              </a:rPr>
              <a:t>semana 15</a:t>
            </a:r>
            <a:endParaRPr lang="en-US" sz="1200" dirty="0"/>
          </a:p>
        </p:txBody>
      </p:sp>
      <p:sp>
        <p:nvSpPr>
          <p:cNvPr id="49" name="Hito Fase 3"/>
          <p:cNvSpPr/>
          <p:nvPr/>
        </p:nvSpPr>
        <p:spPr>
          <a:xfrm>
            <a:off x="11101548" y="5394960"/>
            <a:ext cx="182880" cy="182880"/>
          </a:xfrm>
          <a:prstGeom prst="diamond">
            <a:avLst/>
          </a:prstGeom>
          <a:solidFill>
            <a:schemeClr val="tx2"/>
          </a:solidFill>
          <a:ln w="12700">
            <a:solidFill>
              <a:schemeClr val="tx2"/>
            </a:solidFill>
            <a:prstDash val="solid"/>
          </a:ln>
        </p:spPr>
      </p:sp>
      <p:sp>
        <p:nvSpPr>
          <p:cNvPr id="50" name="Text 48"/>
          <p:cNvSpPr txBox="1"/>
          <p:nvPr/>
        </p:nvSpPr>
        <p:spPr>
          <a:xfrm>
            <a:off x="9951415" y="5605272"/>
            <a:ext cx="1600200" cy="502920"/>
          </a:xfrm>
          <a:prstGeom prst="rect">
            <a:avLst/>
          </a:prstGeom>
          <a:noFill/>
          <a:ln/>
        </p:spPr>
        <p:txBody>
          <a:bodyPr wrap="square" lIns="0" tIns="0" rIns="0" bIns="0" rtlCol="0" anchor="t"/>
          <a:lstStyle/>
          <a:p>
            <a:pPr algn="r" indent="0" marL="0">
              <a:buNone/>
            </a:pPr>
            <a:r>
              <a:rPr lang="en-US" sz="1200" b="1" dirty="0">
                <a:solidFill>
                  <a:schemeClr val="tx1"/>
                </a:solidFill>
              </a:rPr>
              <a:t>Fase 3</a:t>
            </a:r>
            <a:endParaRPr lang="en-US" sz="1200" dirty="0"/>
          </a:p>
          <a:p>
            <a:pPr algn="r" indent="0" marL="0">
              <a:buNone/>
            </a:pPr>
            <a:r>
              <a:rPr lang="en-US" sz="1200" dirty="0">
                <a:solidFill>
                  <a:schemeClr val="tx1"/>
                </a:solidFill>
              </a:rPr>
              <a:t>semanas 17 y 18</a:t>
            </a:r>
            <a:endParaRPr lang="en-US" sz="1200" dirty="0"/>
          </a:p>
        </p:txBody>
      </p:sp>
      <p:sp>
        <p:nvSpPr>
          <p:cNvPr id="51" name="Conector"/>
          <p:cNvSpPr/>
          <p:nvPr/>
        </p:nvSpPr>
        <p:spPr>
          <a:xfrm>
            <a:off x="8402568" y="1874520"/>
            <a:ext cx="914" cy="3520440"/>
          </a:xfrm>
          <a:prstGeom prst="line">
            <a:avLst/>
          </a:prstGeom>
          <a:noFill/>
          <a:ln w="25400">
            <a:solidFill>
              <a:schemeClr val="accent2"/>
            </a:solidFill>
            <a:prstDash val="dash"/>
          </a:ln>
        </p:spPr>
      </p:sp>
      <p:sp>
        <p:nvSpPr>
          <p:cNvPr id="52" name="Text 50"/>
          <p:cNvSpPr txBox="1"/>
          <p:nvPr/>
        </p:nvSpPr>
        <p:spPr>
          <a:xfrm>
            <a:off x="777240" y="5349240"/>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TECNOLOGÍAS Y HERRAMIENTAS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accent4"/>
          </a:solidFill>
          <a:ln w="12700">
            <a:solidFill>
              <a:schemeClr val="accent4"/>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ARQUITECTURA DE LA APLICACIÓN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monolito modular, con las dependencias hacia abajo</a:t>
            </a:r>
            <a:endParaRPr lang="en-US" sz="3200" dirty="0"/>
          </a:p>
        </p:txBody>
      </p:sp>
      <p:sp>
        <p:nvSpPr>
          <p:cNvPr id="4" name="App de la familia"/>
          <p:cNvSpPr/>
          <p:nvPr/>
        </p:nvSpPr>
        <p:spPr>
          <a:xfrm>
            <a:off x="548640" y="1554480"/>
            <a:ext cx="1748790" cy="731520"/>
          </a:xfrm>
          <a:prstGeom prst="roundRect">
            <a:avLst>
              <a:gd name="adj" fmla="val 15000"/>
            </a:avLst>
          </a:prstGeom>
          <a:solidFill>
            <a:schemeClr val="bg1"/>
          </a:solidFill>
          <a:ln w="12700">
            <a:solidFill>
              <a:schemeClr val="bg1"/>
            </a:solidFill>
            <a:prstDash val="solid"/>
          </a:ln>
        </p:spPr>
      </p:sp>
      <p:pic>
        <p:nvPicPr>
          <p:cNvPr id="5" name="Image 0" descr="App de la familia">    </p:cNvPr>
          <p:cNvPicPr>
            <a:picLocks noChangeAspect="1"/>
          </p:cNvPicPr>
          <p:nvPr/>
        </p:nvPicPr>
        <p:blipFill>
          <a:blip r:embed="rId1"/>
          <a:stretch>
            <a:fillRect/>
          </a:stretch>
        </p:blipFill>
        <p:spPr>
          <a:xfrm>
            <a:off x="685800" y="1755648"/>
            <a:ext cx="329184" cy="329184"/>
          </a:xfrm>
          <a:prstGeom prst="rect">
            <a:avLst/>
          </a:prstGeom>
        </p:spPr>
      </p:pic>
      <p:sp>
        <p:nvSpPr>
          <p:cNvPr id="6" name="Text 3"/>
          <p:cNvSpPr txBox="1"/>
          <p:nvPr/>
        </p:nvSpPr>
        <p:spPr>
          <a:xfrm>
            <a:off x="109728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App de la familia</a:t>
            </a:r>
            <a:endParaRPr lang="en-US" sz="1400" dirty="0"/>
          </a:p>
        </p:txBody>
      </p:sp>
      <p:sp>
        <p:nvSpPr>
          <p:cNvPr id="7" name="Página del relevo"/>
          <p:cNvSpPr/>
          <p:nvPr/>
        </p:nvSpPr>
        <p:spPr>
          <a:xfrm>
            <a:off x="2480310" y="1554480"/>
            <a:ext cx="1748790" cy="731520"/>
          </a:xfrm>
          <a:prstGeom prst="roundRect">
            <a:avLst>
              <a:gd name="adj" fmla="val 15000"/>
            </a:avLst>
          </a:prstGeom>
          <a:solidFill>
            <a:schemeClr val="bg1"/>
          </a:solidFill>
          <a:ln w="12700">
            <a:solidFill>
              <a:schemeClr val="bg1"/>
            </a:solidFill>
            <a:prstDash val="solid"/>
          </a:ln>
        </p:spPr>
      </p:sp>
      <p:pic>
        <p:nvPicPr>
          <p:cNvPr id="8" name="Image 1" descr="Página del relevo">    </p:cNvPr>
          <p:cNvPicPr>
            <a:picLocks noChangeAspect="1"/>
          </p:cNvPicPr>
          <p:nvPr/>
        </p:nvPicPr>
        <p:blipFill>
          <a:blip r:embed="rId2"/>
          <a:stretch>
            <a:fillRect/>
          </a:stretch>
        </p:blipFill>
        <p:spPr>
          <a:xfrm>
            <a:off x="2617470" y="1755648"/>
            <a:ext cx="329184" cy="329184"/>
          </a:xfrm>
          <a:prstGeom prst="rect">
            <a:avLst/>
          </a:prstGeom>
        </p:spPr>
      </p:pic>
      <p:sp>
        <p:nvSpPr>
          <p:cNvPr id="9" name="Text 5"/>
          <p:cNvSpPr txBox="1"/>
          <p:nvPr/>
        </p:nvSpPr>
        <p:spPr>
          <a:xfrm>
            <a:off x="302895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Página del relevo</a:t>
            </a:r>
            <a:endParaRPr lang="en-US" sz="1400" dirty="0"/>
          </a:p>
        </p:txBody>
      </p:sp>
      <p:sp>
        <p:nvSpPr>
          <p:cNvPr id="10" name="Vista de comercio"/>
          <p:cNvSpPr/>
          <p:nvPr/>
        </p:nvSpPr>
        <p:spPr>
          <a:xfrm>
            <a:off x="4411980" y="1554480"/>
            <a:ext cx="1748790" cy="731520"/>
          </a:xfrm>
          <a:prstGeom prst="roundRect">
            <a:avLst>
              <a:gd name="adj" fmla="val 15000"/>
            </a:avLst>
          </a:prstGeom>
          <a:solidFill>
            <a:schemeClr val="bg1"/>
          </a:solidFill>
          <a:ln w="12700">
            <a:solidFill>
              <a:schemeClr val="bg1"/>
            </a:solidFill>
            <a:prstDash val="solid"/>
          </a:ln>
        </p:spPr>
      </p:sp>
      <p:pic>
        <p:nvPicPr>
          <p:cNvPr id="11" name="Image 2" descr="Vista de comercio">    </p:cNvPr>
          <p:cNvPicPr>
            <a:picLocks noChangeAspect="1"/>
          </p:cNvPicPr>
          <p:nvPr/>
        </p:nvPicPr>
        <p:blipFill>
          <a:blip r:embed="rId3"/>
          <a:stretch>
            <a:fillRect/>
          </a:stretch>
        </p:blipFill>
        <p:spPr>
          <a:xfrm>
            <a:off x="4549140" y="1755648"/>
            <a:ext cx="329184" cy="329184"/>
          </a:xfrm>
          <a:prstGeom prst="rect">
            <a:avLst/>
          </a:prstGeom>
        </p:spPr>
      </p:pic>
      <p:sp>
        <p:nvSpPr>
          <p:cNvPr id="12" name="Text 7"/>
          <p:cNvSpPr txBox="1"/>
          <p:nvPr/>
        </p:nvSpPr>
        <p:spPr>
          <a:xfrm>
            <a:off x="496062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Vista de comercio</a:t>
            </a:r>
            <a:endParaRPr lang="en-US" sz="1400" dirty="0"/>
          </a:p>
        </p:txBody>
      </p:sp>
      <p:sp>
        <p:nvSpPr>
          <p:cNvPr id="13" name="Backoffice"/>
          <p:cNvSpPr/>
          <p:nvPr/>
        </p:nvSpPr>
        <p:spPr>
          <a:xfrm>
            <a:off x="6343650" y="1554480"/>
            <a:ext cx="1748790" cy="731520"/>
          </a:xfrm>
          <a:prstGeom prst="roundRect">
            <a:avLst>
              <a:gd name="adj" fmla="val 15000"/>
            </a:avLst>
          </a:prstGeom>
          <a:solidFill>
            <a:schemeClr val="bg1"/>
          </a:solidFill>
          <a:ln w="12700">
            <a:solidFill>
              <a:schemeClr val="bg1"/>
            </a:solidFill>
            <a:prstDash val="solid"/>
          </a:ln>
        </p:spPr>
      </p:sp>
      <p:pic>
        <p:nvPicPr>
          <p:cNvPr id="14" name="Image 3" descr="Backoffice">    </p:cNvPr>
          <p:cNvPicPr>
            <a:picLocks noChangeAspect="1"/>
          </p:cNvPicPr>
          <p:nvPr/>
        </p:nvPicPr>
        <p:blipFill>
          <a:blip r:embed="rId4"/>
          <a:stretch>
            <a:fillRect/>
          </a:stretch>
        </p:blipFill>
        <p:spPr>
          <a:xfrm>
            <a:off x="6480810" y="1755648"/>
            <a:ext cx="329184" cy="329184"/>
          </a:xfrm>
          <a:prstGeom prst="rect">
            <a:avLst/>
          </a:prstGeom>
        </p:spPr>
      </p:pic>
      <p:sp>
        <p:nvSpPr>
          <p:cNvPr id="15" name="Text 9"/>
          <p:cNvSpPr txBox="1"/>
          <p:nvPr/>
        </p:nvSpPr>
        <p:spPr>
          <a:xfrm>
            <a:off x="689229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Backoffice</a:t>
            </a:r>
            <a:endParaRPr lang="en-US" sz="1400" dirty="0"/>
          </a:p>
        </p:txBody>
      </p:sp>
      <p:sp>
        <p:nvSpPr>
          <p:cNvPr id="16" name="Conector"/>
          <p:cNvSpPr/>
          <p:nvPr/>
        </p:nvSpPr>
        <p:spPr>
          <a:xfrm>
            <a:off x="4320540" y="2331720"/>
            <a:ext cx="914" cy="274320"/>
          </a:xfrm>
          <a:prstGeom prst="line">
            <a:avLst/>
          </a:prstGeom>
          <a:noFill/>
          <a:ln w="25400">
            <a:solidFill>
              <a:schemeClr val="tx2"/>
            </a:solidFill>
            <a:prstDash val="solid"/>
            <a:tailEnd type="triangle"/>
          </a:ln>
        </p:spPr>
      </p:sp>
      <p:sp>
        <p:nvSpPr>
          <p:cNvPr id="17" name="Text 11"/>
          <p:cNvSpPr txBox="1"/>
          <p:nvPr/>
        </p:nvSpPr>
        <p:spPr>
          <a:xfrm>
            <a:off x="4430268" y="2331720"/>
            <a:ext cx="2286000" cy="274320"/>
          </a:xfrm>
          <a:prstGeom prst="rect">
            <a:avLst/>
          </a:prstGeom>
          <a:noFill/>
          <a:ln/>
        </p:spPr>
        <p:txBody>
          <a:bodyPr wrap="square" lIns="0" tIns="0" rIns="0" bIns="0" rtlCol="0" anchor="ctr"/>
          <a:lstStyle/>
          <a:p>
            <a:pPr indent="0" marL="0">
              <a:buNone/>
            </a:pPr>
            <a:r>
              <a:rPr lang="en-US" sz="1100" dirty="0">
                <a:solidFill>
                  <a:schemeClr val="accent3"/>
                </a:solidFill>
              </a:rPr>
              <a:t>HTTPS · mismo origen</a:t>
            </a:r>
            <a:endParaRPr lang="en-US" sz="1100" dirty="0"/>
          </a:p>
        </p:txBody>
      </p:sp>
      <p:sp>
        <p:nvSpPr>
          <p:cNvPr id="18" name="API MATU"/>
          <p:cNvSpPr/>
          <p:nvPr/>
        </p:nvSpPr>
        <p:spPr>
          <a:xfrm>
            <a:off x="548640" y="2651760"/>
            <a:ext cx="7543800" cy="2194560"/>
          </a:xfrm>
          <a:prstGeom prst="roundRect">
            <a:avLst>
              <a:gd name="adj" fmla="val 5000"/>
            </a:avLst>
          </a:prstGeom>
          <a:solidFill>
            <a:schemeClr val="accent4"/>
          </a:solidFill>
          <a:ln w="12700">
            <a:solidFill>
              <a:schemeClr val="accent4"/>
            </a:solidFill>
            <a:prstDash val="solid"/>
          </a:ln>
        </p:spPr>
      </p:sp>
      <p:sp>
        <p:nvSpPr>
          <p:cNvPr id="19" name="Text 13"/>
          <p:cNvSpPr txBox="1"/>
          <p:nvPr/>
        </p:nvSpPr>
        <p:spPr>
          <a:xfrm>
            <a:off x="777240" y="2743200"/>
            <a:ext cx="7086600" cy="365760"/>
          </a:xfrm>
          <a:prstGeom prst="rect">
            <a:avLst/>
          </a:prstGeom>
          <a:noFill/>
          <a:ln/>
        </p:spPr>
        <p:txBody>
          <a:bodyPr wrap="square" lIns="0" tIns="0" rIns="0" bIns="0" rtlCol="0" anchor="ctr"/>
          <a:lstStyle/>
          <a:p>
            <a:pPr indent="0" marL="0">
              <a:buNone/>
            </a:pPr>
            <a:r>
              <a:rPr lang="en-US" sz="1500" b="1" dirty="0">
                <a:solidFill>
                  <a:schemeClr val="tx1"/>
                </a:solidFill>
              </a:rPr>
              <a:t>API MATU</a:t>
            </a:r>
            <a:pPr indent="0" marL="0">
              <a:buNone/>
            </a:pPr>
            <a:r>
              <a:rPr lang="en-US" sz="1500" dirty="0">
                <a:solidFill>
                  <a:schemeClr val="accent3"/>
                </a:solidFill>
              </a:rPr>
              <a:t>  ·  FastAPI · un solo proceso con módulos de límite explícito</a:t>
            </a:r>
            <a:endParaRPr lang="en-US" sz="1500" dirty="0"/>
          </a:p>
        </p:txBody>
      </p:sp>
      <p:sp>
        <p:nvSpPr>
          <p:cNvPr id="20" name="Capa 1 · el producto"/>
          <p:cNvSpPr/>
          <p:nvPr/>
        </p:nvSpPr>
        <p:spPr>
          <a:xfrm>
            <a:off x="777240" y="3154680"/>
            <a:ext cx="2240280" cy="960120"/>
          </a:xfrm>
          <a:prstGeom prst="roundRect">
            <a:avLst>
              <a:gd name="adj" fmla="val 11429"/>
            </a:avLst>
          </a:prstGeom>
          <a:solidFill>
            <a:schemeClr val="bg1"/>
          </a:solidFill>
          <a:ln w="12700">
            <a:solidFill>
              <a:schemeClr val="bg1"/>
            </a:solidFill>
            <a:prstDash val="solid"/>
          </a:ln>
        </p:spPr>
      </p:sp>
      <p:sp>
        <p:nvSpPr>
          <p:cNvPr id="21" name="Text 15"/>
          <p:cNvSpPr txBox="1"/>
          <p:nvPr/>
        </p:nvSpPr>
        <p:spPr>
          <a:xfrm>
            <a:off x="91440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1 · el producto</a:t>
            </a:r>
            <a:endParaRPr lang="en-US" sz="1400" dirty="0"/>
          </a:p>
        </p:txBody>
      </p:sp>
      <p:sp>
        <p:nvSpPr>
          <p:cNvPr id="22" name="Text 16"/>
          <p:cNvSpPr txBox="1"/>
          <p:nvPr/>
        </p:nvSpPr>
        <p:spPr>
          <a:xfrm>
            <a:off x="91440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care_plan</a:t>
            </a:r>
            <a:endParaRPr lang="en-US" sz="1400" dirty="0"/>
          </a:p>
        </p:txBody>
      </p:sp>
      <p:sp>
        <p:nvSpPr>
          <p:cNvPr id="23" name="Capa 2 · el diferenciador"/>
          <p:cNvSpPr/>
          <p:nvPr/>
        </p:nvSpPr>
        <p:spPr>
          <a:xfrm>
            <a:off x="3200400" y="3154680"/>
            <a:ext cx="2240280" cy="960120"/>
          </a:xfrm>
          <a:prstGeom prst="roundRect">
            <a:avLst>
              <a:gd name="adj" fmla="val 11429"/>
            </a:avLst>
          </a:prstGeom>
          <a:solidFill>
            <a:schemeClr val="bg1"/>
          </a:solidFill>
          <a:ln w="12700">
            <a:solidFill>
              <a:schemeClr val="bg1"/>
            </a:solidFill>
            <a:prstDash val="solid"/>
          </a:ln>
        </p:spPr>
      </p:sp>
      <p:sp>
        <p:nvSpPr>
          <p:cNvPr id="24" name="Text 18"/>
          <p:cNvSpPr txBox="1"/>
          <p:nvPr/>
        </p:nvSpPr>
        <p:spPr>
          <a:xfrm>
            <a:off x="333756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2 · el diferenciador</a:t>
            </a:r>
            <a:endParaRPr lang="en-US" sz="1400" dirty="0"/>
          </a:p>
        </p:txBody>
      </p:sp>
      <p:sp>
        <p:nvSpPr>
          <p:cNvPr id="25" name="Text 19"/>
          <p:cNvSpPr txBox="1"/>
          <p:nvPr/>
        </p:nvSpPr>
        <p:spPr>
          <a:xfrm>
            <a:off x="333756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consumption</a:t>
            </a:r>
            <a:endParaRPr lang="en-US" sz="1400" dirty="0"/>
          </a:p>
        </p:txBody>
      </p:sp>
      <p:sp>
        <p:nvSpPr>
          <p:cNvPr id="26" name="Capa 3 · se puede quitar"/>
          <p:cNvSpPr/>
          <p:nvPr/>
        </p:nvSpPr>
        <p:spPr>
          <a:xfrm>
            <a:off x="5623560" y="3154680"/>
            <a:ext cx="2240280" cy="960120"/>
          </a:xfrm>
          <a:prstGeom prst="roundRect">
            <a:avLst>
              <a:gd name="adj" fmla="val 11429"/>
            </a:avLst>
          </a:prstGeom>
          <a:solidFill>
            <a:schemeClr val="bg1"/>
          </a:solidFill>
          <a:ln w="15875">
            <a:solidFill>
              <a:schemeClr val="accent3"/>
            </a:solidFill>
            <a:prstDash val="dash"/>
          </a:ln>
        </p:spPr>
      </p:sp>
      <p:sp>
        <p:nvSpPr>
          <p:cNvPr id="27" name="Text 21"/>
          <p:cNvSpPr txBox="1"/>
          <p:nvPr/>
        </p:nvSpPr>
        <p:spPr>
          <a:xfrm>
            <a:off x="5760720" y="3246120"/>
            <a:ext cx="1965960" cy="320040"/>
          </a:xfrm>
          <a:prstGeom prst="rect">
            <a:avLst/>
          </a:prstGeom>
          <a:noFill/>
          <a:ln/>
        </p:spPr>
        <p:txBody>
          <a:bodyPr wrap="square" lIns="0" tIns="0" rIns="0" bIns="0" rtlCol="0" anchor="t"/>
          <a:lstStyle/>
          <a:p>
            <a:pPr indent="0" marL="0">
              <a:buNone/>
            </a:pPr>
            <a:r>
              <a:rPr lang="en-US" sz="1400" b="1" dirty="0">
                <a:solidFill>
                  <a:schemeClr val="accent3"/>
                </a:solidFill>
              </a:rPr>
              <a:t>Capa 3 · se puede quitar</a:t>
            </a:r>
            <a:endParaRPr lang="en-US" sz="1400" dirty="0"/>
          </a:p>
        </p:txBody>
      </p:sp>
      <p:sp>
        <p:nvSpPr>
          <p:cNvPr id="28" name="Text 22"/>
          <p:cNvSpPr txBox="1"/>
          <p:nvPr/>
        </p:nvSpPr>
        <p:spPr>
          <a:xfrm>
            <a:off x="576072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catalog · ordering · payments · fulfillment</a:t>
            </a:r>
            <a:endParaRPr lang="en-US" sz="1400" dirty="0"/>
          </a:p>
        </p:txBody>
      </p:sp>
      <p:sp>
        <p:nvSpPr>
          <p:cNvPr id="29" name="Etiqueta"/>
          <p:cNvSpPr txBox="1"/>
          <p:nvPr/>
        </p:nvSpPr>
        <p:spPr>
          <a:xfrm>
            <a:off x="777240" y="4251960"/>
            <a:ext cx="7086600" cy="384048"/>
          </a:xfrm>
          <a:prstGeom prst="roundRect">
            <a:avLst>
              <a:gd name="adj" fmla="val 23810"/>
            </a:avLst>
          </a:prstGeom>
          <a:solidFill>
            <a:schemeClr val="bg1"/>
          </a:solidFill>
          <a:ln>
            <a:solidFill>
              <a:schemeClr val="bg1"/>
            </a:solidFill>
          </a:ln>
        </p:spPr>
        <p:txBody>
          <a:bodyPr wrap="square" lIns="0" tIns="0" rIns="0" bIns="0" rtlCol="0" anchor="ctr"/>
          <a:lstStyle/>
          <a:p>
            <a:pPr algn="ctr" indent="0" marL="0">
              <a:buNone/>
            </a:pPr>
            <a:r>
              <a:rPr lang="en-US" sz="1300" dirty="0">
                <a:solidFill>
                  <a:schemeClr val="tx1"/>
                </a:solidFill>
              </a:rPr>
              <a:t>Transversales: iam · care_circle · notifications · shared</a:t>
            </a:r>
            <a:endParaRPr lang="en-US" sz="1300" dirty="0"/>
          </a:p>
        </p:txBody>
      </p:sp>
      <p:sp>
        <p:nvSpPr>
          <p:cNvPr id="30" name="Conector"/>
          <p:cNvSpPr/>
          <p:nvPr/>
        </p:nvSpPr>
        <p:spPr>
          <a:xfrm>
            <a:off x="4320540" y="4892040"/>
            <a:ext cx="914" cy="411480"/>
          </a:xfrm>
          <a:prstGeom prst="line">
            <a:avLst/>
          </a:prstGeom>
          <a:noFill/>
          <a:ln w="25400">
            <a:solidFill>
              <a:schemeClr val="tx2"/>
            </a:solidFill>
            <a:prstDash val="solid"/>
            <a:tailEnd type="triangle"/>
          </a:ln>
        </p:spPr>
      </p:sp>
      <p:sp>
        <p:nvSpPr>
          <p:cNvPr id="31" name="PostgreSQL 16"/>
          <p:cNvSpPr/>
          <p:nvPr/>
        </p:nvSpPr>
        <p:spPr>
          <a:xfrm>
            <a:off x="548640" y="5349240"/>
            <a:ext cx="1748790" cy="777240"/>
          </a:xfrm>
          <a:prstGeom prst="roundRect">
            <a:avLst>
              <a:gd name="adj" fmla="val 14118"/>
            </a:avLst>
          </a:prstGeom>
          <a:solidFill>
            <a:schemeClr val="bg1"/>
          </a:solidFill>
          <a:ln w="12700">
            <a:solidFill>
              <a:schemeClr val="bg1"/>
            </a:solidFill>
            <a:prstDash val="solid"/>
          </a:ln>
        </p:spPr>
      </p:sp>
      <p:pic>
        <p:nvPicPr>
          <p:cNvPr id="32" name="Image 4" descr="PostgreSQL 16">    </p:cNvPr>
          <p:cNvPicPr>
            <a:picLocks noChangeAspect="1"/>
          </p:cNvPicPr>
          <p:nvPr/>
        </p:nvPicPr>
        <p:blipFill>
          <a:blip r:embed="rId5"/>
          <a:stretch>
            <a:fillRect/>
          </a:stretch>
        </p:blipFill>
        <p:spPr>
          <a:xfrm>
            <a:off x="685800" y="5568696"/>
            <a:ext cx="329184" cy="329184"/>
          </a:xfrm>
          <a:prstGeom prst="rect">
            <a:avLst/>
          </a:prstGeom>
        </p:spPr>
      </p:pic>
      <p:sp>
        <p:nvSpPr>
          <p:cNvPr id="33" name="Text 26"/>
          <p:cNvSpPr txBox="1"/>
          <p:nvPr/>
        </p:nvSpPr>
        <p:spPr>
          <a:xfrm>
            <a:off x="109728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PostgreSQL 16</a:t>
            </a:r>
            <a:endParaRPr lang="en-US" sz="1300" dirty="0"/>
          </a:p>
          <a:p>
            <a:pPr indent="0" marL="0">
              <a:buNone/>
            </a:pPr>
            <a:r>
              <a:rPr lang="en-US" sz="1300" dirty="0">
                <a:solidFill>
                  <a:schemeClr val="accent3"/>
                </a:solidFill>
              </a:rPr>
              <a:t>RLS forzado</a:t>
            </a:r>
            <a:endParaRPr lang="en-US" sz="1300" dirty="0"/>
          </a:p>
        </p:txBody>
      </p:sp>
      <p:sp>
        <p:nvSpPr>
          <p:cNvPr id="34" name="Redis 7"/>
          <p:cNvSpPr/>
          <p:nvPr/>
        </p:nvSpPr>
        <p:spPr>
          <a:xfrm>
            <a:off x="2480310" y="5349240"/>
            <a:ext cx="1748790" cy="777240"/>
          </a:xfrm>
          <a:prstGeom prst="roundRect">
            <a:avLst>
              <a:gd name="adj" fmla="val 14118"/>
            </a:avLst>
          </a:prstGeom>
          <a:solidFill>
            <a:schemeClr val="bg1"/>
          </a:solidFill>
          <a:ln w="12700">
            <a:solidFill>
              <a:schemeClr val="bg1"/>
            </a:solidFill>
            <a:prstDash val="solid"/>
          </a:ln>
        </p:spPr>
      </p:sp>
      <p:pic>
        <p:nvPicPr>
          <p:cNvPr id="35" name="Image 5" descr="Redis 7">    </p:cNvPr>
          <p:cNvPicPr>
            <a:picLocks noChangeAspect="1"/>
          </p:cNvPicPr>
          <p:nvPr/>
        </p:nvPicPr>
        <p:blipFill>
          <a:blip r:embed="rId6"/>
          <a:stretch>
            <a:fillRect/>
          </a:stretch>
        </p:blipFill>
        <p:spPr>
          <a:xfrm>
            <a:off x="2617470" y="5568696"/>
            <a:ext cx="329184" cy="329184"/>
          </a:xfrm>
          <a:prstGeom prst="rect">
            <a:avLst/>
          </a:prstGeom>
        </p:spPr>
      </p:pic>
      <p:sp>
        <p:nvSpPr>
          <p:cNvPr id="36" name="Text 28"/>
          <p:cNvSpPr txBox="1"/>
          <p:nvPr/>
        </p:nvSpPr>
        <p:spPr>
          <a:xfrm>
            <a:off x="302895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Redis 7</a:t>
            </a:r>
            <a:endParaRPr lang="en-US" sz="1300" dirty="0"/>
          </a:p>
          <a:p>
            <a:pPr indent="0" marL="0">
              <a:buNone/>
            </a:pPr>
            <a:r>
              <a:rPr lang="en-US" sz="1300" dirty="0">
                <a:solidFill>
                  <a:schemeClr val="accent3"/>
                </a:solidFill>
              </a:rPr>
              <a:t>colas y caché</a:t>
            </a:r>
            <a:endParaRPr lang="en-US" sz="1300" dirty="0"/>
          </a:p>
        </p:txBody>
      </p:sp>
      <p:sp>
        <p:nvSpPr>
          <p:cNvPr id="37" name="Webpay Plus"/>
          <p:cNvSpPr/>
          <p:nvPr/>
        </p:nvSpPr>
        <p:spPr>
          <a:xfrm>
            <a:off x="4411980" y="5349240"/>
            <a:ext cx="1748790" cy="777240"/>
          </a:xfrm>
          <a:prstGeom prst="roundRect">
            <a:avLst>
              <a:gd name="adj" fmla="val 14118"/>
            </a:avLst>
          </a:prstGeom>
          <a:solidFill>
            <a:schemeClr val="bg1"/>
          </a:solidFill>
          <a:ln w="12700">
            <a:solidFill>
              <a:schemeClr val="bg1"/>
            </a:solidFill>
            <a:prstDash val="solid"/>
          </a:ln>
        </p:spPr>
      </p:sp>
      <p:pic>
        <p:nvPicPr>
          <p:cNvPr id="38" name="Image 6" descr="Webpay Plus">    </p:cNvPr>
          <p:cNvPicPr>
            <a:picLocks noChangeAspect="1"/>
          </p:cNvPicPr>
          <p:nvPr/>
        </p:nvPicPr>
        <p:blipFill>
          <a:blip r:embed="rId7"/>
          <a:stretch>
            <a:fillRect/>
          </a:stretch>
        </p:blipFill>
        <p:spPr>
          <a:xfrm>
            <a:off x="4549140" y="5568696"/>
            <a:ext cx="329184" cy="329184"/>
          </a:xfrm>
          <a:prstGeom prst="rect">
            <a:avLst/>
          </a:prstGeom>
        </p:spPr>
      </p:pic>
      <p:sp>
        <p:nvSpPr>
          <p:cNvPr id="39" name="Text 30"/>
          <p:cNvSpPr txBox="1"/>
          <p:nvPr/>
        </p:nvSpPr>
        <p:spPr>
          <a:xfrm>
            <a:off x="496062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Webpay Plus</a:t>
            </a:r>
            <a:endParaRPr lang="en-US" sz="1300" dirty="0"/>
          </a:p>
          <a:p>
            <a:pPr indent="0" marL="0">
              <a:buNone/>
            </a:pPr>
            <a:r>
              <a:rPr lang="en-US" sz="1300" dirty="0">
                <a:solidFill>
                  <a:schemeClr val="accent3"/>
                </a:solidFill>
              </a:rPr>
              <a:t>Transbank</a:t>
            </a:r>
            <a:endParaRPr lang="en-US" sz="1300" dirty="0"/>
          </a:p>
        </p:txBody>
      </p:sp>
      <p:sp>
        <p:nvSpPr>
          <p:cNvPr id="40" name="Clave maestra"/>
          <p:cNvSpPr/>
          <p:nvPr/>
        </p:nvSpPr>
        <p:spPr>
          <a:xfrm>
            <a:off x="6343650" y="5349240"/>
            <a:ext cx="1748790" cy="777240"/>
          </a:xfrm>
          <a:prstGeom prst="roundRect">
            <a:avLst>
              <a:gd name="adj" fmla="val 14118"/>
            </a:avLst>
          </a:prstGeom>
          <a:solidFill>
            <a:schemeClr val="bg1"/>
          </a:solidFill>
          <a:ln w="12700">
            <a:solidFill>
              <a:schemeClr val="bg1"/>
            </a:solidFill>
            <a:prstDash val="solid"/>
          </a:ln>
        </p:spPr>
      </p:sp>
      <p:pic>
        <p:nvPicPr>
          <p:cNvPr id="41" name="Image 7" descr="Clave maestra">    </p:cNvPr>
          <p:cNvPicPr>
            <a:picLocks noChangeAspect="1"/>
          </p:cNvPicPr>
          <p:nvPr/>
        </p:nvPicPr>
        <p:blipFill>
          <a:blip r:embed="rId8"/>
          <a:stretch>
            <a:fillRect/>
          </a:stretch>
        </p:blipFill>
        <p:spPr>
          <a:xfrm>
            <a:off x="6480810" y="5568696"/>
            <a:ext cx="329184" cy="329184"/>
          </a:xfrm>
          <a:prstGeom prst="rect">
            <a:avLst/>
          </a:prstGeom>
        </p:spPr>
      </p:pic>
      <p:sp>
        <p:nvSpPr>
          <p:cNvPr id="42" name="Text 32"/>
          <p:cNvSpPr txBox="1"/>
          <p:nvPr/>
        </p:nvSpPr>
        <p:spPr>
          <a:xfrm>
            <a:off x="689229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Clave maestra</a:t>
            </a:r>
            <a:endParaRPr lang="en-US" sz="1300" dirty="0"/>
          </a:p>
          <a:p>
            <a:pPr indent="0" marL="0">
              <a:buNone/>
            </a:pPr>
            <a:r>
              <a:rPr lang="en-US" sz="1300" dirty="0">
                <a:solidFill>
                  <a:schemeClr val="accent3"/>
                </a:solidFill>
              </a:rPr>
              <a:t>custodia externa</a:t>
            </a:r>
            <a:endParaRPr lang="en-US" sz="1300" dirty="0"/>
          </a:p>
        </p:txBody>
      </p:sp>
      <p:sp>
        <p:nvSpPr>
          <p:cNvPr id="43" name="Seguridad y normativa"/>
          <p:cNvSpPr/>
          <p:nvPr/>
        </p:nvSpPr>
        <p:spPr>
          <a:xfrm>
            <a:off x="8366760" y="1554480"/>
            <a:ext cx="3276295" cy="4572000"/>
          </a:xfrm>
          <a:prstGeom prst="roundRect">
            <a:avLst>
              <a:gd name="adj" fmla="val 3349"/>
            </a:avLst>
          </a:prstGeom>
          <a:solidFill>
            <a:schemeClr val="bg1"/>
          </a:solidFill>
          <a:ln w="12700">
            <a:solidFill>
              <a:schemeClr val="bg1"/>
            </a:solidFill>
            <a:prstDash val="solid"/>
          </a:ln>
        </p:spPr>
      </p:sp>
      <p:sp>
        <p:nvSpPr>
          <p:cNvPr id="44" name="Círculo de ícono"/>
          <p:cNvSpPr/>
          <p:nvPr/>
        </p:nvSpPr>
        <p:spPr>
          <a:xfrm>
            <a:off x="8595360" y="1755648"/>
            <a:ext cx="548640" cy="548640"/>
          </a:xfrm>
          <a:prstGeom prst="ellipse">
            <a:avLst/>
          </a:prstGeom>
          <a:solidFill>
            <a:schemeClr val="tx2"/>
          </a:solidFill>
          <a:ln w="12700">
            <a:solidFill>
              <a:schemeClr val="tx2"/>
            </a:solidFill>
            <a:prstDash val="solid"/>
          </a:ln>
        </p:spPr>
      </p:sp>
      <p:pic>
        <p:nvPicPr>
          <p:cNvPr id="45" name="Image 8" descr="Ícono ShieldCheck">    </p:cNvPr>
          <p:cNvPicPr>
            <a:picLocks noChangeAspect="1"/>
          </p:cNvPicPr>
          <p:nvPr/>
        </p:nvPicPr>
        <p:blipFill>
          <a:blip r:embed="rId9"/>
          <a:stretch>
            <a:fillRect/>
          </a:stretch>
        </p:blipFill>
        <p:spPr>
          <a:xfrm>
            <a:off x="8727034" y="1887322"/>
            <a:ext cx="285293" cy="285293"/>
          </a:xfrm>
          <a:prstGeom prst="rect">
            <a:avLst/>
          </a:prstGeom>
        </p:spPr>
      </p:pic>
      <p:sp>
        <p:nvSpPr>
          <p:cNvPr id="46" name="Text 35"/>
          <p:cNvSpPr txBox="1"/>
          <p:nvPr/>
        </p:nvSpPr>
        <p:spPr>
          <a:xfrm>
            <a:off x="9281160" y="1755648"/>
            <a:ext cx="2224735" cy="548640"/>
          </a:xfrm>
          <a:prstGeom prst="rect">
            <a:avLst/>
          </a:prstGeom>
          <a:noFill/>
          <a:ln/>
        </p:spPr>
        <p:txBody>
          <a:bodyPr wrap="square" lIns="0" tIns="0" rIns="0" bIns="0" rtlCol="0" anchor="ctr"/>
          <a:lstStyle/>
          <a:p>
            <a:pPr indent="0" marL="0">
              <a:buNone/>
            </a:pPr>
            <a:r>
              <a:rPr lang="en-US" sz="1700" b="1" dirty="0">
                <a:solidFill>
                  <a:schemeClr val="tx1"/>
                </a:solidFill>
              </a:rPr>
              <a:t>Seguridad desde el diseño</a:t>
            </a:r>
            <a:endParaRPr lang="en-US" sz="1700" dirty="0"/>
          </a:p>
        </p:txBody>
      </p:sp>
      <p:sp>
        <p:nvSpPr>
          <p:cNvPr id="47" name="Text 36"/>
          <p:cNvSpPr txBox="1"/>
          <p:nvPr/>
        </p:nvSpPr>
        <p:spPr>
          <a:xfrm>
            <a:off x="8595360" y="2514600"/>
            <a:ext cx="2864815" cy="34747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Aislamiento por familia con RLS forzado. La app se conecta como matu_app, nunca como dueño</a:t>
            </a:r>
            <a:endParaRPr lang="en-US" sz="1400" dirty="0"/>
          </a:p>
          <a:p>
            <a:pPr marL="177800" indent="-177800">
              <a:spcAft>
                <a:spcPts val="800"/>
              </a:spcAft>
              <a:buSzPct val="100000"/>
              <a:buChar char="•"/>
            </a:pPr>
            <a:r>
              <a:rPr lang="en-US" sz="1400" dirty="0">
                <a:solidFill>
                  <a:schemeClr val="tx1"/>
                </a:solidFill>
              </a:rPr>
              <a:t>Ficha cifrada con AES-256-GCM y una clave por persona</a:t>
            </a:r>
            <a:endParaRPr lang="en-US" sz="1400" dirty="0"/>
          </a:p>
          <a:p>
            <a:pPr marL="177800" indent="-177800">
              <a:spcAft>
                <a:spcPts val="800"/>
              </a:spcAft>
              <a:buSzPct val="100000"/>
              <a:buChar char="•"/>
            </a:pPr>
            <a:r>
              <a:rPr lang="en-US" sz="1400" dirty="0">
                <a:solidFill>
                  <a:schemeClr val="tx1"/>
                </a:solidFill>
              </a:rPr>
              <a:t>Un recurso de otra familia responde 404, nunca 403</a:t>
            </a:r>
            <a:endParaRPr lang="en-US" sz="1400" dirty="0"/>
          </a:p>
          <a:p>
            <a:pPr marL="177800" indent="-177800">
              <a:spcAft>
                <a:spcPts val="800"/>
              </a:spcAft>
              <a:buSzPct val="100000"/>
              <a:buChar char="•"/>
            </a:pPr>
            <a:r>
              <a:rPr lang="en-US" sz="1400" dirty="0">
                <a:solidFill>
                  <a:schemeClr val="tx1"/>
                </a:solidFill>
              </a:rPr>
              <a:t>Ley 19.628 y Ley 21.719, vigente desde el 1 de diciembre de 2026</a:t>
            </a:r>
            <a:endParaRPr lang="en-US" sz="1400" dirty="0"/>
          </a:p>
          <a:p>
            <a:pPr marL="177800" indent="-177800">
              <a:spcAft>
                <a:spcPts val="800"/>
              </a:spcAft>
              <a:buSzPct val="100000"/>
              <a:buChar char="•"/>
            </a:pPr>
            <a:r>
              <a:rPr lang="en-US" sz="1400" dirty="0">
                <a:solidFill>
                  <a:schemeClr val="tx1"/>
                </a:solidFill>
              </a:rPr>
              <a:t>Una prueba verifica que la capa 3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DATOS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10058400" y="1627632"/>
            <a:ext cx="144749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10058400" y="2523744"/>
            <a:ext cx="144749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10058400" y="3419856"/>
            <a:ext cx="144749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058400" y="4315968"/>
            <a:ext cx="144749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NEGOCIO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400" b="1" spc="200" kern="0" dirty="0">
                <a:solidFill>
                  <a:schemeClr val="bg1"/>
                </a:solidFill>
              </a:rPr>
              <a:t>DEMOSTRACIÓN</a:t>
            </a:r>
            <a:endParaRPr lang="en-US" sz="1400" dirty="0"/>
          </a:p>
        </p:txBody>
      </p:sp>
      <p:sp>
        <p:nvSpPr>
          <p:cNvPr id="3" name="Text 1"/>
          <p:cNvSpPr txBox="1"/>
          <p:nvPr/>
        </p:nvSpPr>
        <p:spPr>
          <a:xfrm>
            <a:off x="548640" y="822960"/>
            <a:ext cx="8229600" cy="822960"/>
          </a:xfrm>
          <a:prstGeom prst="rect">
            <a:avLst/>
          </a:prstGeom>
          <a:noFill/>
          <a:ln/>
        </p:spPr>
        <p:txBody>
          <a:bodyPr wrap="square" lIns="0" tIns="0" rIns="0" bIns="0" rtlCol="0" anchor="ctr"/>
          <a:lstStyle/>
          <a:p>
            <a:pPr indent="0" marL="0">
              <a:buNone/>
            </a:pPr>
            <a:r>
              <a:rPr lang="en-US" sz="4400" b="1" dirty="0">
                <a:solidFill>
                  <a:schemeClr val="bg1"/>
                </a:solidFill>
                <a:latin typeface="+mj-lt" pitchFamily="34" charset="0"/>
                <a:ea typeface="+mj-lt" pitchFamily="34" charset="-122"/>
                <a:cs typeface="+mj-lt" pitchFamily="34" charset="-120"/>
              </a:rPr>
              <a:t>MATU, en vivo</a:t>
            </a:r>
            <a:endParaRPr lang="en-US" sz="4400" dirty="0"/>
          </a:p>
        </p:txBody>
      </p:sp>
      <p:sp>
        <p:nvSpPr>
          <p:cNvPr id="4" name="Text 2"/>
          <p:cNvSpPr txBox="1"/>
          <p:nvPr/>
        </p:nvSpPr>
        <p:spPr>
          <a:xfrm>
            <a:off x="548640" y="16916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711135" y="868680"/>
            <a:ext cx="3931920" cy="457200"/>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Piloto académico con datos de prueba</a:t>
            </a:r>
            <a:endParaRPr lang="en-US" sz="1500" dirty="0"/>
          </a:p>
        </p:txBody>
      </p:sp>
      <p:sp>
        <p:nvSpPr>
          <p:cNvPr id="6" name="Ficha de relevo"/>
          <p:cNvSpPr/>
          <p:nvPr/>
        </p:nvSpPr>
        <p:spPr>
          <a:xfrm>
            <a:off x="548640" y="2514600"/>
            <a:ext cx="2602154" cy="3291840"/>
          </a:xfrm>
          <a:prstGeom prst="roundRect">
            <a:avLst>
              <a:gd name="adj" fmla="val 4217"/>
            </a:avLst>
          </a:prstGeom>
          <a:solidFill>
            <a:schemeClr val="bg1"/>
          </a:solidFill>
          <a:ln w="12700">
            <a:solidFill>
              <a:schemeClr val="bg1"/>
            </a:solidFill>
            <a:prstDash val="solid"/>
          </a:ln>
        </p:spPr>
      </p:sp>
      <p:sp>
        <p:nvSpPr>
          <p:cNvPr id="7" name="Número"/>
          <p:cNvSpPr txBox="1"/>
          <p:nvPr/>
        </p:nvSpPr>
        <p:spPr>
          <a:xfrm>
            <a:off x="777240"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1</a:t>
            </a:r>
            <a:endParaRPr lang="en-US" sz="1900" dirty="0"/>
          </a:p>
        </p:txBody>
      </p:sp>
      <p:pic>
        <p:nvPicPr>
          <p:cNvPr id="8" name="Image 0" descr="Ficha de relevo">    </p:cNvPr>
          <p:cNvPicPr>
            <a:picLocks noChangeAspect="1"/>
          </p:cNvPicPr>
          <p:nvPr/>
        </p:nvPicPr>
        <p:blipFill>
          <a:blip r:embed="rId1"/>
          <a:stretch>
            <a:fillRect/>
          </a:stretch>
        </p:blipFill>
        <p:spPr>
          <a:xfrm>
            <a:off x="2464994" y="2788920"/>
            <a:ext cx="411480" cy="411480"/>
          </a:xfrm>
          <a:prstGeom prst="rect">
            <a:avLst/>
          </a:prstGeom>
        </p:spPr>
      </p:pic>
      <p:sp>
        <p:nvSpPr>
          <p:cNvPr id="9" name="Text 6"/>
          <p:cNvSpPr txBox="1"/>
          <p:nvPr/>
        </p:nvSpPr>
        <p:spPr>
          <a:xfrm>
            <a:off x="777240"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Ficha de relevo</a:t>
            </a:r>
            <a:endParaRPr lang="en-US" sz="1900" dirty="0"/>
          </a:p>
        </p:txBody>
      </p:sp>
      <p:sp>
        <p:nvSpPr>
          <p:cNvPr id="10" name="Text 7"/>
          <p:cNvSpPr txBox="1"/>
          <p:nvPr/>
        </p:nvSpPr>
        <p:spPr>
          <a:xfrm>
            <a:off x="777240"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Cuenta, permiso, los tres campos, compartir con PIN, el relevo la abre, "Quién la vio" y cortar el enlace</a:t>
            </a:r>
            <a:endParaRPr lang="en-US" sz="1500" dirty="0"/>
          </a:p>
        </p:txBody>
      </p:sp>
      <p:sp>
        <p:nvSpPr>
          <p:cNvPr id="11" name="Consumo y predicción"/>
          <p:cNvSpPr/>
          <p:nvPr/>
        </p:nvSpPr>
        <p:spPr>
          <a:xfrm>
            <a:off x="3379394" y="2514600"/>
            <a:ext cx="2602154" cy="3291840"/>
          </a:xfrm>
          <a:prstGeom prst="roundRect">
            <a:avLst>
              <a:gd name="adj" fmla="val 4217"/>
            </a:avLst>
          </a:prstGeom>
          <a:solidFill>
            <a:schemeClr val="bg1"/>
          </a:solidFill>
          <a:ln w="12700">
            <a:solidFill>
              <a:schemeClr val="bg1"/>
            </a:solidFill>
            <a:prstDash val="solid"/>
          </a:ln>
        </p:spPr>
      </p:sp>
      <p:sp>
        <p:nvSpPr>
          <p:cNvPr id="12" name="Número"/>
          <p:cNvSpPr txBox="1"/>
          <p:nvPr/>
        </p:nvSpPr>
        <p:spPr>
          <a:xfrm>
            <a:off x="3607994"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2</a:t>
            </a:r>
            <a:endParaRPr lang="en-US" sz="1900" dirty="0"/>
          </a:p>
        </p:txBody>
      </p:sp>
      <p:pic>
        <p:nvPicPr>
          <p:cNvPr id="13" name="Image 1" descr="Consumo y predicción">    </p:cNvPr>
          <p:cNvPicPr>
            <a:picLocks noChangeAspect="1"/>
          </p:cNvPicPr>
          <p:nvPr/>
        </p:nvPicPr>
        <p:blipFill>
          <a:blip r:embed="rId2"/>
          <a:stretch>
            <a:fillRect/>
          </a:stretch>
        </p:blipFill>
        <p:spPr>
          <a:xfrm>
            <a:off x="5295748" y="2788920"/>
            <a:ext cx="411480" cy="411480"/>
          </a:xfrm>
          <a:prstGeom prst="rect">
            <a:avLst/>
          </a:prstGeom>
        </p:spPr>
      </p:pic>
      <p:sp>
        <p:nvSpPr>
          <p:cNvPr id="14" name="Text 10"/>
          <p:cNvSpPr txBox="1"/>
          <p:nvPr/>
        </p:nvSpPr>
        <p:spPr>
          <a:xfrm>
            <a:off x="3607994"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Consumo y predicción</a:t>
            </a:r>
            <a:endParaRPr lang="en-US" sz="1900" dirty="0"/>
          </a:p>
        </p:txBody>
      </p:sp>
      <p:sp>
        <p:nvSpPr>
          <p:cNvPr id="15" name="Text 11"/>
          <p:cNvSpPr txBox="1"/>
          <p:nvPr/>
        </p:nvSpPr>
        <p:spPr>
          <a:xfrm>
            <a:off x="3607994"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Qué se está acabando, declarar el consumo, "Ya lo compré" y la lista para exportar o compartir</a:t>
            </a:r>
            <a:endParaRPr lang="en-US" sz="1500" dirty="0"/>
          </a:p>
        </p:txBody>
      </p:sp>
      <p:sp>
        <p:nvSpPr>
          <p:cNvPr id="16" name="Pedido y pago"/>
          <p:cNvSpPr/>
          <p:nvPr/>
        </p:nvSpPr>
        <p:spPr>
          <a:xfrm>
            <a:off x="6210148" y="2514600"/>
            <a:ext cx="2602154" cy="3291840"/>
          </a:xfrm>
          <a:prstGeom prst="roundRect">
            <a:avLst>
              <a:gd name="adj" fmla="val 4217"/>
            </a:avLst>
          </a:prstGeom>
          <a:solidFill>
            <a:schemeClr val="bg1"/>
          </a:solidFill>
          <a:ln w="12700">
            <a:solidFill>
              <a:schemeClr val="bg1"/>
            </a:solidFill>
            <a:prstDash val="solid"/>
          </a:ln>
        </p:spPr>
      </p:sp>
      <p:sp>
        <p:nvSpPr>
          <p:cNvPr id="17" name="Número"/>
          <p:cNvSpPr txBox="1"/>
          <p:nvPr/>
        </p:nvSpPr>
        <p:spPr>
          <a:xfrm>
            <a:off x="6438748"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3</a:t>
            </a:r>
            <a:endParaRPr lang="en-US" sz="1900" dirty="0"/>
          </a:p>
        </p:txBody>
      </p:sp>
      <p:pic>
        <p:nvPicPr>
          <p:cNvPr id="18" name="Image 2" descr="Pedido y pago">    </p:cNvPr>
          <p:cNvPicPr>
            <a:picLocks noChangeAspect="1"/>
          </p:cNvPicPr>
          <p:nvPr/>
        </p:nvPicPr>
        <p:blipFill>
          <a:blip r:embed="rId3"/>
          <a:stretch>
            <a:fillRect/>
          </a:stretch>
        </p:blipFill>
        <p:spPr>
          <a:xfrm>
            <a:off x="8126501" y="2788920"/>
            <a:ext cx="411480" cy="411480"/>
          </a:xfrm>
          <a:prstGeom prst="rect">
            <a:avLst/>
          </a:prstGeom>
        </p:spPr>
      </p:pic>
      <p:sp>
        <p:nvSpPr>
          <p:cNvPr id="19" name="Text 14"/>
          <p:cNvSpPr txBox="1"/>
          <p:nvPr/>
        </p:nvSpPr>
        <p:spPr>
          <a:xfrm>
            <a:off x="6438748"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Pedido y pago</a:t>
            </a:r>
            <a:endParaRPr lang="en-US" sz="1900" dirty="0"/>
          </a:p>
        </p:txBody>
      </p:sp>
      <p:sp>
        <p:nvSpPr>
          <p:cNvPr id="20" name="Text 15"/>
          <p:cNvSpPr txBox="1"/>
          <p:nvPr/>
        </p:nvSpPr>
        <p:spPr>
          <a:xfrm>
            <a:off x="6438748"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El total antes de pagar, la pasarela simulada y la vista de comercio con su código de retiro</a:t>
            </a:r>
            <a:endParaRPr lang="en-US" sz="1500" dirty="0"/>
          </a:p>
        </p:txBody>
      </p:sp>
      <p:sp>
        <p:nvSpPr>
          <p:cNvPr id="21" name="Casos borde"/>
          <p:cNvSpPr/>
          <p:nvPr/>
        </p:nvSpPr>
        <p:spPr>
          <a:xfrm>
            <a:off x="9040901" y="2514600"/>
            <a:ext cx="2602154" cy="3291840"/>
          </a:xfrm>
          <a:prstGeom prst="roundRect">
            <a:avLst>
              <a:gd name="adj" fmla="val 4217"/>
            </a:avLst>
          </a:prstGeom>
          <a:solidFill>
            <a:schemeClr val="bg1"/>
          </a:solidFill>
          <a:ln w="12700">
            <a:solidFill>
              <a:schemeClr val="bg1"/>
            </a:solidFill>
            <a:prstDash val="solid"/>
          </a:ln>
        </p:spPr>
      </p:sp>
      <p:sp>
        <p:nvSpPr>
          <p:cNvPr id="22" name="Número"/>
          <p:cNvSpPr txBox="1"/>
          <p:nvPr/>
        </p:nvSpPr>
        <p:spPr>
          <a:xfrm>
            <a:off x="9269501"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4</a:t>
            </a:r>
            <a:endParaRPr lang="en-US" sz="1900" dirty="0"/>
          </a:p>
        </p:txBody>
      </p:sp>
      <p:pic>
        <p:nvPicPr>
          <p:cNvPr id="23" name="Image 3" descr="Casos borde">    </p:cNvPr>
          <p:cNvPicPr>
            <a:picLocks noChangeAspect="1"/>
          </p:cNvPicPr>
          <p:nvPr/>
        </p:nvPicPr>
        <p:blipFill>
          <a:blip r:embed="rId4"/>
          <a:stretch>
            <a:fillRect/>
          </a:stretch>
        </p:blipFill>
        <p:spPr>
          <a:xfrm>
            <a:off x="10957255" y="2788920"/>
            <a:ext cx="411480" cy="411480"/>
          </a:xfrm>
          <a:prstGeom prst="rect">
            <a:avLst/>
          </a:prstGeom>
        </p:spPr>
      </p:pic>
      <p:sp>
        <p:nvSpPr>
          <p:cNvPr id="24" name="Text 18"/>
          <p:cNvSpPr txBox="1"/>
          <p:nvPr/>
        </p:nvSpPr>
        <p:spPr>
          <a:xfrm>
            <a:off x="9269501"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Casos borde</a:t>
            </a:r>
            <a:endParaRPr lang="en-US" sz="1900" dirty="0"/>
          </a:p>
        </p:txBody>
      </p:sp>
      <p:sp>
        <p:nvSpPr>
          <p:cNvPr id="25" name="Text 19"/>
          <p:cNvSpPr txBox="1"/>
          <p:nvPr/>
        </p:nvSpPr>
        <p:spPr>
          <a:xfrm>
            <a:off x="9269501"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Dos versiones de un campo, PIN incorrecto, enlace no disponible y texto al 200%</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MEJORAS FUTURAS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CONCLUSIÓN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A8261B"/>
      </a:accent6>
      <a:hlink>
        <a:srgbClr val="086764"/>
      </a:hlink>
      <a:folHlink>
        <a:srgbClr val="485B5F"/>
      </a:folHlink>
    </a:clrScheme>
    <a:fontScheme name="MA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2026-10-28T02:47:59Z</dcterms:created>
  <dcterms:modified xsi:type="dcterms:W3CDTF">2026-10-28T02:47:59Z</dcterms:modified>
</cp:coreProperties>
</file>