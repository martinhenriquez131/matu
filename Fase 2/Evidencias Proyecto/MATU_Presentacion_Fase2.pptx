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f2f7153b-f3ab-f249-5680-b479980f763c}">
          <p14:sldIdLst>
            <p14:sldId id="256"/>
          </p14:sldIdLst>
        </p14:section>
        <p14:section name="Equipo" id="{3aafa847-bd0e-51b4-7591-dbc812d05c28}">
          <p14:sldIdLst>
            <p14:sldId id="257"/>
          </p14:sldIdLst>
        </p14:section>
        <p14:section name="Contexto" id="{7a783648-e9f9-8f5e-97f7-20dd25214f10}">
          <p14:sldIdLst>
            <p14:sldId id="258"/>
          </p14:sldIdLst>
        </p14:section>
        <p14:section name="Objetivos" id="{0a1d14fd-9b9c-a3e2-f482-ab4760dfed58}">
          <p14:sldIdLst>
            <p14:sldId id="259"/>
            <p14:sldId id="260"/>
          </p14:sldIdLst>
        </p14:section>
        <p14:section name="Alcance y requerimientos" id="{80b11b1b-b029-b4fb-c90d-b8f1897973ba}">
          <p14:sldIdLst>
            <p14:sldId id="261"/>
            <p14:sldId id="262"/>
          </p14:sldIdLst>
        </p14:section>
        <p14:section name="Metodología y cronograma" id="{a62c85cc-5a83-7570-f1f6-13a5d0ae3d83}">
          <p14:sldIdLst>
            <p14:sldId id="263"/>
            <p14:sldId id="264"/>
          </p14:sldIdLst>
        </p14:section>
        <p14:section name="Solución técnica" id="{9cd525f6-b312-0de1-2c9e-f734a3589ec9}">
          <p14:sldIdLst>
            <p14:sldId id="265"/>
            <p14:sldId id="266"/>
            <p14:sldId id="267"/>
          </p14:sldIdLst>
        </p14:section>
        <p14:section name="Negocio" id="{1d37cecf-d2cb-b2e5-e26f-a8ac4a4e870d}">
          <p14:sldIdLst>
            <p14:sldId id="268"/>
          </p14:sldIdLst>
        </p14:section>
        <p14:section name="Demostración" id="{21c0594d-5b8b-6d4a-b7d7-61491afd64fd}">
          <p14:sldIdLst>
            <p14:sldId id="269"/>
          </p14:sldIdLst>
        </p14:section>
        <p14:section name="Cierre" id="{828c3894-e5a3-6eab-5c27-ac95835e3ce4}">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Buenas tardes. Somos Jorge Espinoza, Product Owner, y Martín Henríquez, Scrum Master, y presentamos el avance de MATU, un sistema de continuidad del cuidado para personas mayores con dependencia. Yo explico qué problema resuelve y cómo lo resuelve, y Martín muestra la demo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Somos dos y repartimos el trabajo por eje vertical y no por capa: yo llevo el cuidado y el consumo, y Martín la identidad, el dinero y la operación, cada uno de punta a punta. Yo soy Product Owner y Martín es Scrum Master. Nos apoyamos en seis agentes de IA, pero las decisiones y la revisión de cada cambio son siempre nuestras.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En Chile un millón y medio de personas adultas viven con dependencia, y casi todas las cuidan familiares sin pago. Entrevistamos a diez cuidadoras: nueve dejaron de salir por falta de relevo, y seis de nueve relevos fallaron por algo que solo sabía la cuidadora. MATU responde en tres capas y en ese orden: la ficha de relevo, la predicción de cuándo se acaba cada insumo y, como servicio que se puede quitar, el despacho.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Nuestro objetivo general es una plataforma que parte del plan de cuidado, predice cuándo se acaba cada insumo y coordina la reposición y el pago. Al cierre del semestre debe quedar desplegada y operativa en un entorno de demostración, sin dinero real. Es el mismo objetivo que presentamos en la Fase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Cada objetivo específico tiene un sprint de cierre, para poder verificarlo y no solo declararlo. Los dos primeros están cumplidos: la validación con diez cuidadoras y el modelo de datos con aislamiento probado. La ficha con su relevo es el sprint 2, que estamos cerrando, y el objetivo de pago cambió con el ADR-027: ahora se cobra una sola vez el total confirmado.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En el semestre entra lo que nunca se sacrifica: la ficha de relevo, el enlace con PIN, la predicción y la lista exportable, más el pedido con un solo cobro. Las restricciones son reales: somos dos, es un piloto académico sin dinero real y todavía no hay convenios, así que el catálogo es simulado. El pago dividido, la reposición programada, la app de repartidor y los medicamentos quedan diseñados para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De 42 requerimientos funcionales, 26 son obligatorios en el MVP, y los agrupamos por capa: la ficha y su acceso, la predicción y la lista, y el pedido con un solo cobro. Los no funcionales son seis atributos de calidad medibles, y el primero es que ningún pago quede sin registrar. La accesibilidad es un requisito y no un acabado: una persona de 68 años debe completar la ficha en menos de tres minutos con el texto al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Trabajamos con Scrum en sprints de una semana: planificamos el viernes y revisamos y hacemos la retrospectiva el jueves. Cada historia va en su rama y termina en un pull request que revisa y fusiona la otra persona, con el CI en verde. Desarrollamos con asistencia de IA, y por eso medimos cuánto nos acelera en vez de suponerlo.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El sprint 0 se extendió hasta la semana 10 mientras acordábamos el entorno con el profesor, y desde ahí corremos sprints de viernes a jueves. Los sprints 0 y 1 están cerrados y el 2, la ficha y el acceso de relevo, cierra este jueves. Quedan tres sprints de construcción hasta la entrega final de la semana 15, y dos de reserva antes de la Fase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Elegimos tecnología aburrida y documentada, porque aprendemos el stack mientras construimos. El backend es Python con FastAPI sobre PostgreSQL 16 con Row Level Security, el frontend es React con TypeScript, y los pagos van con Webpay Plus. MATU es una app móvil en su visión: en el semestre la construimos como app web mobile first y la app nativa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MATU es un monolito modular: una sola API en FastAPI con módulos de límite explícito, porque el volumen del piloto no justifica microservicios. Las dependencias apuntan hacia abajo, así que la capa de despacho se puede quitar y la ficha y la predicción siguen funcionando, y una prueba automática lo verifica. La seguridad es estructural: cada familia aislada con Row Level Security y la ficha cifrada con una clave por persona, según la Ley 21.719.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Todo el modelo cuelga del grupo familiar, que es la unidad de aislamiento: cada tabla de negocio lleva su grupo y PostgreSQL filtra por fila. De la persona cuidada salen la ficha con sus secciones cifradas y sus accesos de relevo, el perfil de consumo con sus avisos y, en la capa que se puede quitar, el pedido y su cobro. Son 49 tablas, 45 con Row Level Security forzado, y 31 pruebas de aislamiento corren en verde contra una base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El despacho por sí solo no sostiene el negocio: deja 1.400 pesos por familia al mes y necesitaría 429 familias para el equilibrio. Con una suscripción de 5.990 pesos el margen sube a 7.210 y el equilibrio baja a 84 familias, que es alcanzable en una comuna. Seis de diez entrevistadas ya pagan por algún servicio de cuidado, pero lo declaramos como ejercicio de viabilidad: el costo de conseguir cada familia sigue sin medirse.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unos 8 minutos. Les muestro MATU funcionando: la cuenta, el grupo y el alta con permiso usan el backend real si está levantado, y el resto corre simulado en memoria, siempre con datos sintéticos. Recorro las tres capas en orden, la ficha con su enlace y PIN, el consumo con la lista y el pedido con un solo cobro, y termino con los casos borde. Si algo falla, la demo pasa sola al modo simulado.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Lo que dejamos fuera no quedó olvidado: está diseñado en la arquitectura y en el modelo de datos. La primera prioridad de la fase 2 son los medicamentos y el retiro en CESFAM, que fue la demanda más repetida en las entrevistas. Después vienen la app nativa, el pago dividido, la reposición programada, la app de repartidor y los convenios reales con comercios.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En resumen: el problema está medido, la solución va en el orden correcto y la seguridad es parte del diseño, no un agregado. También decimos lo que falta: la consulta legal, una figura jurídica para vender y los convenios con comercios. Por eso el semestre entrega un entorno de demostración, y la evidencia de la Fase 1 ya corrigió el producto una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Gracias por su atención. MATU busca que quien cuida pueda salir unas horas sabiendo que quien la reemplaza tiene lo que necesita.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accent3"/>
                </a:solidFill>
              </a:rPr>
              <a:t>MATU · Presentación de la Fase 2 · 30/10/2026</a:t>
            </a:r>
            <a:endParaRPr lang="en-US" sz="1100" dirty="0"/>
          </a:p>
        </p:txBody>
      </p:sp>
      <p:sp>
        <p:nvSpPr>
          <p:cNvPr id="4" name="Text 1"/>
          <p:cNvSpPr/>
          <p:nvPr>
            <p:ph idx="102" type="body" hasCustomPrompt="1"/>
          </p:nvPr>
        </p:nvSpPr>
        <p:spPr>
          <a:xfrm>
            <a:off x="548640" y="347472"/>
            <a:ext cx="8229600" cy="292608"/>
          </a:xfrm>
          <a:prstGeom prst="rect">
            <a:avLst/>
          </a:prstGeom>
          <a:noFill/>
          <a:ln/>
        </p:spPr>
        <p:txBody>
          <a:bodyPr wrap="square" rtlCol="0"/>
          <a:lstStyle>
            <a:lvl1pPr indent="0" marL="0">
              <a:buNone/>
              <a:defRPr lang="en-US" sz="1300" b="1" spc="150" kern="0" dirty="0">
                <a:solidFill>
                  <a:schemeClr val="tx2"/>
                </a:solidFill>
              </a:defRPr>
            </a:lvl1pPr>
          </a:lstStyle>
          <a:p>
            <a:pPr indent="0" marL="0">
              <a:buNone/>
            </a:pPr>
            <a:endParaRPr lang="en-US" sz="1300" dirty="0"/>
          </a:p>
        </p:txBody>
      </p:sp>
      <p:sp>
        <p:nvSpPr>
          <p:cNvPr id="5" name="Text 1"/>
          <p:cNvSpPr/>
          <p:nvPr>
            <p:ph idx="103" type="title" hasCustomPrompt="1"/>
          </p:nvPr>
        </p:nvSpPr>
        <p:spPr>
          <a:xfrm>
            <a:off x="548640" y="658368"/>
            <a:ext cx="11094415" cy="68580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2.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r>
          <p:cNvPicPr>
            <a:picLocks noChangeAspect="1"/>
          </p:cNvPicPr>
          <p:nvPr/>
        </p:nvPicPr>
        <p:blipFill>
          <a:blip r:embed="rId1"/>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indent="0" marL="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indent="0" marL="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indent="0" marL="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indent="0" marL="0">
              <a:spcAft>
                <a:spcPts val="200"/>
              </a:spcAft>
              <a:buNone/>
            </a:pPr>
            <a:r>
              <a:rPr lang="en-US" sz="1800" b="1" dirty="0">
                <a:solidFill>
                  <a:schemeClr val="bg1"/>
                </a:solidFill>
              </a:rPr>
              <a:t>Jorge Espinoza</a:t>
            </a:r>
            <a:pPr indent="0" marL="0">
              <a:spcAft>
                <a:spcPts val="200"/>
              </a:spcAft>
              <a:buNone/>
            </a:pPr>
            <a:r>
              <a:rPr lang="en-US" sz="1800" dirty="0">
                <a:solidFill>
                  <a:schemeClr val="bg1"/>
                </a:solidFill>
              </a:rPr>
              <a:t> · Product Owner</a:t>
            </a:r>
            <a:endParaRPr lang="en-US" sz="1800" dirty="0"/>
          </a:p>
          <a:p>
            <a:pPr indent="0" marL="0">
              <a:spcAft>
                <a:spcPts val="200"/>
              </a:spcAft>
              <a:buNone/>
            </a:pPr>
            <a:r>
              <a:rPr lang="en-US" sz="1800" b="1" dirty="0">
                <a:solidFill>
                  <a:schemeClr val="bg1"/>
                </a:solidFill>
              </a:rPr>
              <a:t>Martín Henríquez</a:t>
            </a:r>
            <a:pPr indent="0" marL="0">
              <a:spcAft>
                <a:spcPts val="200"/>
              </a:spcAft>
              <a:buNone/>
            </a:pP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indent="0" marL="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indent="0" marL="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sp>
      <p:pic>
        <p:nvPicPr>
          <p:cNvPr id="16" name="Image 2" descr="Ícono CalendarClock">    </p:cNvPr>
          <p:cNvPicPr>
            <a:picLocks noChangeAspect="1"/>
          </p:cNvPicPr>
          <p:nvPr/>
        </p:nvPicPr>
        <p:blipFill>
          <a:blip r:embed="rId3"/>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indent="0" marL="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sp>
      <p:pic>
        <p:nvPicPr>
          <p:cNvPr id="22" name="Image 3" descr="Ícono Package">    </p:cNvPr>
          <p:cNvPicPr>
            <a:picLocks noChangeAspect="1"/>
          </p:cNvPicPr>
          <p:nvPr/>
        </p:nvPicPr>
        <p:blipFill>
          <a:blip r:embed="rId4"/>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indent="0" marL="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indent="0" marL="0">
              <a:buNone/>
            </a:pPr>
            <a:r>
              <a:rPr lang="en-US" sz="1400" dirty="0">
                <a:solidFill>
                  <a:schemeClr val="tx1"/>
                </a:solidFill>
              </a:rPr>
              <a:t>Es un servicio que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EQUIPO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Integrantes, roles y responsabilidades</a:t>
            </a:r>
            <a:endParaRPr lang="en-US" sz="3200" dirty="0"/>
          </a:p>
        </p:txBody>
      </p:sp>
      <p:sp>
        <p:nvSpPr>
          <p:cNvPr id="4" name="Tarjeta de Jorge Espinoza"/>
          <p:cNvSpPr/>
          <p:nvPr/>
        </p:nvSpPr>
        <p:spPr>
          <a:xfrm>
            <a:off x="548640" y="1600200"/>
            <a:ext cx="5394960" cy="3246120"/>
          </a:xfrm>
          <a:prstGeom prst="roundRect">
            <a:avLst>
              <a:gd name="adj" fmla="val 3380"/>
            </a:avLst>
          </a:prstGeom>
          <a:solidFill>
            <a:schemeClr val="bg1"/>
          </a:solidFill>
          <a:ln w="12700">
            <a:solidFill>
              <a:schemeClr val="bg1"/>
            </a:solidFill>
            <a:prstDash val="solid"/>
          </a:ln>
        </p:spPr>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sp>
      <p:pic>
        <p:nvPicPr>
          <p:cNvPr id="6" name="Image 0" descr="Ícono UserRound">    </p:cNvPr>
          <p:cNvPicPr>
            <a:picLocks noChangeAspect="1"/>
          </p:cNvPicPr>
          <p:nvPr/>
        </p:nvPicPr>
        <p:blipFill>
          <a:blip r:embed="rId1"/>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A · Cuidado y consumo</a:t>
            </a:r>
            <a:endParaRPr lang="en-US" sz="1500" dirty="0"/>
          </a:p>
        </p:txBody>
      </p:sp>
      <p:sp>
        <p:nvSpPr>
          <p:cNvPr id="10" name="Text 7"/>
          <p:cNvSpPr txBox="1"/>
          <p:nvPr/>
        </p:nvSpPr>
        <p:spPr>
          <a:xfrm>
            <a:off x="868680"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care_plan · consumption · catalog</a:t>
            </a:r>
            <a:endParaRPr lang="en-US" sz="1300" dirty="0"/>
          </a:p>
        </p:txBody>
      </p:sp>
      <p:sp>
        <p:nvSpPr>
          <p:cNvPr id="11" name="Text 8"/>
          <p:cNvSpPr txBox="1"/>
          <p:nvPr/>
        </p:nvSpPr>
        <p:spPr>
          <a:xfrm>
            <a:off x="868680"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190488" y="1600200"/>
            <a:ext cx="5394960" cy="3246120"/>
          </a:xfrm>
          <a:prstGeom prst="roundRect">
            <a:avLst>
              <a:gd name="adj" fmla="val 3380"/>
            </a:avLst>
          </a:prstGeom>
          <a:solidFill>
            <a:schemeClr val="bg1"/>
          </a:solidFill>
          <a:ln w="12700">
            <a:solidFill>
              <a:schemeClr val="bg1"/>
            </a:solidFill>
            <a:prstDash val="solid"/>
          </a:ln>
        </p:spPr>
      </p:sp>
      <p:sp>
        <p:nvSpPr>
          <p:cNvPr id="13" name="Círculo de ícono"/>
          <p:cNvSpPr/>
          <p:nvPr/>
        </p:nvSpPr>
        <p:spPr>
          <a:xfrm>
            <a:off x="6510528" y="1920240"/>
            <a:ext cx="868680" cy="868680"/>
          </a:xfrm>
          <a:prstGeom prst="ellipse">
            <a:avLst/>
          </a:prstGeom>
          <a:solidFill>
            <a:schemeClr val="tx2"/>
          </a:solidFill>
          <a:ln w="12700">
            <a:solidFill>
              <a:schemeClr val="tx2"/>
            </a:solidFill>
            <a:prstDash val="solid"/>
          </a:ln>
        </p:spPr>
      </p:sp>
      <p:pic>
        <p:nvPicPr>
          <p:cNvPr id="14" name="Image 1" descr="Ícono UserRound">    </p:cNvPr>
          <p:cNvPicPr>
            <a:picLocks noChangeAspect="1"/>
          </p:cNvPicPr>
          <p:nvPr/>
        </p:nvPicPr>
        <p:blipFill>
          <a:blip r:embed="rId2"/>
          <a:stretch>
            <a:fillRect/>
          </a:stretch>
        </p:blipFill>
        <p:spPr>
          <a:xfrm>
            <a:off x="6719011" y="2128723"/>
            <a:ext cx="451714" cy="451714"/>
          </a:xfrm>
          <a:prstGeom prst="rect">
            <a:avLst/>
          </a:prstGeom>
        </p:spPr>
      </p:pic>
      <p:sp>
        <p:nvSpPr>
          <p:cNvPr id="15" name="Text 11"/>
          <p:cNvSpPr txBox="1"/>
          <p:nvPr/>
        </p:nvSpPr>
        <p:spPr>
          <a:xfrm>
            <a:off x="7562088"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62088"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Scrum Master</a:t>
            </a:r>
            <a:endParaRPr lang="en-US" sz="1800" dirty="0"/>
          </a:p>
        </p:txBody>
      </p:sp>
      <p:sp>
        <p:nvSpPr>
          <p:cNvPr id="17" name="Text 13"/>
          <p:cNvSpPr txBox="1"/>
          <p:nvPr/>
        </p:nvSpPr>
        <p:spPr>
          <a:xfrm>
            <a:off x="6510528"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B · Identidad, dinero y operación</a:t>
            </a:r>
            <a:endParaRPr lang="en-US" sz="1500" dirty="0"/>
          </a:p>
        </p:txBody>
      </p:sp>
      <p:sp>
        <p:nvSpPr>
          <p:cNvPr id="18" name="Text 14"/>
          <p:cNvSpPr txBox="1"/>
          <p:nvPr/>
        </p:nvSpPr>
        <p:spPr>
          <a:xfrm>
            <a:off x="6510528"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iam · care_circle · ordering · payments · settlement · backoffice</a:t>
            </a:r>
            <a:endParaRPr lang="en-US" sz="1300" dirty="0"/>
          </a:p>
        </p:txBody>
      </p:sp>
      <p:sp>
        <p:nvSpPr>
          <p:cNvPr id="19" name="Text 15"/>
          <p:cNvSpPr txBox="1"/>
          <p:nvPr/>
        </p:nvSpPr>
        <p:spPr>
          <a:xfrm>
            <a:off x="6510528"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0" name="Agentes de IA"/>
          <p:cNvSpPr/>
          <p:nvPr/>
        </p:nvSpPr>
        <p:spPr>
          <a:xfrm>
            <a:off x="548640" y="5074920"/>
            <a:ext cx="11094415" cy="1005840"/>
          </a:xfrm>
          <a:prstGeom prst="roundRect">
            <a:avLst>
              <a:gd name="adj" fmla="val 10909"/>
            </a:avLst>
          </a:prstGeom>
          <a:solidFill>
            <a:schemeClr val="accent4"/>
          </a:solidFill>
          <a:ln w="12700">
            <a:solidFill>
              <a:schemeClr val="accent4"/>
            </a:solidFill>
            <a:prstDash val="solid"/>
          </a:ln>
        </p:spPr>
      </p:sp>
      <p:sp>
        <p:nvSpPr>
          <p:cNvPr id="21" name="Círculo de ícono"/>
          <p:cNvSpPr/>
          <p:nvPr/>
        </p:nvSpPr>
        <p:spPr>
          <a:xfrm>
            <a:off x="822960" y="5239512"/>
            <a:ext cx="676656" cy="676656"/>
          </a:xfrm>
          <a:prstGeom prst="ellipse">
            <a:avLst/>
          </a:prstGeom>
          <a:solidFill>
            <a:schemeClr val="tx2"/>
          </a:solidFill>
          <a:ln w="12700">
            <a:solidFill>
              <a:schemeClr val="tx2"/>
            </a:solidFill>
            <a:prstDash val="solid"/>
          </a:ln>
        </p:spPr>
      </p:sp>
      <p:pic>
        <p:nvPicPr>
          <p:cNvPr id="22" name="Image 2" descr="Ícono Bot">    </p:cNvPr>
          <p:cNvPicPr>
            <a:picLocks noChangeAspect="1"/>
          </p:cNvPicPr>
          <p:nvPr/>
        </p:nvPicPr>
        <p:blipFill>
          <a:blip r:embed="rId3"/>
          <a:stretch>
            <a:fillRect/>
          </a:stretch>
        </p:blipFill>
        <p:spPr>
          <a:xfrm>
            <a:off x="985357" y="5401909"/>
            <a:ext cx="351861" cy="351861"/>
          </a:xfrm>
          <a:prstGeom prst="rect">
            <a:avLst/>
          </a:prstGeom>
        </p:spPr>
      </p:pic>
      <p:sp>
        <p:nvSpPr>
          <p:cNvPr id="23" name="Text 18"/>
          <p:cNvSpPr txBox="1"/>
          <p:nvPr/>
        </p:nvSpPr>
        <p:spPr>
          <a:xfrm>
            <a:off x="1737360" y="5166360"/>
            <a:ext cx="9692640" cy="822960"/>
          </a:xfrm>
          <a:prstGeom prst="rect">
            <a:avLst/>
          </a:prstGeom>
          <a:noFill/>
          <a:ln/>
        </p:spPr>
        <p:txBody>
          <a:bodyPr wrap="square" lIns="0" tIns="0" rIns="0" bIns="0" rtlCol="0" anchor="ctr"/>
          <a:lstStyle/>
          <a:p>
            <a:pPr indent="0" marL="0">
              <a:buNone/>
            </a:pPr>
            <a:r>
              <a:rPr lang="en-US" sz="1600" b="1" dirty="0">
                <a:solidFill>
                  <a:schemeClr val="tx1"/>
                </a:solidFill>
              </a:rPr>
              <a:t>Seis agentes de IA con Claude Code: </a:t>
            </a:r>
            <a:pPr indent="0" marL="0">
              <a:buNone/>
            </a:pPr>
            <a:r>
              <a:rPr lang="en-US" sz="1600" dirty="0">
                <a:solidFill>
                  <a:schemeClr val="tx1"/>
                </a:solidFill>
              </a:rPr>
              <a:t>orquestador, backend, frontend, QA, analista normativo y diseñador UI/UX. Las personas deciden. Los agentes proponen, construyen y verifican.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CONTEXTO · PROBLEMA Y PROPUESTA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indent="0" marL="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sp>
      <p:sp>
        <p:nvSpPr>
          <p:cNvPr id="6" name="Text 4"/>
          <p:cNvSpPr txBox="1"/>
          <p:nvPr/>
        </p:nvSpPr>
        <p:spPr>
          <a:xfrm>
            <a:off x="777240"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sp>
      <p:sp>
        <p:nvSpPr>
          <p:cNvPr id="10" name="Text 8"/>
          <p:cNvSpPr txBox="1"/>
          <p:nvPr/>
        </p:nvSpPr>
        <p:spPr>
          <a:xfrm>
            <a:off x="3607994"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sp>
      <p:sp>
        <p:nvSpPr>
          <p:cNvPr id="14" name="Text 12"/>
          <p:cNvSpPr txBox="1"/>
          <p:nvPr/>
        </p:nvSpPr>
        <p:spPr>
          <a:xfrm>
            <a:off x="6438748"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sp>
      <p:sp>
        <p:nvSpPr>
          <p:cNvPr id="18" name="Text 16"/>
          <p:cNvSpPr txBox="1"/>
          <p:nvPr/>
        </p:nvSpPr>
        <p:spPr>
          <a:xfrm>
            <a:off x="9269501"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Pedido a comercios en convenio con precio exacto y un solo cobro. Se puede quitar sin romper lo demás.</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 GENERAL</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sp>
      <p:pic>
        <p:nvPicPr>
          <p:cNvPr id="6" name="Image 0" descr="Ícono Target">    </p:cNvPr>
          <p:cNvPicPr>
            <a:picLocks noChangeAspect="1"/>
          </p:cNvPicPr>
          <p:nvPr/>
        </p:nvPicPr>
        <p:blipFill>
          <a:blip r:embed="rId1"/>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indent="0" marL="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accent4"/>
          </a:solidFill>
          <a:ln w="12700">
            <a:solidFill>
              <a:schemeClr val="accent4"/>
            </a:solidFill>
            <a:prstDash val="solid"/>
          </a:ln>
        </p:spPr>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sp>
      <p:pic>
        <p:nvPicPr>
          <p:cNvPr id="15" name="Image 2" descr="Ícono CalendarClock">    </p:cNvPr>
          <p:cNvPicPr>
            <a:picLocks noChangeAspect="1"/>
          </p:cNvPicPr>
          <p:nvPr/>
        </p:nvPicPr>
        <p:blipFill>
          <a:blip r:embed="rId3"/>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sp>
      <p:pic>
        <p:nvPicPr>
          <p:cNvPr id="20" name="Image 3" descr="Ícono ShoppingCart">    </p:cNvPr>
          <p:cNvPicPr>
            <a:picLocks noChangeAspect="1"/>
          </p:cNvPicPr>
          <p:nvPr/>
        </p:nvPicPr>
        <p:blipFill>
          <a:blip r:embed="rId4"/>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sp>
      <p:pic>
        <p:nvPicPr>
          <p:cNvPr id="25" name="Image 4" descr="Ícono MonitorSmartphone">    </p:cNvPr>
          <p:cNvPicPr>
            <a:picLocks noChangeAspect="1"/>
          </p:cNvPicPr>
          <p:nvPr/>
        </p:nvPicPr>
        <p:blipFill>
          <a:blip r:embed="rId5"/>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Entorno de demostración</a:t>
            </a:r>
            <a:endParaRPr lang="en-US" sz="1500" dirty="0"/>
          </a:p>
        </p:txBody>
      </p:sp>
      <p:sp>
        <p:nvSpPr>
          <p:cNvPr id="27" name="Text 20"/>
          <p:cNvSpPr txBox="1"/>
          <p:nvPr/>
        </p:nvSpPr>
        <p:spPr>
          <a:xfrm>
            <a:off x="548640" y="5897880"/>
            <a:ext cx="7315200" cy="274320"/>
          </a:xfrm>
          <a:prstGeom prst="rect">
            <a:avLst/>
          </a:prstGeom>
          <a:noFill/>
          <a:ln/>
        </p:spPr>
        <p:txBody>
          <a:bodyPr wrap="square" lIns="0" tIns="0" rIns="0" bIns="0" rtlCol="0" anchor="t"/>
          <a:lstStyle/>
          <a:p>
            <a:pPr indent="0" marL="0">
              <a:buNone/>
            </a:pPr>
            <a:r>
              <a:rPr lang="en-US" sz="1100" dirty="0">
                <a:solidFill>
                  <a:schemeClr val="accent3"/>
                </a:solidFill>
              </a:rPr>
              <a:t>Fuente: presentación de la Fase 1, lámina de objetivos.</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OBJETIVOS ESPECÍFICOS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Siete objetivos, cada uno con su sprint</a:t>
            </a:r>
            <a:endParaRPr lang="en-US" sz="3200" dirty="0"/>
          </a:p>
        </p:txBody>
      </p:sp>
      <p:sp>
        <p:nvSpPr>
          <p:cNvPr id="4" name="Text 2"/>
          <p:cNvSpPr txBox="1"/>
          <p:nvPr/>
        </p:nvSpPr>
        <p:spPr>
          <a:xfrm>
            <a:off x="1417320" y="1481328"/>
            <a:ext cx="2743200" cy="274320"/>
          </a:xfrm>
          <a:prstGeom prst="rect">
            <a:avLst/>
          </a:prstGeom>
          <a:noFill/>
          <a:ln/>
        </p:spPr>
        <p:txBody>
          <a:bodyPr wrap="square" lIns="0" tIns="0" rIns="0" bIns="0" rtlCol="0" anchor="t"/>
          <a:lstStyle/>
          <a:p>
            <a:pPr indent="0" marL="0">
              <a:buNone/>
            </a:pPr>
            <a:r>
              <a:rPr lang="en-US" sz="1300" b="1" dirty="0">
                <a:solidFill>
                  <a:schemeClr val="accent3"/>
                </a:solidFill>
              </a:rPr>
              <a:t>Objetivo</a:t>
            </a:r>
            <a:endParaRPr lang="en-US" sz="1300" dirty="0"/>
          </a:p>
        </p:txBody>
      </p:sp>
      <p:sp>
        <p:nvSpPr>
          <p:cNvPr id="5" name="Text 3"/>
          <p:cNvSpPr txBox="1"/>
          <p:nvPr/>
        </p:nvSpPr>
        <p:spPr>
          <a:xfrm>
            <a:off x="8366760" y="1481328"/>
            <a:ext cx="1280160" cy="274320"/>
          </a:xfrm>
          <a:prstGeom prst="rect">
            <a:avLst/>
          </a:prstGeom>
          <a:noFill/>
          <a:ln/>
        </p:spPr>
        <p:txBody>
          <a:bodyPr wrap="square" lIns="0" tIns="0" rIns="0" bIns="0" rtlCol="0" anchor="t"/>
          <a:lstStyle/>
          <a:p>
            <a:pPr algn="ctr" indent="0" marL="0">
              <a:buNone/>
            </a:pPr>
            <a:r>
              <a:rPr lang="en-US" sz="1300" b="1" dirty="0">
                <a:solidFill>
                  <a:schemeClr val="accent3"/>
                </a:solidFill>
              </a:rPr>
              <a:t>Sprint</a:t>
            </a:r>
            <a:endParaRPr lang="en-US" sz="1300" dirty="0"/>
          </a:p>
        </p:txBody>
      </p:sp>
      <p:sp>
        <p:nvSpPr>
          <p:cNvPr id="6" name="Text 4"/>
          <p:cNvSpPr txBox="1"/>
          <p:nvPr/>
        </p:nvSpPr>
        <p:spPr>
          <a:xfrm>
            <a:off x="9829800" y="1481328"/>
            <a:ext cx="1600200" cy="274320"/>
          </a:xfrm>
          <a:prstGeom prst="rect">
            <a:avLst/>
          </a:prstGeom>
          <a:noFill/>
          <a:ln/>
        </p:spPr>
        <p:txBody>
          <a:bodyPr wrap="square" lIns="0" tIns="0" rIns="0" bIns="0" rtlCol="0" anchor="t"/>
          <a:lstStyle/>
          <a:p>
            <a:pPr algn="ctr" indent="0" marL="0">
              <a:buNone/>
            </a:pPr>
            <a:r>
              <a:rPr lang="en-US" sz="1300" b="1" dirty="0">
                <a:solidFill>
                  <a:schemeClr val="accent3"/>
                </a:solidFill>
              </a:rPr>
              <a:t>Estado</a:t>
            </a:r>
            <a:endParaRPr lang="en-US" sz="1300" dirty="0"/>
          </a:p>
        </p:txBody>
      </p:sp>
      <p:sp>
        <p:nvSpPr>
          <p:cNvPr id="7" name="Objetivo 1"/>
          <p:cNvSpPr/>
          <p:nvPr/>
        </p:nvSpPr>
        <p:spPr>
          <a:xfrm>
            <a:off x="548640" y="1810512"/>
            <a:ext cx="11094415" cy="512064"/>
          </a:xfrm>
          <a:prstGeom prst="roundRect">
            <a:avLst>
              <a:gd name="adj" fmla="val 21429"/>
            </a:avLst>
          </a:prstGeom>
          <a:solidFill>
            <a:schemeClr val="bg1"/>
          </a:solidFill>
          <a:ln w="12700">
            <a:solidFill>
              <a:schemeClr val="bg1"/>
            </a:solidFill>
            <a:prstDash val="solid"/>
          </a:ln>
        </p:spPr>
      </p:sp>
      <p:sp>
        <p:nvSpPr>
          <p:cNvPr id="8" name="Número"/>
          <p:cNvSpPr txBox="1"/>
          <p:nvPr/>
        </p:nvSpPr>
        <p:spPr>
          <a:xfrm>
            <a:off x="777240" y="189280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17320" y="1865376"/>
            <a:ext cx="7315200" cy="402336"/>
          </a:xfrm>
          <a:prstGeom prst="rect">
            <a:avLst/>
          </a:prstGeom>
          <a:noFill/>
          <a:ln/>
        </p:spPr>
        <p:txBody>
          <a:bodyPr wrap="square" lIns="0" tIns="0" rIns="0" bIns="0" rtlCol="0" anchor="ctr"/>
          <a:lstStyle/>
          <a:p>
            <a:pPr indent="0" marL="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8366760" y="190195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Fase 1</a:t>
            </a:r>
            <a:endParaRPr lang="en-US" sz="1300" dirty="0"/>
          </a:p>
        </p:txBody>
      </p:sp>
      <p:sp>
        <p:nvSpPr>
          <p:cNvPr id="11" name="Etiqueta"/>
          <p:cNvSpPr txBox="1"/>
          <p:nvPr/>
        </p:nvSpPr>
        <p:spPr>
          <a:xfrm>
            <a:off x="9829800" y="1901952"/>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2" name="Objetivo 2"/>
          <p:cNvSpPr/>
          <p:nvPr/>
        </p:nvSpPr>
        <p:spPr>
          <a:xfrm>
            <a:off x="548640" y="2414016"/>
            <a:ext cx="11094415" cy="512064"/>
          </a:xfrm>
          <a:prstGeom prst="roundRect">
            <a:avLst>
              <a:gd name="adj" fmla="val 21429"/>
            </a:avLst>
          </a:prstGeom>
          <a:solidFill>
            <a:schemeClr val="bg1"/>
          </a:solidFill>
          <a:ln w="12700">
            <a:solidFill>
              <a:schemeClr val="bg1"/>
            </a:solidFill>
            <a:prstDash val="solid"/>
          </a:ln>
        </p:spPr>
      </p:sp>
      <p:sp>
        <p:nvSpPr>
          <p:cNvPr id="13" name="Número"/>
          <p:cNvSpPr txBox="1"/>
          <p:nvPr/>
        </p:nvSpPr>
        <p:spPr>
          <a:xfrm>
            <a:off x="777240" y="249631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1417320" y="2468880"/>
            <a:ext cx="7315200" cy="402336"/>
          </a:xfrm>
          <a:prstGeom prst="rect">
            <a:avLst/>
          </a:prstGeom>
          <a:noFill/>
          <a:ln/>
        </p:spPr>
        <p:txBody>
          <a:bodyPr wrap="square" lIns="0" tIns="0" rIns="0" bIns="0" rtlCol="0" anchor="ctr"/>
          <a:lstStyle/>
          <a:p>
            <a:pPr indent="0" marL="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8366760" y="250545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1</a:t>
            </a:r>
            <a:endParaRPr lang="en-US" sz="1300" dirty="0"/>
          </a:p>
        </p:txBody>
      </p:sp>
      <p:sp>
        <p:nvSpPr>
          <p:cNvPr id="16" name="Etiqueta"/>
          <p:cNvSpPr txBox="1"/>
          <p:nvPr/>
        </p:nvSpPr>
        <p:spPr>
          <a:xfrm>
            <a:off x="9829800" y="2505456"/>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7" name="Objetivo 3"/>
          <p:cNvSpPr/>
          <p:nvPr/>
        </p:nvSpPr>
        <p:spPr>
          <a:xfrm>
            <a:off x="548640" y="3017520"/>
            <a:ext cx="11094415" cy="512064"/>
          </a:xfrm>
          <a:prstGeom prst="roundRect">
            <a:avLst>
              <a:gd name="adj" fmla="val 21429"/>
            </a:avLst>
          </a:prstGeom>
          <a:solidFill>
            <a:schemeClr val="bg1"/>
          </a:solidFill>
          <a:ln w="12700">
            <a:solidFill>
              <a:schemeClr val="bg1"/>
            </a:solidFill>
            <a:prstDash val="solid"/>
          </a:ln>
        </p:spPr>
      </p:sp>
      <p:sp>
        <p:nvSpPr>
          <p:cNvPr id="18" name="Número"/>
          <p:cNvSpPr txBox="1"/>
          <p:nvPr/>
        </p:nvSpPr>
        <p:spPr>
          <a:xfrm>
            <a:off x="777240" y="3099816"/>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17320" y="3072384"/>
            <a:ext cx="7315200" cy="402336"/>
          </a:xfrm>
          <a:prstGeom prst="rect">
            <a:avLst/>
          </a:prstGeom>
          <a:noFill/>
          <a:ln/>
        </p:spPr>
        <p:txBody>
          <a:bodyPr wrap="square" lIns="0" tIns="0" rIns="0" bIns="0" rtlCol="0" anchor="ctr"/>
          <a:lstStyle/>
          <a:p>
            <a:pPr indent="0" marL="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8366760" y="3108960"/>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2</a:t>
            </a:r>
            <a:endParaRPr lang="en-US" sz="1300" dirty="0"/>
          </a:p>
        </p:txBody>
      </p:sp>
      <p:sp>
        <p:nvSpPr>
          <p:cNvPr id="21" name="Etiqueta"/>
          <p:cNvSpPr txBox="1"/>
          <p:nvPr/>
        </p:nvSpPr>
        <p:spPr>
          <a:xfrm>
            <a:off x="9829800" y="3108960"/>
            <a:ext cx="1600200" cy="329184"/>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 En curso</a:t>
            </a:r>
            <a:endParaRPr lang="en-US" sz="1300" dirty="0"/>
          </a:p>
        </p:txBody>
      </p:sp>
      <p:sp>
        <p:nvSpPr>
          <p:cNvPr id="22" name="Objetivo 4"/>
          <p:cNvSpPr/>
          <p:nvPr/>
        </p:nvSpPr>
        <p:spPr>
          <a:xfrm>
            <a:off x="548640" y="3621024"/>
            <a:ext cx="11094415" cy="512064"/>
          </a:xfrm>
          <a:prstGeom prst="roundRect">
            <a:avLst>
              <a:gd name="adj" fmla="val 21429"/>
            </a:avLst>
          </a:prstGeom>
          <a:solidFill>
            <a:schemeClr val="bg1"/>
          </a:solidFill>
          <a:ln w="12700">
            <a:solidFill>
              <a:schemeClr val="bg1"/>
            </a:solidFill>
            <a:prstDash val="solid"/>
          </a:ln>
        </p:spPr>
      </p:sp>
      <p:sp>
        <p:nvSpPr>
          <p:cNvPr id="23" name="Número"/>
          <p:cNvSpPr txBox="1"/>
          <p:nvPr/>
        </p:nvSpPr>
        <p:spPr>
          <a:xfrm>
            <a:off x="777240" y="3703320"/>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1417320" y="3675888"/>
            <a:ext cx="7315200" cy="402336"/>
          </a:xfrm>
          <a:prstGeom prst="rect">
            <a:avLst/>
          </a:prstGeom>
          <a:noFill/>
          <a:ln/>
        </p:spPr>
        <p:txBody>
          <a:bodyPr wrap="square" lIns="0" tIns="0" rIns="0" bIns="0" rtlCol="0" anchor="ctr"/>
          <a:lstStyle/>
          <a:p>
            <a:pPr indent="0" marL="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8366760" y="3712464"/>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3</a:t>
            </a:r>
            <a:endParaRPr lang="en-US" sz="1300" dirty="0"/>
          </a:p>
        </p:txBody>
      </p:sp>
      <p:sp>
        <p:nvSpPr>
          <p:cNvPr id="26" name="Etiqueta"/>
          <p:cNvSpPr txBox="1"/>
          <p:nvPr/>
        </p:nvSpPr>
        <p:spPr>
          <a:xfrm>
            <a:off x="9829800" y="3712464"/>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27" name="Objetivo 5"/>
          <p:cNvSpPr/>
          <p:nvPr/>
        </p:nvSpPr>
        <p:spPr>
          <a:xfrm>
            <a:off x="548640" y="4224528"/>
            <a:ext cx="11094415" cy="512064"/>
          </a:xfrm>
          <a:prstGeom prst="roundRect">
            <a:avLst>
              <a:gd name="adj" fmla="val 21429"/>
            </a:avLst>
          </a:prstGeom>
          <a:solidFill>
            <a:schemeClr val="bg1"/>
          </a:solidFill>
          <a:ln w="12700">
            <a:solidFill>
              <a:schemeClr val="bg1"/>
            </a:solidFill>
            <a:prstDash val="solid"/>
          </a:ln>
        </p:spPr>
      </p:sp>
      <p:sp>
        <p:nvSpPr>
          <p:cNvPr id="28" name="Número"/>
          <p:cNvSpPr txBox="1"/>
          <p:nvPr/>
        </p:nvSpPr>
        <p:spPr>
          <a:xfrm>
            <a:off x="777240" y="4306824"/>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7"/>
          <p:cNvSpPr txBox="1"/>
          <p:nvPr/>
        </p:nvSpPr>
        <p:spPr>
          <a:xfrm>
            <a:off x="1417320" y="4279392"/>
            <a:ext cx="7315200" cy="402336"/>
          </a:xfrm>
          <a:prstGeom prst="rect">
            <a:avLst/>
          </a:prstGeom>
          <a:noFill/>
          <a:ln/>
        </p:spPr>
        <p:txBody>
          <a:bodyPr wrap="square" lIns="0" tIns="0" rIns="0" bIns="0" rtlCol="0" anchor="ctr"/>
          <a:lstStyle/>
          <a:p>
            <a:pPr indent="0" marL="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8366760" y="4315968"/>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1" name="Etiqueta"/>
          <p:cNvSpPr txBox="1"/>
          <p:nvPr/>
        </p:nvSpPr>
        <p:spPr>
          <a:xfrm>
            <a:off x="9829800" y="4315968"/>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2" name="Objetivo 6"/>
          <p:cNvSpPr/>
          <p:nvPr/>
        </p:nvSpPr>
        <p:spPr>
          <a:xfrm>
            <a:off x="548640" y="4828032"/>
            <a:ext cx="11094415" cy="512064"/>
          </a:xfrm>
          <a:prstGeom prst="roundRect">
            <a:avLst>
              <a:gd name="adj" fmla="val 21429"/>
            </a:avLst>
          </a:prstGeom>
          <a:solidFill>
            <a:schemeClr val="bg1"/>
          </a:solidFill>
          <a:ln w="12700">
            <a:solidFill>
              <a:schemeClr val="bg1"/>
            </a:solidFill>
            <a:prstDash val="solid"/>
          </a:ln>
        </p:spPr>
      </p:sp>
      <p:sp>
        <p:nvSpPr>
          <p:cNvPr id="33" name="Número"/>
          <p:cNvSpPr txBox="1"/>
          <p:nvPr/>
        </p:nvSpPr>
        <p:spPr>
          <a:xfrm>
            <a:off x="777240" y="491032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2"/>
          <p:cNvSpPr txBox="1"/>
          <p:nvPr/>
        </p:nvSpPr>
        <p:spPr>
          <a:xfrm>
            <a:off x="1417320" y="4882896"/>
            <a:ext cx="7315200" cy="402336"/>
          </a:xfrm>
          <a:prstGeom prst="rect">
            <a:avLst/>
          </a:prstGeom>
          <a:noFill/>
          <a:ln/>
        </p:spPr>
        <p:txBody>
          <a:bodyPr wrap="square" lIns="0" tIns="0" rIns="0" bIns="0" rtlCol="0" anchor="ctr"/>
          <a:lstStyle/>
          <a:p>
            <a:pPr indent="0" marL="0">
              <a:buNone/>
            </a:pPr>
            <a:r>
              <a:rPr lang="en-US" sz="1600" dirty="0">
                <a:solidFill>
                  <a:schemeClr val="tx1"/>
                </a:solidFill>
              </a:rPr>
              <a:t>Flujo de pedido con cobro único del total confirmado (ADR-027)</a:t>
            </a:r>
            <a:endParaRPr lang="en-US" sz="1600" dirty="0"/>
          </a:p>
        </p:txBody>
      </p:sp>
      <p:sp>
        <p:nvSpPr>
          <p:cNvPr id="35" name="Etiqueta"/>
          <p:cNvSpPr txBox="1"/>
          <p:nvPr/>
        </p:nvSpPr>
        <p:spPr>
          <a:xfrm>
            <a:off x="8366760" y="491947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6" name="Etiqueta"/>
          <p:cNvSpPr txBox="1"/>
          <p:nvPr/>
        </p:nvSpPr>
        <p:spPr>
          <a:xfrm>
            <a:off x="9829800" y="4919472"/>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7" name="Objetivo 7"/>
          <p:cNvSpPr/>
          <p:nvPr/>
        </p:nvSpPr>
        <p:spPr>
          <a:xfrm>
            <a:off x="548640" y="5431536"/>
            <a:ext cx="11094415" cy="512064"/>
          </a:xfrm>
          <a:prstGeom prst="roundRect">
            <a:avLst>
              <a:gd name="adj" fmla="val 21429"/>
            </a:avLst>
          </a:prstGeom>
          <a:solidFill>
            <a:schemeClr val="bg1"/>
          </a:solidFill>
          <a:ln w="12700">
            <a:solidFill>
              <a:schemeClr val="bg1"/>
            </a:solidFill>
            <a:prstDash val="solid"/>
          </a:ln>
        </p:spPr>
      </p:sp>
      <p:sp>
        <p:nvSpPr>
          <p:cNvPr id="38" name="Número"/>
          <p:cNvSpPr txBox="1"/>
          <p:nvPr/>
        </p:nvSpPr>
        <p:spPr>
          <a:xfrm>
            <a:off x="777240" y="551383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7"/>
          <p:cNvSpPr txBox="1"/>
          <p:nvPr/>
        </p:nvSpPr>
        <p:spPr>
          <a:xfrm>
            <a:off x="1417320" y="5486400"/>
            <a:ext cx="7315200" cy="402336"/>
          </a:xfrm>
          <a:prstGeom prst="rect">
            <a:avLst/>
          </a:prstGeom>
          <a:noFill/>
          <a:ln/>
        </p:spPr>
        <p:txBody>
          <a:bodyPr wrap="square" lIns="0" tIns="0" rIns="0" bIns="0" rtlCol="0" anchor="ctr"/>
          <a:lstStyle/>
          <a:p>
            <a:pPr indent="0" marL="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8366760" y="552297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5</a:t>
            </a:r>
            <a:endParaRPr lang="en-US" sz="1300" dirty="0"/>
          </a:p>
        </p:txBody>
      </p:sp>
      <p:sp>
        <p:nvSpPr>
          <p:cNvPr id="41" name="Etiqueta"/>
          <p:cNvSpPr txBox="1"/>
          <p:nvPr/>
        </p:nvSpPr>
        <p:spPr>
          <a:xfrm>
            <a:off x="9829800" y="5522976"/>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42" name="Text 40"/>
          <p:cNvSpPr txBox="1"/>
          <p:nvPr/>
        </p:nvSpPr>
        <p:spPr>
          <a:xfrm>
            <a:off x="548640" y="6035040"/>
            <a:ext cx="10058400" cy="256032"/>
          </a:xfrm>
          <a:prstGeom prst="rect">
            <a:avLst/>
          </a:prstGeom>
          <a:noFill/>
          <a:ln/>
        </p:spPr>
        <p:txBody>
          <a:bodyPr wrap="square" lIns="0" tIns="0" rIns="0" bIns="0" rtlCol="0" anchor="t"/>
          <a:lstStyle/>
          <a:p>
            <a:pPr indent="0" marL="0">
              <a:buNone/>
            </a:pPr>
            <a:r>
              <a:rPr lang="en-US" sz="1100" dirty="0">
                <a:solidFill>
                  <a:schemeClr val="accent3"/>
                </a:solidFill>
              </a:rPr>
              <a:t>Sprints según el calendario v1.3. El objetivo 6 decía "captura del monto real" en la Fase 1 y cambió con el ADR-027.</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ALCANCE</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entra en el semestre y qué no</a:t>
            </a:r>
            <a:endParaRPr lang="en-US" sz="3200" dirty="0"/>
          </a:p>
        </p:txBody>
      </p:sp>
      <p:sp>
        <p:nvSpPr>
          <p:cNvPr id="4" name="Funcionalidades"/>
          <p:cNvSpPr/>
          <p:nvPr/>
        </p:nvSpPr>
        <p:spPr>
          <a:xfrm>
            <a:off x="548640" y="1600200"/>
            <a:ext cx="5394960" cy="4526280"/>
          </a:xfrm>
          <a:prstGeom prst="roundRect">
            <a:avLst>
              <a:gd name="adj" fmla="val 2424"/>
            </a:avLst>
          </a:prstGeom>
          <a:solidFill>
            <a:schemeClr val="bg1"/>
          </a:solidFill>
          <a:ln w="12700">
            <a:solidFill>
              <a:schemeClr val="bg1"/>
            </a:solidFill>
            <a:prstDash val="solid"/>
          </a:ln>
        </p:spPr>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sp>
      <p:pic>
        <p:nvPicPr>
          <p:cNvPr id="6" name="Image 0" descr="Ícono ListChecks">    </p:cNvPr>
          <p:cNvPicPr>
            <a:picLocks noChangeAspect="1"/>
          </p:cNvPicPr>
          <p:nvPr/>
        </p:nvPicPr>
        <p:blipFill>
          <a:blip r:embed="rId1"/>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r>
          <p:cNvPicPr>
            <a:picLocks noChangeAspect="1"/>
          </p:cNvPicPr>
          <p:nvPr/>
        </p:nvPicPr>
        <p:blipFill>
          <a:blip r:embed="rId2"/>
          <a:stretch>
            <a:fillRect/>
          </a:stretch>
        </p:blipFill>
        <p:spPr>
          <a:xfrm>
            <a:off x="868680" y="2688336"/>
            <a:ext cx="274320" cy="274320"/>
          </a:xfrm>
          <a:prstGeom prst="rect">
            <a:avLst/>
          </a:prstGeom>
        </p:spPr>
      </p:pic>
      <p:sp>
        <p:nvSpPr>
          <p:cNvPr id="9" name="Text 5"/>
          <p:cNvSpPr txBox="1"/>
          <p:nvPr/>
        </p:nvSpPr>
        <p:spPr>
          <a:xfrm>
            <a:off x="1325880"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Ficha de relevo de tres campos, cifrada y con llenado asistido</a:t>
            </a:r>
            <a:endParaRPr lang="en-US" sz="1600" dirty="0"/>
          </a:p>
        </p:txBody>
      </p:sp>
      <p:pic>
        <p:nvPicPr>
          <p:cNvPr id="10" name="Image 2" descr="Incluido">    </p:cNvPr>
          <p:cNvPicPr>
            <a:picLocks noChangeAspect="1"/>
          </p:cNvPicPr>
          <p:nvPr/>
        </p:nvPicPr>
        <p:blipFill>
          <a:blip r:embed="rId3"/>
          <a:stretch>
            <a:fillRect/>
          </a:stretch>
        </p:blipFill>
        <p:spPr>
          <a:xfrm>
            <a:off x="868680" y="3374136"/>
            <a:ext cx="274320" cy="274320"/>
          </a:xfrm>
          <a:prstGeom prst="rect">
            <a:avLst/>
          </a:prstGeom>
        </p:spPr>
      </p:pic>
      <p:sp>
        <p:nvSpPr>
          <p:cNvPr id="11" name="Text 6"/>
          <p:cNvSpPr txBox="1"/>
          <p:nvPr/>
        </p:nvSpPr>
        <p:spPr>
          <a:xfrm>
            <a:off x="1325880"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Enlace de relevo con PIN, que vence y se puede cortar, y "Quién la vio"</a:t>
            </a:r>
            <a:endParaRPr lang="en-US" sz="1600" dirty="0"/>
          </a:p>
        </p:txBody>
      </p:sp>
      <p:pic>
        <p:nvPicPr>
          <p:cNvPr id="12" name="Image 3" descr="Incluido">    </p:cNvPr>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Consumo declarado, aviso antes de que se acabe y lista exportable</a:t>
            </a:r>
            <a:endParaRPr lang="en-US" sz="1600" dirty="0"/>
          </a:p>
        </p:txBody>
      </p:sp>
      <p:pic>
        <p:nvPicPr>
          <p:cNvPr id="14" name="Image 4" descr="Incluido">    </p:cNvPr>
          <p:cNvPicPr>
            <a:picLocks noChangeAspect="1"/>
          </p:cNvPicPr>
          <p:nvPr/>
        </p:nvPicPr>
        <p:blipFill>
          <a:blip r:embed="rId5"/>
          <a:stretch>
            <a:fillRect/>
          </a:stretch>
        </p:blipFill>
        <p:spPr>
          <a:xfrm>
            <a:off x="868680" y="4745736"/>
            <a:ext cx="274320" cy="274320"/>
          </a:xfrm>
          <a:prstGeom prst="rect">
            <a:avLst/>
          </a:prstGeom>
        </p:spPr>
      </p:pic>
      <p:sp>
        <p:nvSpPr>
          <p:cNvPr id="15" name="Text 8"/>
          <p:cNvSpPr txBox="1"/>
          <p:nvPr/>
        </p:nvSpPr>
        <p:spPr>
          <a:xfrm>
            <a:off x="1325880"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Catálogo con precios exactos, pedido y un solo cobro del total</a:t>
            </a:r>
            <a:endParaRPr lang="en-US" sz="1600" dirty="0"/>
          </a:p>
        </p:txBody>
      </p:sp>
      <p:pic>
        <p:nvPicPr>
          <p:cNvPr id="16" name="Image 5" descr="Incluido">    </p:cNvPr>
          <p:cNvPicPr>
            <a:picLocks noChangeAspect="1"/>
          </p:cNvPicPr>
          <p:nvPr/>
        </p:nvPicPr>
        <p:blipFill>
          <a:blip r:embed="rId6"/>
          <a:stretch>
            <a:fillRect/>
          </a:stretch>
        </p:blipFill>
        <p:spPr>
          <a:xfrm>
            <a:off x="868680" y="5431536"/>
            <a:ext cx="274320" cy="274320"/>
          </a:xfrm>
          <a:prstGeom prst="rect">
            <a:avLst/>
          </a:prstGeom>
        </p:spPr>
      </p:pic>
      <p:sp>
        <p:nvSpPr>
          <p:cNvPr id="17" name="Text 9"/>
          <p:cNvSpPr txBox="1"/>
          <p:nvPr/>
        </p:nvSpPr>
        <p:spPr>
          <a:xfrm>
            <a:off x="1325880"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190488" y="1600200"/>
            <a:ext cx="5394960" cy="4526280"/>
          </a:xfrm>
          <a:prstGeom prst="roundRect">
            <a:avLst>
              <a:gd name="adj" fmla="val 2424"/>
            </a:avLst>
          </a:prstGeom>
          <a:solidFill>
            <a:schemeClr val="bg1"/>
          </a:solidFill>
          <a:ln w="12700">
            <a:solidFill>
              <a:schemeClr val="bg1"/>
            </a:solidFill>
            <a:prstDash val="solid"/>
          </a:ln>
        </p:spPr>
      </p:sp>
      <p:sp>
        <p:nvSpPr>
          <p:cNvPr id="19" name="Círculo de ícono"/>
          <p:cNvSpPr/>
          <p:nvPr/>
        </p:nvSpPr>
        <p:spPr>
          <a:xfrm>
            <a:off x="6464808" y="1856232"/>
            <a:ext cx="566928" cy="566928"/>
          </a:xfrm>
          <a:prstGeom prst="ellipse">
            <a:avLst/>
          </a:prstGeom>
          <a:solidFill>
            <a:schemeClr val="accent2"/>
          </a:solidFill>
          <a:ln w="12700">
            <a:solidFill>
              <a:schemeClr val="accent2"/>
            </a:solidFill>
            <a:prstDash val="solid"/>
          </a:ln>
        </p:spPr>
      </p:sp>
      <p:pic>
        <p:nvPicPr>
          <p:cNvPr id="20" name="Image 6" descr="Ícono ShieldAlert">    </p:cNvPr>
          <p:cNvPicPr>
            <a:picLocks noChangeAspect="1"/>
          </p:cNvPicPr>
          <p:nvPr/>
        </p:nvPicPr>
        <p:blipFill>
          <a:blip r:embed="rId7"/>
          <a:stretch>
            <a:fillRect/>
          </a:stretch>
        </p:blipFill>
        <p:spPr>
          <a:xfrm>
            <a:off x="6600871" y="1992295"/>
            <a:ext cx="294803" cy="294803"/>
          </a:xfrm>
          <a:prstGeom prst="rect">
            <a:avLst/>
          </a:prstGeom>
        </p:spPr>
      </p:pic>
      <p:sp>
        <p:nvSpPr>
          <p:cNvPr id="21" name="Text 12"/>
          <p:cNvSpPr txBox="1"/>
          <p:nvPr/>
        </p:nvSpPr>
        <p:spPr>
          <a:xfrm>
            <a:off x="7196328"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r>
          <p:cNvPicPr>
            <a:picLocks noChangeAspect="1"/>
          </p:cNvPicPr>
          <p:nvPr/>
        </p:nvPicPr>
        <p:blipFill>
          <a:blip r:embed="rId8"/>
          <a:stretch>
            <a:fillRect/>
          </a:stretch>
        </p:blipFill>
        <p:spPr>
          <a:xfrm>
            <a:off x="6510528" y="2688336"/>
            <a:ext cx="274320" cy="274320"/>
          </a:xfrm>
          <a:prstGeom prst="rect">
            <a:avLst/>
          </a:prstGeom>
        </p:spPr>
      </p:pic>
      <p:sp>
        <p:nvSpPr>
          <p:cNvPr id="23" name="Text 13"/>
          <p:cNvSpPr txBox="1"/>
          <p:nvPr/>
        </p:nvSpPr>
        <p:spPr>
          <a:xfrm>
            <a:off x="6967728"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Dos personas, sprints de una semana y 23 horas reales por sprint</a:t>
            </a:r>
            <a:endParaRPr lang="en-US" sz="1600" dirty="0"/>
          </a:p>
        </p:txBody>
      </p:sp>
      <p:pic>
        <p:nvPicPr>
          <p:cNvPr id="24" name="Image 8" descr="Restricción">    </p:cNvPr>
          <p:cNvPicPr>
            <a:picLocks noChangeAspect="1"/>
          </p:cNvPicPr>
          <p:nvPr/>
        </p:nvPicPr>
        <p:blipFill>
          <a:blip r:embed="rId9"/>
          <a:stretch>
            <a:fillRect/>
          </a:stretch>
        </p:blipFill>
        <p:spPr>
          <a:xfrm>
            <a:off x="6510528" y="3374136"/>
            <a:ext cx="274320" cy="274320"/>
          </a:xfrm>
          <a:prstGeom prst="rect">
            <a:avLst/>
          </a:prstGeom>
        </p:spPr>
      </p:pic>
      <p:sp>
        <p:nvSpPr>
          <p:cNvPr id="25" name="Text 14"/>
          <p:cNvSpPr txBox="1"/>
          <p:nvPr/>
        </p:nvSpPr>
        <p:spPr>
          <a:xfrm>
            <a:off x="6967728"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Piloto académico: solo datos sintéticos y sin dinero real</a:t>
            </a:r>
            <a:endParaRPr lang="en-US" sz="1600" dirty="0"/>
          </a:p>
        </p:txBody>
      </p:sp>
      <p:pic>
        <p:nvPicPr>
          <p:cNvPr id="26" name="Image 9" descr="Restricción">    </p:cNvPr>
          <p:cNvPicPr>
            <a:picLocks noChangeAspect="1"/>
          </p:cNvPicPr>
          <p:nvPr/>
        </p:nvPicPr>
        <p:blipFill>
          <a:blip r:embed="rId10"/>
          <a:stretch>
            <a:fillRect/>
          </a:stretch>
        </p:blipFill>
        <p:spPr>
          <a:xfrm>
            <a:off x="6510528" y="4059936"/>
            <a:ext cx="274320" cy="274320"/>
          </a:xfrm>
          <a:prstGeom prst="rect">
            <a:avLst/>
          </a:prstGeom>
        </p:spPr>
      </p:pic>
      <p:sp>
        <p:nvSpPr>
          <p:cNvPr id="27" name="Text 15"/>
          <p:cNvSpPr txBox="1"/>
          <p:nvPr/>
        </p:nvSpPr>
        <p:spPr>
          <a:xfrm>
            <a:off x="6967728"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Sin convenio con comercios: catálogo simulado con precios de ejemplo</a:t>
            </a:r>
            <a:endParaRPr lang="en-US" sz="1600" dirty="0"/>
          </a:p>
        </p:txBody>
      </p:sp>
      <p:pic>
        <p:nvPicPr>
          <p:cNvPr id="28" name="Image 10" descr="Restricción">    </p:cNvPr>
          <p:cNvPicPr>
            <a:picLocks noChangeAspect="1"/>
          </p:cNvPicPr>
          <p:nvPr/>
        </p:nvPicPr>
        <p:blipFill>
          <a:blip r:embed="rId11"/>
          <a:stretch>
            <a:fillRect/>
          </a:stretch>
        </p:blipFill>
        <p:spPr>
          <a:xfrm>
            <a:off x="6510528" y="4745736"/>
            <a:ext cx="274320" cy="274320"/>
          </a:xfrm>
          <a:prstGeom prst="rect">
            <a:avLst/>
          </a:prstGeom>
        </p:spPr>
      </p:pic>
      <p:sp>
        <p:nvSpPr>
          <p:cNvPr id="29" name="Text 16"/>
          <p:cNvSpPr txBox="1"/>
          <p:nvPr/>
        </p:nvSpPr>
        <p:spPr>
          <a:xfrm>
            <a:off x="6967728"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App web mobile first. La app nativa viene después (ADR-026)</a:t>
            </a:r>
            <a:endParaRPr lang="en-US" sz="1600" dirty="0"/>
          </a:p>
        </p:txBody>
      </p:sp>
      <p:pic>
        <p:nvPicPr>
          <p:cNvPr id="30" name="Image 11" descr="Restricción">    </p:cNvPr>
          <p:cNvPicPr>
            <a:picLocks noChangeAspect="1"/>
          </p:cNvPicPr>
          <p:nvPr/>
        </p:nvPicPr>
        <p:blipFill>
          <a:blip r:embed="rId12"/>
          <a:stretch>
            <a:fillRect/>
          </a:stretch>
        </p:blipFill>
        <p:spPr>
          <a:xfrm>
            <a:off x="6510528" y="5431536"/>
            <a:ext cx="274320" cy="274320"/>
          </a:xfrm>
          <a:prstGeom prst="rect">
            <a:avLst/>
          </a:prstGeom>
        </p:spPr>
      </p:pic>
      <p:sp>
        <p:nvSpPr>
          <p:cNvPr id="31" name="Text 17"/>
          <p:cNvSpPr txBox="1"/>
          <p:nvPr/>
        </p:nvSpPr>
        <p:spPr>
          <a:xfrm>
            <a:off x="6967728"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Fuera del semestre: pago dividido, reposición programada, app de repartidor y medicamentos</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REQUERIMIENTOS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Requerimientos funcionales y no funcionales</a:t>
            </a:r>
            <a:endParaRPr lang="en-US" sz="3200" dirty="0"/>
          </a:p>
        </p:txBody>
      </p:sp>
      <p:sp>
        <p:nvSpPr>
          <p:cNvPr id="4" name="Text 2"/>
          <p:cNvSpPr txBox="1"/>
          <p:nvPr/>
        </p:nvSpPr>
        <p:spPr>
          <a:xfrm>
            <a:off x="548640" y="1481328"/>
            <a:ext cx="5989320" cy="320040"/>
          </a:xfrm>
          <a:prstGeom prst="rect">
            <a:avLst/>
          </a:prstGeom>
          <a:noFill/>
          <a:ln/>
        </p:spPr>
        <p:txBody>
          <a:bodyPr wrap="square" lIns="0" tIns="0" rIns="0" bIns="0" rtlCol="0" anchor="t"/>
          <a:lstStyle/>
          <a:p>
            <a:pPr indent="0" marL="0">
              <a:buNone/>
            </a:pPr>
            <a:r>
              <a:rPr lang="en-US" sz="1600" b="1" dirty="0">
                <a:solidFill>
                  <a:schemeClr val="tx2"/>
                </a:solidFill>
              </a:rPr>
              <a:t>Funcionales</a:t>
            </a:r>
            <a:pPr indent="0" marL="0">
              <a:buNone/>
            </a:pPr>
            <a:r>
              <a:rPr lang="en-US" sz="1600" dirty="0">
                <a:solidFill>
                  <a:schemeClr val="accent3"/>
                </a:solidFill>
              </a:rPr>
              <a:t>  ·  42 en el catálogo, 26 obligatorios (Debe)</a:t>
            </a:r>
            <a:endParaRPr lang="en-US" sz="1600" dirty="0"/>
          </a:p>
        </p:txBody>
      </p:sp>
      <p:sp>
        <p:nvSpPr>
          <p:cNvPr id="5" name="Capa 1"/>
          <p:cNvSpPr/>
          <p:nvPr/>
        </p:nvSpPr>
        <p:spPr>
          <a:xfrm>
            <a:off x="548640" y="1874520"/>
            <a:ext cx="5989320" cy="969264"/>
          </a:xfrm>
          <a:prstGeom prst="roundRect">
            <a:avLst>
              <a:gd name="adj" fmla="val 11321"/>
            </a:avLst>
          </a:prstGeom>
          <a:solidFill>
            <a:schemeClr val="bg1"/>
          </a:solidFill>
          <a:ln w="12700">
            <a:solidFill>
              <a:schemeClr val="bg1"/>
            </a:solidFill>
            <a:prstDash val="solid"/>
          </a:ln>
        </p:spPr>
      </p:sp>
      <p:sp>
        <p:nvSpPr>
          <p:cNvPr id="6" name="Etiqueta"/>
          <p:cNvSpPr txBox="1"/>
          <p:nvPr/>
        </p:nvSpPr>
        <p:spPr>
          <a:xfrm>
            <a:off x="731520" y="2176272"/>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1</a:t>
            </a:r>
            <a:endParaRPr lang="en-US" sz="1300" dirty="0"/>
          </a:p>
        </p:txBody>
      </p:sp>
      <p:sp>
        <p:nvSpPr>
          <p:cNvPr id="7" name="Text 5"/>
          <p:cNvSpPr txBox="1"/>
          <p:nvPr/>
        </p:nvSpPr>
        <p:spPr>
          <a:xfrm>
            <a:off x="2331720" y="1965960"/>
            <a:ext cx="4023360" cy="786384"/>
          </a:xfrm>
          <a:prstGeom prst="rect">
            <a:avLst/>
          </a:prstGeom>
          <a:noFill/>
          <a:ln/>
        </p:spPr>
        <p:txBody>
          <a:bodyPr wrap="square" lIns="0" tIns="0" rIns="0" bIns="0" rtlCol="0" anchor="ctr"/>
          <a:lstStyle/>
          <a:p>
            <a:pPr indent="0" marL="0">
              <a:buNone/>
            </a:pPr>
            <a:r>
              <a:rPr lang="en-US" sz="1400" dirty="0">
                <a:solidFill>
                  <a:schemeClr val="tx1"/>
                </a:solidFill>
              </a:rPr>
              <a:t>RF-02 ficha de tres campos · RF-05 y RF-06 acceso de relevo sin cuenta · RF-07 cortarlo · RF-08 registro de cada acceso · RF-42 llenado asistido</a:t>
            </a:r>
            <a:endParaRPr lang="en-US" sz="1400" dirty="0"/>
          </a:p>
        </p:txBody>
      </p:sp>
      <p:sp>
        <p:nvSpPr>
          <p:cNvPr id="8" name="Capa 2"/>
          <p:cNvSpPr/>
          <p:nvPr/>
        </p:nvSpPr>
        <p:spPr>
          <a:xfrm>
            <a:off x="548640" y="2953512"/>
            <a:ext cx="5989320" cy="969264"/>
          </a:xfrm>
          <a:prstGeom prst="roundRect">
            <a:avLst>
              <a:gd name="adj" fmla="val 11321"/>
            </a:avLst>
          </a:prstGeom>
          <a:solidFill>
            <a:schemeClr val="bg1"/>
          </a:solidFill>
          <a:ln w="12700">
            <a:solidFill>
              <a:schemeClr val="bg1"/>
            </a:solidFill>
            <a:prstDash val="solid"/>
          </a:ln>
        </p:spPr>
      </p:sp>
      <p:sp>
        <p:nvSpPr>
          <p:cNvPr id="9" name="Etiqueta"/>
          <p:cNvSpPr txBox="1"/>
          <p:nvPr/>
        </p:nvSpPr>
        <p:spPr>
          <a:xfrm>
            <a:off x="731520" y="3255264"/>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2</a:t>
            </a:r>
            <a:endParaRPr lang="en-US" sz="1300" dirty="0"/>
          </a:p>
        </p:txBody>
      </p:sp>
      <p:sp>
        <p:nvSpPr>
          <p:cNvPr id="10" name="Text 8"/>
          <p:cNvSpPr txBox="1"/>
          <p:nvPr/>
        </p:nvSpPr>
        <p:spPr>
          <a:xfrm>
            <a:off x="2331720" y="3044952"/>
            <a:ext cx="4023360" cy="786384"/>
          </a:xfrm>
          <a:prstGeom prst="rect">
            <a:avLst/>
          </a:prstGeom>
          <a:noFill/>
          <a:ln/>
        </p:spPr>
        <p:txBody>
          <a:bodyPr wrap="square" lIns="0" tIns="0" rIns="0" bIns="0" rtlCol="0" anchor="ctr"/>
          <a:lstStyle/>
          <a:p>
            <a:pPr indent="0" marL="0">
              <a:buNone/>
            </a:pPr>
            <a:r>
              <a:rPr lang="en-US" sz="1400" dirty="0">
                <a:solidFill>
                  <a:schemeClr val="tx1"/>
                </a:solidFill>
              </a:rPr>
              <a:t>RF-10 declarar el consumo · RF-11 fecha en que se acaba · RF-12 aviso anticipado · RF-14 y RF-15 lista exportable</a:t>
            </a:r>
            <a:endParaRPr lang="en-US" sz="1400" dirty="0"/>
          </a:p>
        </p:txBody>
      </p:sp>
      <p:sp>
        <p:nvSpPr>
          <p:cNvPr id="11" name="Capa 3"/>
          <p:cNvSpPr/>
          <p:nvPr/>
        </p:nvSpPr>
        <p:spPr>
          <a:xfrm>
            <a:off x="548640" y="4032504"/>
            <a:ext cx="5989320" cy="969264"/>
          </a:xfrm>
          <a:prstGeom prst="roundRect">
            <a:avLst>
              <a:gd name="adj" fmla="val 11321"/>
            </a:avLst>
          </a:prstGeom>
          <a:solidFill>
            <a:schemeClr val="bg1"/>
          </a:solidFill>
          <a:ln w="12700">
            <a:solidFill>
              <a:schemeClr val="bg1"/>
            </a:solidFill>
            <a:prstDash val="solid"/>
          </a:ln>
        </p:spPr>
      </p:sp>
      <p:sp>
        <p:nvSpPr>
          <p:cNvPr id="12" name="Etiqueta"/>
          <p:cNvSpPr txBox="1"/>
          <p:nvPr/>
        </p:nvSpPr>
        <p:spPr>
          <a:xfrm>
            <a:off x="731520" y="4334256"/>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3</a:t>
            </a:r>
            <a:endParaRPr lang="en-US" sz="1300" dirty="0"/>
          </a:p>
        </p:txBody>
      </p:sp>
      <p:sp>
        <p:nvSpPr>
          <p:cNvPr id="13" name="Text 11"/>
          <p:cNvSpPr txBox="1"/>
          <p:nvPr/>
        </p:nvSpPr>
        <p:spPr>
          <a:xfrm>
            <a:off x="2331720" y="4123944"/>
            <a:ext cx="4023360" cy="786384"/>
          </a:xfrm>
          <a:prstGeom prst="rect">
            <a:avLst/>
          </a:prstGeom>
          <a:noFill/>
          <a:ln/>
        </p:spPr>
        <p:txBody>
          <a:bodyPr wrap="square" lIns="0" tIns="0" rIns="0" bIns="0" rtlCol="0" anchor="ctr"/>
          <a:lstStyle/>
          <a:p>
            <a:pPr indent="0" marL="0">
              <a:buNone/>
            </a:pPr>
            <a:r>
              <a:rPr lang="en-US" sz="1400" dirty="0">
                <a:solidFill>
                  <a:schemeClr val="tx1"/>
                </a:solidFill>
              </a:rPr>
              <a:t>RF-20 pedido desde el catálogo · RF-21 qué hacer si falta un producto · RF-25 un solo cobro del total · RF-26 vista de comercio</a:t>
            </a:r>
            <a:endParaRPr lang="en-US" sz="1400" dirty="0"/>
          </a:p>
        </p:txBody>
      </p:sp>
      <p:sp>
        <p:nvSpPr>
          <p:cNvPr id="14" name="Transversales"/>
          <p:cNvSpPr/>
          <p:nvPr/>
        </p:nvSpPr>
        <p:spPr>
          <a:xfrm>
            <a:off x="548640" y="5111496"/>
            <a:ext cx="5989320" cy="969264"/>
          </a:xfrm>
          <a:prstGeom prst="roundRect">
            <a:avLst>
              <a:gd name="adj" fmla="val 11321"/>
            </a:avLst>
          </a:prstGeom>
          <a:solidFill>
            <a:schemeClr val="bg1"/>
          </a:solidFill>
          <a:ln w="12700">
            <a:solidFill>
              <a:schemeClr val="bg1"/>
            </a:solidFill>
            <a:prstDash val="solid"/>
          </a:ln>
        </p:spPr>
      </p:sp>
      <p:sp>
        <p:nvSpPr>
          <p:cNvPr id="15" name="Etiqueta"/>
          <p:cNvSpPr txBox="1"/>
          <p:nvPr/>
        </p:nvSpPr>
        <p:spPr>
          <a:xfrm>
            <a:off x="731520" y="5413248"/>
            <a:ext cx="1417320" cy="365760"/>
          </a:xfrm>
          <a:prstGeom prst="roundRect">
            <a:avLst>
              <a:gd name="adj" fmla="val 50000"/>
            </a:avLst>
          </a:prstGeom>
          <a:solidFill>
            <a:schemeClr val="accent3"/>
          </a:solidFill>
          <a:ln>
            <a:solidFill>
              <a:schemeClr val="accent3"/>
            </a:solidFill>
          </a:ln>
        </p:spPr>
        <p:txBody>
          <a:bodyPr wrap="square" lIns="0" tIns="0" rIns="0" bIns="0" rtlCol="0" anchor="ctr"/>
          <a:lstStyle/>
          <a:p>
            <a:pPr algn="ctr" indent="0" marL="0">
              <a:buNone/>
            </a:pPr>
            <a:r>
              <a:rPr lang="en-US" sz="1300" b="1" dirty="0">
                <a:solidFill>
                  <a:schemeClr val="bg1"/>
                </a:solidFill>
              </a:rPr>
              <a:t>Transversales</a:t>
            </a:r>
            <a:endParaRPr lang="en-US" sz="1300" dirty="0"/>
          </a:p>
        </p:txBody>
      </p:sp>
      <p:sp>
        <p:nvSpPr>
          <p:cNvPr id="16" name="Text 14"/>
          <p:cNvSpPr txBox="1"/>
          <p:nvPr/>
        </p:nvSpPr>
        <p:spPr>
          <a:xfrm>
            <a:off x="2331720" y="5202936"/>
            <a:ext cx="4023360" cy="786384"/>
          </a:xfrm>
          <a:prstGeom prst="rect">
            <a:avLst/>
          </a:prstGeom>
          <a:noFill/>
          <a:ln/>
        </p:spPr>
        <p:txBody>
          <a:bodyPr wrap="square" lIns="0" tIns="0" rIns="0" bIns="0" rtlCol="0" anchor="ctr"/>
          <a:lstStyle/>
          <a:p>
            <a:pPr indent="0" marL="0">
              <a:buNone/>
            </a:pPr>
            <a:r>
              <a:rPr lang="en-US" sz="1400" dirty="0">
                <a:solidFill>
                  <a:schemeClr val="tx1"/>
                </a:solidFill>
              </a:rPr>
              <a:t>RF-37 registro y sesión · RF-38 invitar miembros con su rol · RF-39 avisos por push y correo</a:t>
            </a:r>
            <a:endParaRPr lang="en-US" sz="1400" dirty="0"/>
          </a:p>
        </p:txBody>
      </p:sp>
      <p:sp>
        <p:nvSpPr>
          <p:cNvPr id="17" name="Text 15"/>
          <p:cNvSpPr txBox="1"/>
          <p:nvPr/>
        </p:nvSpPr>
        <p:spPr>
          <a:xfrm>
            <a:off x="6812280" y="1481328"/>
            <a:ext cx="4830775" cy="320040"/>
          </a:xfrm>
          <a:prstGeom prst="rect">
            <a:avLst/>
          </a:prstGeom>
          <a:noFill/>
          <a:ln/>
        </p:spPr>
        <p:txBody>
          <a:bodyPr wrap="square" lIns="0" tIns="0" rIns="0" bIns="0" rtlCol="0" anchor="t"/>
          <a:lstStyle/>
          <a:p>
            <a:pPr indent="0" marL="0">
              <a:buNone/>
            </a:pPr>
            <a:r>
              <a:rPr lang="en-US" sz="1600" b="1" dirty="0">
                <a:solidFill>
                  <a:schemeClr val="tx2"/>
                </a:solidFill>
              </a:rPr>
              <a:t>No funcionales</a:t>
            </a:r>
            <a:pPr indent="0" marL="0">
              <a:buNone/>
            </a:pPr>
            <a:r>
              <a:rPr lang="en-US" sz="1600" dirty="0">
                <a:solidFill>
                  <a:schemeClr val="accent3"/>
                </a:solidFill>
              </a:rPr>
              <a:t>  ·  atributos de calidad</a:t>
            </a:r>
            <a:endParaRPr lang="en-US" sz="1600" dirty="0"/>
          </a:p>
        </p:txBody>
      </p:sp>
      <p:sp>
        <p:nvSpPr>
          <p:cNvPr id="18" name="No funcionales"/>
          <p:cNvSpPr/>
          <p:nvPr/>
        </p:nvSpPr>
        <p:spPr>
          <a:xfrm>
            <a:off x="6812280" y="1874520"/>
            <a:ext cx="4830775" cy="4206240"/>
          </a:xfrm>
          <a:prstGeom prst="roundRect">
            <a:avLst>
              <a:gd name="adj" fmla="val 2609"/>
            </a:avLst>
          </a:prstGeom>
          <a:solidFill>
            <a:schemeClr val="bg1"/>
          </a:solidFill>
          <a:ln w="12700">
            <a:solidFill>
              <a:schemeClr val="bg1"/>
            </a:solidFill>
            <a:prstDash val="solid"/>
          </a:ln>
        </p:spPr>
      </p:sp>
      <p:sp>
        <p:nvSpPr>
          <p:cNvPr id="19" name="Círculo de ícono"/>
          <p:cNvSpPr/>
          <p:nvPr/>
        </p:nvSpPr>
        <p:spPr>
          <a:xfrm>
            <a:off x="6995160" y="2066544"/>
            <a:ext cx="457200" cy="457200"/>
          </a:xfrm>
          <a:prstGeom prst="ellipse">
            <a:avLst/>
          </a:prstGeom>
          <a:solidFill>
            <a:schemeClr val="accent1"/>
          </a:solidFill>
          <a:ln w="12700">
            <a:solidFill>
              <a:schemeClr val="accent1"/>
            </a:solidFill>
            <a:prstDash val="solid"/>
          </a:ln>
        </p:spPr>
      </p:sp>
      <p:pic>
        <p:nvPicPr>
          <p:cNvPr id="20" name="Image 0" descr="Ícono CreditCard">    </p:cNvPr>
          <p:cNvPicPr>
            <a:picLocks noChangeAspect="1"/>
          </p:cNvPicPr>
          <p:nvPr/>
        </p:nvPicPr>
        <p:blipFill>
          <a:blip r:embed="rId1"/>
          <a:stretch>
            <a:fillRect/>
          </a:stretch>
        </p:blipFill>
        <p:spPr>
          <a:xfrm>
            <a:off x="7104888" y="2176272"/>
            <a:ext cx="237744" cy="237744"/>
          </a:xfrm>
          <a:prstGeom prst="rect">
            <a:avLst/>
          </a:prstGeom>
        </p:spPr>
      </p:pic>
      <p:sp>
        <p:nvSpPr>
          <p:cNvPr id="21" name="Text 18"/>
          <p:cNvSpPr txBox="1"/>
          <p:nvPr/>
        </p:nvSpPr>
        <p:spPr>
          <a:xfrm>
            <a:off x="7589520" y="2011680"/>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Integridad del pago</a:t>
            </a:r>
            <a:endParaRPr lang="en-US" sz="1400" dirty="0"/>
          </a:p>
          <a:p>
            <a:pPr indent="0" marL="0">
              <a:buNone/>
            </a:pPr>
            <a:r>
              <a:rPr lang="en-US" sz="1400" dirty="0">
                <a:solidFill>
                  <a:schemeClr val="tx1"/>
                </a:solidFill>
              </a:rPr>
              <a:t>ningún pedido pagado sin registrar</a:t>
            </a:r>
            <a:endParaRPr lang="en-US" sz="1400" dirty="0"/>
          </a:p>
        </p:txBody>
      </p:sp>
      <p:sp>
        <p:nvSpPr>
          <p:cNvPr id="22" name="Círculo de ícono"/>
          <p:cNvSpPr/>
          <p:nvPr/>
        </p:nvSpPr>
        <p:spPr>
          <a:xfrm>
            <a:off x="6995160" y="2734056"/>
            <a:ext cx="457200" cy="457200"/>
          </a:xfrm>
          <a:prstGeom prst="ellipse">
            <a:avLst/>
          </a:prstGeom>
          <a:solidFill>
            <a:schemeClr val="accent1"/>
          </a:solidFill>
          <a:ln w="12700">
            <a:solidFill>
              <a:schemeClr val="accent1"/>
            </a:solidFill>
            <a:prstDash val="solid"/>
          </a:ln>
        </p:spPr>
      </p:sp>
      <p:pic>
        <p:nvPicPr>
          <p:cNvPr id="23" name="Image 1" descr="Ícono Lock">    </p:cNvPr>
          <p:cNvPicPr>
            <a:picLocks noChangeAspect="1"/>
          </p:cNvPicPr>
          <p:nvPr/>
        </p:nvPicPr>
        <p:blipFill>
          <a:blip r:embed="rId2"/>
          <a:stretch>
            <a:fillRect/>
          </a:stretch>
        </p:blipFill>
        <p:spPr>
          <a:xfrm>
            <a:off x="7104888" y="2843784"/>
            <a:ext cx="237744" cy="237744"/>
          </a:xfrm>
          <a:prstGeom prst="rect">
            <a:avLst/>
          </a:prstGeom>
        </p:spPr>
      </p:pic>
      <p:sp>
        <p:nvSpPr>
          <p:cNvPr id="24" name="Text 20"/>
          <p:cNvSpPr txBox="1"/>
          <p:nvPr/>
        </p:nvSpPr>
        <p:spPr>
          <a:xfrm>
            <a:off x="7589520" y="2679192"/>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Confidencialidad</a:t>
            </a:r>
            <a:endParaRPr lang="en-US" sz="1400" dirty="0"/>
          </a:p>
          <a:p>
            <a:pPr indent="0" marL="0">
              <a:buNone/>
            </a:pPr>
            <a:r>
              <a:rPr lang="en-US" sz="1400" dirty="0">
                <a:solidFill>
                  <a:schemeClr val="tx1"/>
                </a:solidFill>
              </a:rPr>
              <a:t>cada acceso a la ficha queda registrado</a:t>
            </a:r>
            <a:endParaRPr lang="en-US" sz="1400" dirty="0"/>
          </a:p>
        </p:txBody>
      </p:sp>
      <p:sp>
        <p:nvSpPr>
          <p:cNvPr id="25" name="Círculo de ícono"/>
          <p:cNvSpPr/>
          <p:nvPr/>
        </p:nvSpPr>
        <p:spPr>
          <a:xfrm>
            <a:off x="6995160" y="3401568"/>
            <a:ext cx="457200" cy="457200"/>
          </a:xfrm>
          <a:prstGeom prst="ellipse">
            <a:avLst/>
          </a:prstGeom>
          <a:solidFill>
            <a:schemeClr val="accent1"/>
          </a:solidFill>
          <a:ln w="12700">
            <a:solidFill>
              <a:schemeClr val="accent1"/>
            </a:solidFill>
            <a:prstDash val="solid"/>
          </a:ln>
        </p:spPr>
      </p:sp>
      <p:pic>
        <p:nvPicPr>
          <p:cNvPr id="26" name="Image 2" descr="Ícono Accessibility">    </p:cNvPr>
          <p:cNvPicPr>
            <a:picLocks noChangeAspect="1"/>
          </p:cNvPicPr>
          <p:nvPr/>
        </p:nvPicPr>
        <p:blipFill>
          <a:blip r:embed="rId3"/>
          <a:stretch>
            <a:fillRect/>
          </a:stretch>
        </p:blipFill>
        <p:spPr>
          <a:xfrm>
            <a:off x="7104888" y="3511296"/>
            <a:ext cx="237744" cy="237744"/>
          </a:xfrm>
          <a:prstGeom prst="rect">
            <a:avLst/>
          </a:prstGeom>
        </p:spPr>
      </p:pic>
      <p:sp>
        <p:nvSpPr>
          <p:cNvPr id="27" name="Text 22"/>
          <p:cNvSpPr txBox="1"/>
          <p:nvPr/>
        </p:nvSpPr>
        <p:spPr>
          <a:xfrm>
            <a:off x="7589520" y="3346704"/>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Accesibilidad</a:t>
            </a:r>
            <a:endParaRPr lang="en-US" sz="1400" dirty="0"/>
          </a:p>
          <a:p>
            <a:pPr indent="0" marL="0">
              <a:buNone/>
            </a:pPr>
            <a:r>
              <a:rPr lang="en-US" sz="1400" dirty="0">
                <a:solidFill>
                  <a:schemeClr val="tx1"/>
                </a:solidFill>
              </a:rPr>
              <a:t>ficha en menos de 3 min, texto al 200%</a:t>
            </a:r>
            <a:endParaRPr lang="en-US" sz="1400" dirty="0"/>
          </a:p>
        </p:txBody>
      </p:sp>
      <p:sp>
        <p:nvSpPr>
          <p:cNvPr id="28" name="Círculo de ícono"/>
          <p:cNvSpPr/>
          <p:nvPr/>
        </p:nvSpPr>
        <p:spPr>
          <a:xfrm>
            <a:off x="6995160" y="4069080"/>
            <a:ext cx="457200" cy="457200"/>
          </a:xfrm>
          <a:prstGeom prst="ellipse">
            <a:avLst/>
          </a:prstGeom>
          <a:solidFill>
            <a:schemeClr val="accent1"/>
          </a:solidFill>
          <a:ln w="12700">
            <a:solidFill>
              <a:schemeClr val="accent1"/>
            </a:solidFill>
            <a:prstDash val="solid"/>
          </a:ln>
        </p:spPr>
      </p:sp>
      <p:pic>
        <p:nvPicPr>
          <p:cNvPr id="29" name="Image 3" descr="Ícono Blocks">    </p:cNvPr>
          <p:cNvPicPr>
            <a:picLocks noChangeAspect="1"/>
          </p:cNvPicPr>
          <p:nvPr/>
        </p:nvPicPr>
        <p:blipFill>
          <a:blip r:embed="rId4"/>
          <a:stretch>
            <a:fillRect/>
          </a:stretch>
        </p:blipFill>
        <p:spPr>
          <a:xfrm>
            <a:off x="7104888" y="4178808"/>
            <a:ext cx="237744" cy="237744"/>
          </a:xfrm>
          <a:prstGeom prst="rect">
            <a:avLst/>
          </a:prstGeom>
        </p:spPr>
      </p:pic>
      <p:sp>
        <p:nvSpPr>
          <p:cNvPr id="30" name="Text 24"/>
          <p:cNvSpPr txBox="1"/>
          <p:nvPr/>
        </p:nvSpPr>
        <p:spPr>
          <a:xfrm>
            <a:off x="7589520" y="4014216"/>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Modularidad</a:t>
            </a:r>
            <a:endParaRPr lang="en-US" sz="1400" dirty="0"/>
          </a:p>
          <a:p>
            <a:pPr indent="0" marL="0">
              <a:buNone/>
            </a:pPr>
            <a:r>
              <a:rPr lang="en-US" sz="1400" dirty="0">
                <a:solidFill>
                  <a:schemeClr val="tx1"/>
                </a:solidFill>
              </a:rPr>
              <a:t>la capa 3 se quita sin romper el resto</a:t>
            </a:r>
            <a:endParaRPr lang="en-US" sz="1400" dirty="0"/>
          </a:p>
        </p:txBody>
      </p:sp>
      <p:sp>
        <p:nvSpPr>
          <p:cNvPr id="31" name="Círculo de ícono"/>
          <p:cNvSpPr/>
          <p:nvPr/>
        </p:nvSpPr>
        <p:spPr>
          <a:xfrm>
            <a:off x="6995160" y="4736592"/>
            <a:ext cx="457200" cy="457200"/>
          </a:xfrm>
          <a:prstGeom prst="ellipse">
            <a:avLst/>
          </a:prstGeom>
          <a:solidFill>
            <a:schemeClr val="accent1"/>
          </a:solidFill>
          <a:ln w="12700">
            <a:solidFill>
              <a:schemeClr val="accent1"/>
            </a:solidFill>
            <a:prstDash val="solid"/>
          </a:ln>
        </p:spPr>
      </p:sp>
      <p:pic>
        <p:nvPicPr>
          <p:cNvPr id="32" name="Image 4" descr="Ícono Gauge">    </p:cNvPr>
          <p:cNvPicPr>
            <a:picLocks noChangeAspect="1"/>
          </p:cNvPicPr>
          <p:nvPr/>
        </p:nvPicPr>
        <p:blipFill>
          <a:blip r:embed="rId5"/>
          <a:stretch>
            <a:fillRect/>
          </a:stretch>
        </p:blipFill>
        <p:spPr>
          <a:xfrm>
            <a:off x="7104888" y="4846320"/>
            <a:ext cx="237744" cy="237744"/>
          </a:xfrm>
          <a:prstGeom prst="rect">
            <a:avLst/>
          </a:prstGeom>
        </p:spPr>
      </p:pic>
      <p:sp>
        <p:nvSpPr>
          <p:cNvPr id="33" name="Text 26"/>
          <p:cNvSpPr txBox="1"/>
          <p:nvPr/>
        </p:nvSpPr>
        <p:spPr>
          <a:xfrm>
            <a:off x="7589520" y="4681728"/>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Rendimiento</a:t>
            </a:r>
            <a:endParaRPr lang="en-US" sz="1400" dirty="0"/>
          </a:p>
          <a:p>
            <a:pPr indent="0" marL="0">
              <a:buNone/>
            </a:pPr>
            <a:r>
              <a:rPr lang="en-US" sz="1400" dirty="0">
                <a:solidFill>
                  <a:schemeClr val="tx1"/>
                </a:solidFill>
              </a:rPr>
              <a:t>bajo 800 ms en p95 con 50 usuarios</a:t>
            </a:r>
            <a:endParaRPr lang="en-US" sz="1400" dirty="0"/>
          </a:p>
        </p:txBody>
      </p:sp>
      <p:sp>
        <p:nvSpPr>
          <p:cNvPr id="34" name="Círculo de ícono"/>
          <p:cNvSpPr/>
          <p:nvPr/>
        </p:nvSpPr>
        <p:spPr>
          <a:xfrm>
            <a:off x="6995160" y="5404104"/>
            <a:ext cx="457200" cy="457200"/>
          </a:xfrm>
          <a:prstGeom prst="ellipse">
            <a:avLst/>
          </a:prstGeom>
          <a:solidFill>
            <a:schemeClr val="accent1"/>
          </a:solidFill>
          <a:ln w="12700">
            <a:solidFill>
              <a:schemeClr val="accent1"/>
            </a:solidFill>
            <a:prstDash val="solid"/>
          </a:ln>
        </p:spPr>
      </p:sp>
      <p:pic>
        <p:nvPicPr>
          <p:cNvPr id="35" name="Image 5" descr="Ícono Activity">    </p:cNvPr>
          <p:cNvPicPr>
            <a:picLocks noChangeAspect="1"/>
          </p:cNvPicPr>
          <p:nvPr/>
        </p:nvPicPr>
        <p:blipFill>
          <a:blip r:embed="rId6"/>
          <a:stretch>
            <a:fillRect/>
          </a:stretch>
        </p:blipFill>
        <p:spPr>
          <a:xfrm>
            <a:off x="7104888" y="5513832"/>
            <a:ext cx="237744" cy="237744"/>
          </a:xfrm>
          <a:prstGeom prst="rect">
            <a:avLst/>
          </a:prstGeom>
        </p:spPr>
      </p:pic>
      <p:sp>
        <p:nvSpPr>
          <p:cNvPr id="36" name="Text 28"/>
          <p:cNvSpPr txBox="1"/>
          <p:nvPr/>
        </p:nvSpPr>
        <p:spPr>
          <a:xfrm>
            <a:off x="7589520" y="5349240"/>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Observabilidad</a:t>
            </a:r>
            <a:endParaRPr lang="en-US" sz="1400" dirty="0"/>
          </a:p>
          <a:p>
            <a:pPr indent="0" marL="0">
              <a:buNone/>
            </a:pPr>
            <a:r>
              <a:rPr lang="en-US" sz="1400" dirty="0">
                <a:solidFill>
                  <a:schemeClr val="tx1"/>
                </a:solidFill>
              </a:rPr>
              <a:t>cada pedido se reconstruye sin tocar la base</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METODOLOGÍA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CalendarDays">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sp>
      <p:pic>
        <p:nvPicPr>
          <p:cNvPr id="12" name="Image 1" descr="Ícono GitBranch">    </p:cNvPr>
          <p:cNvPicPr>
            <a:picLocks noChangeAspect="1"/>
          </p:cNvPicPr>
          <p:nvPr/>
        </p:nvPicPr>
        <p:blipFill>
          <a:blip r:embed="rId2"/>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sp>
      <p:pic>
        <p:nvPicPr>
          <p:cNvPr id="18" name="Image 2" descr="Ícono GitPullRequest">    </p:cNvPr>
          <p:cNvPicPr>
            <a:picLocks noChangeAspect="1"/>
          </p:cNvPicPr>
          <p:nvPr/>
        </p:nvPicPr>
        <p:blipFill>
          <a:blip r:embed="rId3"/>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sp>
      <p:pic>
        <p:nvPicPr>
          <p:cNvPr id="24" name="Image 3" descr="Ícono RefreshCw">    </p:cNvPr>
          <p:cNvPicPr>
            <a:picLocks noChangeAspect="1"/>
          </p:cNvPicPr>
          <p:nvPr/>
        </p:nvPicPr>
        <p:blipFill>
          <a:blip r:embed="rId4"/>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sp>
      <p:pic>
        <p:nvPicPr>
          <p:cNvPr id="29" name="Image 4" descr="Ícono Kanban">    </p:cNvPr>
          <p:cNvPicPr>
            <a:picLocks noChangeAspect="1"/>
          </p:cNvPicPr>
          <p:nvPr/>
        </p:nvPicPr>
        <p:blipFill>
          <a:blip r:embed="rId5"/>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Jorge es Product Owner y Martín es Scrum Master. Tablero en Trello, código en GitHub y coordinación diaria asíncrona por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sp>
      <p:pic>
        <p:nvPicPr>
          <p:cNvPr id="34" name="Image 5" descr="Ícono Bot">    </p:cNvPr>
          <p:cNvPicPr>
            <a:picLocks noChangeAspect="1"/>
          </p:cNvPicPr>
          <p:nvPr/>
        </p:nvPicPr>
        <p:blipFill>
          <a:blip r:embed="rId6"/>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sp>
      <p:pic>
        <p:nvPicPr>
          <p:cNvPr id="39" name="Image 6" descr="Ícono Gauge">    </p:cNvPr>
          <p:cNvPicPr>
            <a:picLocks noChangeAspect="1"/>
          </p:cNvPicPr>
          <p:nvPr/>
        </p:nvPicPr>
        <p:blipFill>
          <a:blip r:embed="rId7"/>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CRONOGRAMA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sp>
      <p:sp>
        <p:nvSpPr>
          <p:cNvPr id="5" name="Text 3"/>
          <p:cNvSpPr txBox="1"/>
          <p:nvPr/>
        </p:nvSpPr>
        <p:spPr>
          <a:xfrm>
            <a:off x="493776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Sep</a:t>
            </a:r>
            <a:endParaRPr lang="en-US" sz="1200" dirty="0"/>
          </a:p>
        </p:txBody>
      </p:sp>
      <p:sp>
        <p:nvSpPr>
          <p:cNvPr id="6" name="Conector"/>
          <p:cNvSpPr/>
          <p:nvPr/>
        </p:nvSpPr>
        <p:spPr>
          <a:xfrm>
            <a:off x="5792175" y="1691640"/>
            <a:ext cx="914" cy="3794760"/>
          </a:xfrm>
          <a:prstGeom prst="line">
            <a:avLst/>
          </a:prstGeom>
          <a:noFill/>
          <a:ln w="12700">
            <a:solidFill>
              <a:schemeClr val="accent4"/>
            </a:solidFill>
            <a:prstDash val="solid"/>
          </a:ln>
        </p:spPr>
      </p:sp>
      <p:sp>
        <p:nvSpPr>
          <p:cNvPr id="7" name="Text 5"/>
          <p:cNvSpPr txBox="1"/>
          <p:nvPr/>
        </p:nvSpPr>
        <p:spPr>
          <a:xfrm>
            <a:off x="583789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Oct</a:t>
            </a:r>
            <a:endParaRPr lang="en-US" sz="1200" dirty="0"/>
          </a:p>
        </p:txBody>
      </p:sp>
      <p:sp>
        <p:nvSpPr>
          <p:cNvPr id="8" name="Conector"/>
          <p:cNvSpPr/>
          <p:nvPr/>
        </p:nvSpPr>
        <p:spPr>
          <a:xfrm>
            <a:off x="8582595" y="1691640"/>
            <a:ext cx="914" cy="3794760"/>
          </a:xfrm>
          <a:prstGeom prst="line">
            <a:avLst/>
          </a:prstGeom>
          <a:noFill/>
          <a:ln w="12700">
            <a:solidFill>
              <a:schemeClr val="accent4"/>
            </a:solidFill>
            <a:prstDash val="solid"/>
          </a:ln>
        </p:spPr>
      </p:sp>
      <p:sp>
        <p:nvSpPr>
          <p:cNvPr id="9" name="Text 7"/>
          <p:cNvSpPr txBox="1"/>
          <p:nvPr/>
        </p:nvSpPr>
        <p:spPr>
          <a:xfrm>
            <a:off x="862831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Nov</a:t>
            </a:r>
            <a:endParaRPr lang="en-US" sz="1200" dirty="0"/>
          </a:p>
        </p:txBody>
      </p:sp>
      <p:sp>
        <p:nvSpPr>
          <p:cNvPr id="10" name="Conector"/>
          <p:cNvSpPr/>
          <p:nvPr/>
        </p:nvSpPr>
        <p:spPr>
          <a:xfrm>
            <a:off x="11283001" y="1691640"/>
            <a:ext cx="914" cy="3794760"/>
          </a:xfrm>
          <a:prstGeom prst="line">
            <a:avLst/>
          </a:prstGeom>
          <a:noFill/>
          <a:ln w="12700">
            <a:solidFill>
              <a:schemeClr val="accent4"/>
            </a:solidFill>
            <a:prstDash val="solid"/>
          </a:ln>
        </p:spPr>
      </p:sp>
      <p:sp>
        <p:nvSpPr>
          <p:cNvPr id="11" name="Text 9"/>
          <p:cNvSpPr txBox="1"/>
          <p:nvPr/>
        </p:nvSpPr>
        <p:spPr>
          <a:xfrm>
            <a:off x="11328721"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21 sep – 15 oct</a:t>
            </a:r>
            <a:endParaRPr lang="en-US" sz="1200" dirty="0"/>
          </a:p>
        </p:txBody>
      </p:sp>
      <p:sp>
        <p:nvSpPr>
          <p:cNvPr id="14" name="Barra Sprint 0 · Preparación"/>
          <p:cNvSpPr/>
          <p:nvPr/>
        </p:nvSpPr>
        <p:spPr>
          <a:xfrm>
            <a:off x="4892040" y="2011680"/>
            <a:ext cx="2222906" cy="256032"/>
          </a:xfrm>
          <a:prstGeom prst="roundRect">
            <a:avLst>
              <a:gd name="adj" fmla="val 21429"/>
            </a:avLst>
          </a:prstGeom>
          <a:solidFill>
            <a:schemeClr val="tx2"/>
          </a:solidFill>
          <a:ln w="15875">
            <a:solidFill>
              <a:schemeClr val="tx2"/>
            </a:solidFill>
            <a:prstDash val="solid"/>
          </a:ln>
        </p:spPr>
      </p:sp>
      <p:sp>
        <p:nvSpPr>
          <p:cNvPr id="15" name="Text 13"/>
          <p:cNvSpPr txBox="1"/>
          <p:nvPr/>
        </p:nvSpPr>
        <p:spPr>
          <a:xfrm>
            <a:off x="7197242" y="196596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16 – 22 oct</a:t>
            </a:r>
            <a:endParaRPr lang="en-US" sz="1200" dirty="0"/>
          </a:p>
        </p:txBody>
      </p:sp>
      <p:sp>
        <p:nvSpPr>
          <p:cNvPr id="18" name="Barra Sprint 1 · Identidad y grupo"/>
          <p:cNvSpPr/>
          <p:nvPr/>
        </p:nvSpPr>
        <p:spPr>
          <a:xfrm>
            <a:off x="7142378" y="2441448"/>
            <a:ext cx="602663" cy="256032"/>
          </a:xfrm>
          <a:prstGeom prst="roundRect">
            <a:avLst>
              <a:gd name="adj" fmla="val 21429"/>
            </a:avLst>
          </a:prstGeom>
          <a:solidFill>
            <a:schemeClr val="tx2"/>
          </a:solidFill>
          <a:ln w="15875">
            <a:solidFill>
              <a:schemeClr val="tx2"/>
            </a:solidFill>
            <a:prstDash val="solid"/>
          </a:ln>
        </p:spPr>
      </p:sp>
      <p:sp>
        <p:nvSpPr>
          <p:cNvPr id="19" name="Text 17"/>
          <p:cNvSpPr txBox="1"/>
          <p:nvPr/>
        </p:nvSpPr>
        <p:spPr>
          <a:xfrm>
            <a:off x="7827337" y="2395728"/>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indent="0" marL="0">
              <a:buNone/>
            </a:pPr>
            <a:r>
              <a:rPr lang="en-US" sz="1400" b="1" dirty="0">
                <a:solidFill>
                  <a:schemeClr val="tx1"/>
                </a:solidFill>
              </a:rPr>
              <a:t>Sprint 2 · Ficha y acceso de relevo</a:t>
            </a:r>
            <a:endParaRPr lang="en-US" sz="1400" dirty="0"/>
          </a:p>
        </p:txBody>
      </p:sp>
      <p:sp>
        <p:nvSpPr>
          <p:cNvPr id="21" name="Text 19"/>
          <p:cNvSpPr txBox="1"/>
          <p:nvPr/>
        </p:nvSpPr>
        <p:spPr>
          <a:xfrm>
            <a:off x="3794760" y="282549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23 – 29 oct</a:t>
            </a:r>
            <a:endParaRPr lang="en-US" sz="1200" dirty="0"/>
          </a:p>
        </p:txBody>
      </p:sp>
      <p:sp>
        <p:nvSpPr>
          <p:cNvPr id="22" name="Barra Sprint 2 · Ficha y acceso de relevo"/>
          <p:cNvSpPr/>
          <p:nvPr/>
        </p:nvSpPr>
        <p:spPr>
          <a:xfrm>
            <a:off x="7772473" y="2871216"/>
            <a:ext cx="602663" cy="256032"/>
          </a:xfrm>
          <a:prstGeom prst="roundRect">
            <a:avLst>
              <a:gd name="adj" fmla="val 21429"/>
            </a:avLst>
          </a:prstGeom>
          <a:solidFill>
            <a:schemeClr val="accent2"/>
          </a:solidFill>
          <a:ln w="15875">
            <a:solidFill>
              <a:schemeClr val="accent2"/>
            </a:solidFill>
            <a:prstDash val="solid"/>
          </a:ln>
        </p:spPr>
      </p:sp>
      <p:sp>
        <p:nvSpPr>
          <p:cNvPr id="23" name="Text 21"/>
          <p:cNvSpPr txBox="1"/>
          <p:nvPr/>
        </p:nvSpPr>
        <p:spPr>
          <a:xfrm>
            <a:off x="8457432" y="2825496"/>
            <a:ext cx="1005840" cy="347472"/>
          </a:xfrm>
          <a:prstGeom prst="rect">
            <a:avLst/>
          </a:prstGeom>
          <a:noFill/>
          <a:ln/>
        </p:spPr>
        <p:txBody>
          <a:bodyPr wrap="square" lIns="0" tIns="0" rIns="0" bIns="0" rtlCol="0" anchor="ctr"/>
          <a:lstStyle/>
          <a:p>
            <a:pPr indent="0" marL="0">
              <a:buNone/>
            </a:pPr>
            <a:r>
              <a:rPr lang="en-US" sz="1200" b="1" dirty="0">
                <a:solidFill>
                  <a:schemeClr val="tx1"/>
                </a:solidFill>
              </a:rPr>
              <a:t>En curso</a:t>
            </a:r>
            <a:endParaRPr lang="en-US" sz="12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3 · App de familia y consumo</a:t>
            </a:r>
            <a:endParaRPr lang="en-US" sz="1400" dirty="0"/>
          </a:p>
        </p:txBody>
      </p:sp>
      <p:sp>
        <p:nvSpPr>
          <p:cNvPr id="25" name="Text 23"/>
          <p:cNvSpPr txBox="1"/>
          <p:nvPr/>
        </p:nvSpPr>
        <p:spPr>
          <a:xfrm>
            <a:off x="3794760" y="3255264"/>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30 oct – 5 nov</a:t>
            </a:r>
            <a:endParaRPr lang="en-US" sz="1200" dirty="0"/>
          </a:p>
        </p:txBody>
      </p:sp>
      <p:sp>
        <p:nvSpPr>
          <p:cNvPr id="26" name="Barra Sprint 3 · App de familia y consumo"/>
          <p:cNvSpPr/>
          <p:nvPr/>
        </p:nvSpPr>
        <p:spPr>
          <a:xfrm>
            <a:off x="8402568" y="3300984"/>
            <a:ext cx="602663" cy="256032"/>
          </a:xfrm>
          <a:prstGeom prst="roundRect">
            <a:avLst>
              <a:gd name="adj" fmla="val 21429"/>
            </a:avLst>
          </a:prstGeom>
          <a:solidFill>
            <a:schemeClr val="bg1"/>
          </a:solidFill>
          <a:ln w="15875">
            <a:solidFill>
              <a:schemeClr val="tx2"/>
            </a:solidFill>
            <a:prstDash val="solid"/>
          </a:ln>
        </p:spPr>
      </p:sp>
      <p:sp>
        <p:nvSpPr>
          <p:cNvPr id="27" name="Text 25"/>
          <p:cNvSpPr txBox="1"/>
          <p:nvPr/>
        </p:nvSpPr>
        <p:spPr>
          <a:xfrm>
            <a:off x="9087527" y="3255264"/>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6 – 12 nov</a:t>
            </a:r>
            <a:endParaRPr lang="en-US" sz="1200" dirty="0"/>
          </a:p>
        </p:txBody>
      </p:sp>
      <p:sp>
        <p:nvSpPr>
          <p:cNvPr id="30" name="Barra Sprint 4 · Catálogo, pedido y pago"/>
          <p:cNvSpPr/>
          <p:nvPr/>
        </p:nvSpPr>
        <p:spPr>
          <a:xfrm>
            <a:off x="9032663" y="3730752"/>
            <a:ext cx="602663" cy="256032"/>
          </a:xfrm>
          <a:prstGeom prst="roundRect">
            <a:avLst>
              <a:gd name="adj" fmla="val 21429"/>
            </a:avLst>
          </a:prstGeom>
          <a:solidFill>
            <a:schemeClr val="bg1"/>
          </a:solidFill>
          <a:ln w="15875">
            <a:solidFill>
              <a:schemeClr val="tx2"/>
            </a:solidFill>
            <a:prstDash val="solid"/>
          </a:ln>
        </p:spPr>
      </p:sp>
      <p:sp>
        <p:nvSpPr>
          <p:cNvPr id="31" name="Text 29"/>
          <p:cNvSpPr txBox="1"/>
          <p:nvPr/>
        </p:nvSpPr>
        <p:spPr>
          <a:xfrm>
            <a:off x="9717621" y="3685032"/>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13 – 19 nov</a:t>
            </a:r>
            <a:endParaRPr lang="en-US" sz="1200" dirty="0"/>
          </a:p>
        </p:txBody>
      </p:sp>
      <p:sp>
        <p:nvSpPr>
          <p:cNvPr id="34" name="Barra Sprint 5 · Cierre y despliegue"/>
          <p:cNvSpPr/>
          <p:nvPr/>
        </p:nvSpPr>
        <p:spPr>
          <a:xfrm>
            <a:off x="9662757" y="4160520"/>
            <a:ext cx="602663" cy="256032"/>
          </a:xfrm>
          <a:prstGeom prst="roundRect">
            <a:avLst>
              <a:gd name="adj" fmla="val 21429"/>
            </a:avLst>
          </a:prstGeom>
          <a:solidFill>
            <a:schemeClr val="bg1"/>
          </a:solidFill>
          <a:ln w="15875">
            <a:solidFill>
              <a:schemeClr val="tx2"/>
            </a:solidFill>
            <a:prstDash val="solid"/>
          </a:ln>
        </p:spPr>
      </p:sp>
      <p:sp>
        <p:nvSpPr>
          <p:cNvPr id="35" name="Text 33"/>
          <p:cNvSpPr txBox="1"/>
          <p:nvPr/>
        </p:nvSpPr>
        <p:spPr>
          <a:xfrm>
            <a:off x="10347716" y="411480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20 – 26 nov</a:t>
            </a:r>
            <a:endParaRPr lang="en-US" sz="1200" dirty="0"/>
          </a:p>
        </p:txBody>
      </p:sp>
      <p:sp>
        <p:nvSpPr>
          <p:cNvPr id="38" name="Barra Sprint 6 · Reserva: ajustes"/>
          <p:cNvSpPr/>
          <p:nvPr/>
        </p:nvSpPr>
        <p:spPr>
          <a:xfrm>
            <a:off x="10292852" y="4590288"/>
            <a:ext cx="602663" cy="256032"/>
          </a:xfrm>
          <a:prstGeom prst="roundRect">
            <a:avLst>
              <a:gd name="adj" fmla="val 21429"/>
            </a:avLst>
          </a:prstGeom>
          <a:solidFill>
            <a:schemeClr val="accent4"/>
          </a:solidFill>
          <a:ln w="15875">
            <a:solidFill>
              <a:schemeClr val="accent3"/>
            </a:solidFill>
            <a:prstDash val="dash"/>
          </a:ln>
        </p:spPr>
      </p:sp>
      <p:sp>
        <p:nvSpPr>
          <p:cNvPr id="39" name="Text 37"/>
          <p:cNvSpPr txBox="1"/>
          <p:nvPr/>
        </p:nvSpPr>
        <p:spPr>
          <a:xfrm>
            <a:off x="777240" y="497433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27 nov – 3 dic</a:t>
            </a:r>
            <a:endParaRPr lang="en-US" sz="1200" dirty="0"/>
          </a:p>
        </p:txBody>
      </p:sp>
      <p:sp>
        <p:nvSpPr>
          <p:cNvPr id="41" name="Barra Sprint 7 · Reserva: presentación"/>
          <p:cNvSpPr/>
          <p:nvPr/>
        </p:nvSpPr>
        <p:spPr>
          <a:xfrm>
            <a:off x="10922947" y="5020056"/>
            <a:ext cx="602663" cy="256032"/>
          </a:xfrm>
          <a:prstGeom prst="roundRect">
            <a:avLst>
              <a:gd name="adj" fmla="val 21429"/>
            </a:avLst>
          </a:prstGeom>
          <a:solidFill>
            <a:schemeClr val="accent4"/>
          </a:solidFill>
          <a:ln w="15875">
            <a:solidFill>
              <a:schemeClr val="accent3"/>
            </a:solidFill>
            <a:prstDash val="dash"/>
          </a:ln>
        </p:spPr>
      </p:sp>
      <p:sp>
        <p:nvSpPr>
          <p:cNvPr id="42" name="Conector"/>
          <p:cNvSpPr/>
          <p:nvPr/>
        </p:nvSpPr>
        <p:spPr>
          <a:xfrm>
            <a:off x="4892040" y="5486400"/>
            <a:ext cx="6659575" cy="914"/>
          </a:xfrm>
          <a:prstGeom prst="line">
            <a:avLst/>
          </a:prstGeom>
          <a:noFill/>
          <a:ln w="12700">
            <a:solidFill>
              <a:schemeClr val="accent3"/>
            </a:solidFill>
            <a:prstDash val="solid"/>
          </a:ln>
        </p:spPr>
      </p:sp>
      <p:sp>
        <p:nvSpPr>
          <p:cNvPr id="43" name="Hito Entrega de avance"/>
          <p:cNvSpPr/>
          <p:nvPr/>
        </p:nvSpPr>
        <p:spPr>
          <a:xfrm>
            <a:off x="6960925" y="5394960"/>
            <a:ext cx="182880" cy="182880"/>
          </a:xfrm>
          <a:prstGeom prst="diamond">
            <a:avLst/>
          </a:prstGeom>
          <a:solidFill>
            <a:schemeClr val="tx2"/>
          </a:solidFill>
          <a:ln w="12700">
            <a:solidFill>
              <a:schemeClr val="tx2"/>
            </a:solidFill>
            <a:prstDash val="solid"/>
          </a:ln>
        </p:spPr>
      </p:sp>
      <p:sp>
        <p:nvSpPr>
          <p:cNvPr id="44" name="Text 42"/>
          <p:cNvSpPr txBox="1"/>
          <p:nvPr/>
        </p:nvSpPr>
        <p:spPr>
          <a:xfrm>
            <a:off x="6252265"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de avance</a:t>
            </a:r>
            <a:endParaRPr lang="en-US" sz="1200" dirty="0"/>
          </a:p>
          <a:p>
            <a:pPr algn="ctr" indent="0" marL="0">
              <a:buNone/>
            </a:pPr>
            <a:r>
              <a:rPr lang="en-US" sz="1200" dirty="0">
                <a:solidFill>
                  <a:schemeClr val="tx1"/>
                </a:solidFill>
              </a:rPr>
              <a:t>semana 10</a:t>
            </a:r>
            <a:endParaRPr lang="en-US" sz="1200" dirty="0"/>
          </a:p>
        </p:txBody>
      </p:sp>
      <p:sp>
        <p:nvSpPr>
          <p:cNvPr id="45" name="Hito Presentación"/>
          <p:cNvSpPr/>
          <p:nvPr/>
        </p:nvSpPr>
        <p:spPr>
          <a:xfrm>
            <a:off x="8311128" y="5394960"/>
            <a:ext cx="182880" cy="182880"/>
          </a:xfrm>
          <a:prstGeom prst="diamond">
            <a:avLst/>
          </a:prstGeom>
          <a:solidFill>
            <a:schemeClr val="accent2"/>
          </a:solidFill>
          <a:ln w="12700">
            <a:solidFill>
              <a:schemeClr val="tx2"/>
            </a:solidFill>
            <a:prstDash val="solid"/>
          </a:ln>
        </p:spPr>
      </p:sp>
      <p:sp>
        <p:nvSpPr>
          <p:cNvPr id="46" name="Text 44"/>
          <p:cNvSpPr txBox="1"/>
          <p:nvPr/>
        </p:nvSpPr>
        <p:spPr>
          <a:xfrm>
            <a:off x="760246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Presentación</a:t>
            </a:r>
            <a:endParaRPr lang="en-US" sz="1200" dirty="0"/>
          </a:p>
          <a:p>
            <a:pPr algn="ctr" indent="0" marL="0">
              <a:buNone/>
            </a:pPr>
            <a:r>
              <a:rPr lang="en-US" sz="1200" dirty="0">
                <a:solidFill>
                  <a:schemeClr val="tx1"/>
                </a:solidFill>
              </a:rPr>
              <a:t>30 oct</a:t>
            </a:r>
            <a:endParaRPr lang="en-US" sz="1200" dirty="0"/>
          </a:p>
        </p:txBody>
      </p:sp>
      <p:sp>
        <p:nvSpPr>
          <p:cNvPr id="47" name="Hito Entrega final Fase 2"/>
          <p:cNvSpPr/>
          <p:nvPr/>
        </p:nvSpPr>
        <p:spPr>
          <a:xfrm>
            <a:off x="9841358" y="5394960"/>
            <a:ext cx="182880" cy="182880"/>
          </a:xfrm>
          <a:prstGeom prst="diamond">
            <a:avLst/>
          </a:prstGeom>
          <a:solidFill>
            <a:schemeClr val="tx2"/>
          </a:solidFill>
          <a:ln w="12700">
            <a:solidFill>
              <a:schemeClr val="tx2"/>
            </a:solidFill>
            <a:prstDash val="solid"/>
          </a:ln>
        </p:spPr>
      </p:sp>
      <p:sp>
        <p:nvSpPr>
          <p:cNvPr id="48" name="Text 46"/>
          <p:cNvSpPr txBox="1"/>
          <p:nvPr/>
        </p:nvSpPr>
        <p:spPr>
          <a:xfrm>
            <a:off x="913269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final Fase 2</a:t>
            </a:r>
            <a:endParaRPr lang="en-US" sz="1200" dirty="0"/>
          </a:p>
          <a:p>
            <a:pPr algn="ctr" indent="0" marL="0">
              <a:buNone/>
            </a:pPr>
            <a:r>
              <a:rPr lang="en-US" sz="1200" dirty="0">
                <a:solidFill>
                  <a:schemeClr val="tx1"/>
                </a:solidFill>
              </a:rPr>
              <a:t>semana 15</a:t>
            </a:r>
            <a:endParaRPr lang="en-US" sz="1200" dirty="0"/>
          </a:p>
        </p:txBody>
      </p:sp>
      <p:sp>
        <p:nvSpPr>
          <p:cNvPr id="49" name="Hito Fase 3"/>
          <p:cNvSpPr/>
          <p:nvPr/>
        </p:nvSpPr>
        <p:spPr>
          <a:xfrm>
            <a:off x="11101548" y="5394960"/>
            <a:ext cx="182880" cy="182880"/>
          </a:xfrm>
          <a:prstGeom prst="diamond">
            <a:avLst/>
          </a:prstGeom>
          <a:solidFill>
            <a:schemeClr val="tx2"/>
          </a:solidFill>
          <a:ln w="12700">
            <a:solidFill>
              <a:schemeClr val="tx2"/>
            </a:solidFill>
            <a:prstDash val="solid"/>
          </a:ln>
        </p:spPr>
      </p:sp>
      <p:sp>
        <p:nvSpPr>
          <p:cNvPr id="50" name="Text 48"/>
          <p:cNvSpPr txBox="1"/>
          <p:nvPr/>
        </p:nvSpPr>
        <p:spPr>
          <a:xfrm>
            <a:off x="9951415" y="5605272"/>
            <a:ext cx="1600200" cy="502920"/>
          </a:xfrm>
          <a:prstGeom prst="rect">
            <a:avLst/>
          </a:prstGeom>
          <a:noFill/>
          <a:ln/>
        </p:spPr>
        <p:txBody>
          <a:bodyPr wrap="square" lIns="0" tIns="0" rIns="0" bIns="0" rtlCol="0" anchor="t"/>
          <a:lstStyle/>
          <a:p>
            <a:pPr algn="r" indent="0" marL="0">
              <a:buNone/>
            </a:pPr>
            <a:r>
              <a:rPr lang="en-US" sz="1200" b="1" dirty="0">
                <a:solidFill>
                  <a:schemeClr val="tx1"/>
                </a:solidFill>
              </a:rPr>
              <a:t>Fase 3</a:t>
            </a:r>
            <a:endParaRPr lang="en-US" sz="1200" dirty="0"/>
          </a:p>
          <a:p>
            <a:pPr algn="r" indent="0" marL="0">
              <a:buNone/>
            </a:pPr>
            <a:r>
              <a:rPr lang="en-US" sz="1200" dirty="0">
                <a:solidFill>
                  <a:schemeClr val="tx1"/>
                </a:solidFill>
              </a:rPr>
              <a:t>semanas 17 y 18</a:t>
            </a:r>
            <a:endParaRPr lang="en-US" sz="1200" dirty="0"/>
          </a:p>
        </p:txBody>
      </p:sp>
      <p:sp>
        <p:nvSpPr>
          <p:cNvPr id="51" name="Conector"/>
          <p:cNvSpPr/>
          <p:nvPr/>
        </p:nvSpPr>
        <p:spPr>
          <a:xfrm>
            <a:off x="8402568" y="1874520"/>
            <a:ext cx="914" cy="3520440"/>
          </a:xfrm>
          <a:prstGeom prst="line">
            <a:avLst/>
          </a:prstGeom>
          <a:noFill/>
          <a:ln w="25400">
            <a:solidFill>
              <a:schemeClr val="accent2"/>
            </a:solidFill>
            <a:prstDash val="dash"/>
          </a:ln>
        </p:spPr>
      </p:sp>
      <p:sp>
        <p:nvSpPr>
          <p:cNvPr id="52" name="Text 50"/>
          <p:cNvSpPr txBox="1"/>
          <p:nvPr/>
        </p:nvSpPr>
        <p:spPr>
          <a:xfrm>
            <a:off x="777240" y="5349240"/>
            <a:ext cx="2743200" cy="274320"/>
          </a:xfrm>
          <a:prstGeom prst="rect">
            <a:avLst/>
          </a:prstGeom>
          <a:noFill/>
          <a:ln/>
        </p:spPr>
        <p:txBody>
          <a:bodyPr wrap="square" lIns="0" tIns="0" rIns="0" bIns="0" rtlCol="0" anchor="ctr"/>
          <a:lstStyle/>
          <a:p>
            <a:pPr indent="0" marL="0">
              <a:buNone/>
            </a:pPr>
            <a:r>
              <a:rPr lang="en-US" sz="1400" b="1" dirty="0">
                <a:solidFill>
                  <a:schemeClr val="tx2"/>
                </a:solidFill>
              </a:rPr>
              <a:t>Hitos del ramo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TECNOLOGÍAS Y HERRAMIENTAS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accent4"/>
          </a:solidFill>
          <a:ln w="12700">
            <a:solidFill>
              <a:schemeClr val="accent4"/>
            </a:solidFill>
            <a:prstDash val="solid"/>
          </a:ln>
        </p:spPr>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sp>
      <p:pic>
        <p:nvPicPr>
          <p:cNvPr id="6" name="Image 0" descr="Ícono Smartphone">    </p:cNvPr>
          <p:cNvPicPr>
            <a:picLocks noChangeAspect="1"/>
          </p:cNvPicPr>
          <p:nvPr/>
        </p:nvPicPr>
        <p:blipFill>
          <a:blip r:embed="rId1"/>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 (ADR-026)</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sp>
      <p:pic>
        <p:nvPicPr>
          <p:cNvPr id="11" name="Image 1" descr="Ícono Server">    </p:cNvPr>
          <p:cNvPicPr>
            <a:picLocks noChangeAspect="1"/>
          </p:cNvPicPr>
          <p:nvPr/>
        </p:nvPicPr>
        <p:blipFill>
          <a:blip r:embed="rId2"/>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sp>
      <p:pic>
        <p:nvPicPr>
          <p:cNvPr id="16" name="Image 2" descr="Ícono Database">    </p:cNvPr>
          <p:cNvPicPr>
            <a:picLocks noChangeAspect="1"/>
          </p:cNvPicPr>
          <p:nvPr/>
        </p:nvPicPr>
        <p:blipFill>
          <a:blip r:embed="rId3"/>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sp>
      <p:pic>
        <p:nvPicPr>
          <p:cNvPr id="21" name="Image 3" descr="Ícono CreditCard">    </p:cNvPr>
          <p:cNvPicPr>
            <a:picLocks noChangeAspect="1"/>
          </p:cNvPicPr>
          <p:nvPr/>
        </p:nvPicPr>
        <p:blipFill>
          <a:blip r:embed="rId4"/>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a:solidFill>
                  <a:schemeClr val="tx1"/>
                </a:solidFill>
              </a:rPr>
              <a:t>Venta normal con un solo cobro (ADR-027)</a:t>
            </a:r>
            <a:endParaRPr lang="en-US" sz="1400" dirty="0"/>
          </a:p>
          <a:p>
            <a:pPr marL="152400" indent="-152400">
              <a:spcAft>
                <a:spcPts val="500"/>
              </a:spcAft>
              <a:buSzPct val="100000"/>
              <a:buChar char="•"/>
            </a:pPr>
            <a:r>
              <a:rPr lang="en-US" sz="1400" dirty="0">
                <a:solidFill>
                  <a:schemeClr val="tx1"/>
                </a:solidFill>
              </a:rPr>
              <a:t>Ambiente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sp>
      <p:pic>
        <p:nvPicPr>
          <p:cNvPr id="26" name="Image 4" descr="Ícono Wrench">    </p:cNvPr>
          <p:cNvPicPr>
            <a:picLocks noChangeAspect="1"/>
          </p:cNvPicPr>
          <p:nvPr/>
        </p:nvPicPr>
        <p:blipFill>
          <a:blip r:embed="rId5"/>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sp>
      <p:pic>
        <p:nvPicPr>
          <p:cNvPr id="31" name="Image 5" descr="Ícono Workflow">    </p:cNvPr>
          <p:cNvPicPr>
            <a:picLocks noChangeAspect="1"/>
          </p:cNvPicPr>
          <p:nvPr/>
        </p:nvPicPr>
        <p:blipFill>
          <a:blip r:embed="rId6"/>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500" b="1" dirty="0">
                <a:solidFill>
                  <a:schemeClr val="tx1"/>
                </a:solidFill>
              </a:rPr>
              <a:t>CI en cada push:  </a:t>
            </a:r>
            <a:pPr indent="0" marL="0">
              <a:buNone/>
            </a:pP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ARQUITECTURA DE LA APLICACIÓN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monolito modular, con las dependencias hacia abajo</a:t>
            </a:r>
            <a:endParaRPr lang="en-US" sz="3200" dirty="0"/>
          </a:p>
        </p:txBody>
      </p:sp>
      <p:sp>
        <p:nvSpPr>
          <p:cNvPr id="4" name="App de la familia"/>
          <p:cNvSpPr/>
          <p:nvPr/>
        </p:nvSpPr>
        <p:spPr>
          <a:xfrm>
            <a:off x="548640" y="1554480"/>
            <a:ext cx="1748790" cy="731520"/>
          </a:xfrm>
          <a:prstGeom prst="roundRect">
            <a:avLst>
              <a:gd name="adj" fmla="val 15000"/>
            </a:avLst>
          </a:prstGeom>
          <a:solidFill>
            <a:schemeClr val="bg1"/>
          </a:solidFill>
          <a:ln w="12700">
            <a:solidFill>
              <a:schemeClr val="bg1"/>
            </a:solidFill>
            <a:prstDash val="solid"/>
          </a:ln>
        </p:spPr>
      </p:sp>
      <p:pic>
        <p:nvPicPr>
          <p:cNvPr id="5" name="Image 0" descr="App de la familia">    </p:cNvPr>
          <p:cNvPicPr>
            <a:picLocks noChangeAspect="1"/>
          </p:cNvPicPr>
          <p:nvPr/>
        </p:nvPicPr>
        <p:blipFill>
          <a:blip r:embed="rId1"/>
          <a:stretch>
            <a:fillRect/>
          </a:stretch>
        </p:blipFill>
        <p:spPr>
          <a:xfrm>
            <a:off x="685800" y="1755648"/>
            <a:ext cx="329184" cy="329184"/>
          </a:xfrm>
          <a:prstGeom prst="rect">
            <a:avLst/>
          </a:prstGeom>
        </p:spPr>
      </p:pic>
      <p:sp>
        <p:nvSpPr>
          <p:cNvPr id="6" name="Text 3"/>
          <p:cNvSpPr txBox="1"/>
          <p:nvPr/>
        </p:nvSpPr>
        <p:spPr>
          <a:xfrm>
            <a:off x="109728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App de la familia</a:t>
            </a:r>
            <a:endParaRPr lang="en-US" sz="1400" dirty="0"/>
          </a:p>
        </p:txBody>
      </p:sp>
      <p:sp>
        <p:nvSpPr>
          <p:cNvPr id="7" name="Página del relevo"/>
          <p:cNvSpPr/>
          <p:nvPr/>
        </p:nvSpPr>
        <p:spPr>
          <a:xfrm>
            <a:off x="2480310" y="1554480"/>
            <a:ext cx="1748790" cy="731520"/>
          </a:xfrm>
          <a:prstGeom prst="roundRect">
            <a:avLst>
              <a:gd name="adj" fmla="val 15000"/>
            </a:avLst>
          </a:prstGeom>
          <a:solidFill>
            <a:schemeClr val="bg1"/>
          </a:solidFill>
          <a:ln w="12700">
            <a:solidFill>
              <a:schemeClr val="bg1"/>
            </a:solidFill>
            <a:prstDash val="solid"/>
          </a:ln>
        </p:spPr>
      </p:sp>
      <p:pic>
        <p:nvPicPr>
          <p:cNvPr id="8" name="Image 1" descr="Página del relevo">    </p:cNvPr>
          <p:cNvPicPr>
            <a:picLocks noChangeAspect="1"/>
          </p:cNvPicPr>
          <p:nvPr/>
        </p:nvPicPr>
        <p:blipFill>
          <a:blip r:embed="rId2"/>
          <a:stretch>
            <a:fillRect/>
          </a:stretch>
        </p:blipFill>
        <p:spPr>
          <a:xfrm>
            <a:off x="2617470" y="1755648"/>
            <a:ext cx="329184" cy="329184"/>
          </a:xfrm>
          <a:prstGeom prst="rect">
            <a:avLst/>
          </a:prstGeom>
        </p:spPr>
      </p:pic>
      <p:sp>
        <p:nvSpPr>
          <p:cNvPr id="9" name="Text 5"/>
          <p:cNvSpPr txBox="1"/>
          <p:nvPr/>
        </p:nvSpPr>
        <p:spPr>
          <a:xfrm>
            <a:off x="302895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Página del relevo</a:t>
            </a:r>
            <a:endParaRPr lang="en-US" sz="1400" dirty="0"/>
          </a:p>
        </p:txBody>
      </p:sp>
      <p:sp>
        <p:nvSpPr>
          <p:cNvPr id="10" name="Vista de comercio"/>
          <p:cNvSpPr/>
          <p:nvPr/>
        </p:nvSpPr>
        <p:spPr>
          <a:xfrm>
            <a:off x="4411980" y="1554480"/>
            <a:ext cx="1748790" cy="731520"/>
          </a:xfrm>
          <a:prstGeom prst="roundRect">
            <a:avLst>
              <a:gd name="adj" fmla="val 15000"/>
            </a:avLst>
          </a:prstGeom>
          <a:solidFill>
            <a:schemeClr val="bg1"/>
          </a:solidFill>
          <a:ln w="12700">
            <a:solidFill>
              <a:schemeClr val="bg1"/>
            </a:solidFill>
            <a:prstDash val="solid"/>
          </a:ln>
        </p:spPr>
      </p:sp>
      <p:pic>
        <p:nvPicPr>
          <p:cNvPr id="11" name="Image 2" descr="Vista de comercio">    </p:cNvPr>
          <p:cNvPicPr>
            <a:picLocks noChangeAspect="1"/>
          </p:cNvPicPr>
          <p:nvPr/>
        </p:nvPicPr>
        <p:blipFill>
          <a:blip r:embed="rId3"/>
          <a:stretch>
            <a:fillRect/>
          </a:stretch>
        </p:blipFill>
        <p:spPr>
          <a:xfrm>
            <a:off x="4549140" y="1755648"/>
            <a:ext cx="329184" cy="329184"/>
          </a:xfrm>
          <a:prstGeom prst="rect">
            <a:avLst/>
          </a:prstGeom>
        </p:spPr>
      </p:pic>
      <p:sp>
        <p:nvSpPr>
          <p:cNvPr id="12" name="Text 7"/>
          <p:cNvSpPr txBox="1"/>
          <p:nvPr/>
        </p:nvSpPr>
        <p:spPr>
          <a:xfrm>
            <a:off x="496062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Vista de comercio</a:t>
            </a:r>
            <a:endParaRPr lang="en-US" sz="1400" dirty="0"/>
          </a:p>
        </p:txBody>
      </p:sp>
      <p:sp>
        <p:nvSpPr>
          <p:cNvPr id="13" name="Backoffice"/>
          <p:cNvSpPr/>
          <p:nvPr/>
        </p:nvSpPr>
        <p:spPr>
          <a:xfrm>
            <a:off x="6343650" y="1554480"/>
            <a:ext cx="1748790" cy="731520"/>
          </a:xfrm>
          <a:prstGeom prst="roundRect">
            <a:avLst>
              <a:gd name="adj" fmla="val 15000"/>
            </a:avLst>
          </a:prstGeom>
          <a:solidFill>
            <a:schemeClr val="bg1"/>
          </a:solidFill>
          <a:ln w="12700">
            <a:solidFill>
              <a:schemeClr val="bg1"/>
            </a:solidFill>
            <a:prstDash val="solid"/>
          </a:ln>
        </p:spPr>
      </p:sp>
      <p:pic>
        <p:nvPicPr>
          <p:cNvPr id="14" name="Image 3" descr="Backoffice">    </p:cNvPr>
          <p:cNvPicPr>
            <a:picLocks noChangeAspect="1"/>
          </p:cNvPicPr>
          <p:nvPr/>
        </p:nvPicPr>
        <p:blipFill>
          <a:blip r:embed="rId4"/>
          <a:stretch>
            <a:fillRect/>
          </a:stretch>
        </p:blipFill>
        <p:spPr>
          <a:xfrm>
            <a:off x="6480810" y="1755648"/>
            <a:ext cx="329184" cy="329184"/>
          </a:xfrm>
          <a:prstGeom prst="rect">
            <a:avLst/>
          </a:prstGeom>
        </p:spPr>
      </p:pic>
      <p:sp>
        <p:nvSpPr>
          <p:cNvPr id="15" name="Text 9"/>
          <p:cNvSpPr txBox="1"/>
          <p:nvPr/>
        </p:nvSpPr>
        <p:spPr>
          <a:xfrm>
            <a:off x="689229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Backoffice</a:t>
            </a:r>
            <a:endParaRPr lang="en-US" sz="1400" dirty="0"/>
          </a:p>
        </p:txBody>
      </p:sp>
      <p:sp>
        <p:nvSpPr>
          <p:cNvPr id="16" name="Conector"/>
          <p:cNvSpPr/>
          <p:nvPr/>
        </p:nvSpPr>
        <p:spPr>
          <a:xfrm>
            <a:off x="4320540" y="2331720"/>
            <a:ext cx="914" cy="274320"/>
          </a:xfrm>
          <a:prstGeom prst="line">
            <a:avLst/>
          </a:prstGeom>
          <a:noFill/>
          <a:ln w="25400">
            <a:solidFill>
              <a:schemeClr val="tx2"/>
            </a:solidFill>
            <a:prstDash val="solid"/>
            <a:tailEnd type="triangle"/>
          </a:ln>
        </p:spPr>
      </p:sp>
      <p:sp>
        <p:nvSpPr>
          <p:cNvPr id="17" name="Text 11"/>
          <p:cNvSpPr txBox="1"/>
          <p:nvPr/>
        </p:nvSpPr>
        <p:spPr>
          <a:xfrm>
            <a:off x="4430268" y="2331720"/>
            <a:ext cx="2286000" cy="274320"/>
          </a:xfrm>
          <a:prstGeom prst="rect">
            <a:avLst/>
          </a:prstGeom>
          <a:noFill/>
          <a:ln/>
        </p:spPr>
        <p:txBody>
          <a:bodyPr wrap="square" lIns="0" tIns="0" rIns="0" bIns="0" rtlCol="0" anchor="ctr"/>
          <a:lstStyle/>
          <a:p>
            <a:pPr indent="0" marL="0">
              <a:buNone/>
            </a:pPr>
            <a:r>
              <a:rPr lang="en-US" sz="1100" dirty="0">
                <a:solidFill>
                  <a:schemeClr val="accent3"/>
                </a:solidFill>
              </a:rPr>
              <a:t>HTTPS · mismo origen</a:t>
            </a:r>
            <a:endParaRPr lang="en-US" sz="1100" dirty="0"/>
          </a:p>
        </p:txBody>
      </p:sp>
      <p:sp>
        <p:nvSpPr>
          <p:cNvPr id="18" name="API MATU"/>
          <p:cNvSpPr/>
          <p:nvPr/>
        </p:nvSpPr>
        <p:spPr>
          <a:xfrm>
            <a:off x="548640" y="2651760"/>
            <a:ext cx="7543800" cy="2194560"/>
          </a:xfrm>
          <a:prstGeom prst="roundRect">
            <a:avLst>
              <a:gd name="adj" fmla="val 5000"/>
            </a:avLst>
          </a:prstGeom>
          <a:solidFill>
            <a:schemeClr val="accent4"/>
          </a:solidFill>
          <a:ln w="12700">
            <a:solidFill>
              <a:schemeClr val="accent4"/>
            </a:solidFill>
            <a:prstDash val="solid"/>
          </a:ln>
        </p:spPr>
      </p:sp>
      <p:sp>
        <p:nvSpPr>
          <p:cNvPr id="19" name="Text 13"/>
          <p:cNvSpPr txBox="1"/>
          <p:nvPr/>
        </p:nvSpPr>
        <p:spPr>
          <a:xfrm>
            <a:off x="777240" y="2743200"/>
            <a:ext cx="7086600" cy="365760"/>
          </a:xfrm>
          <a:prstGeom prst="rect">
            <a:avLst/>
          </a:prstGeom>
          <a:noFill/>
          <a:ln/>
        </p:spPr>
        <p:txBody>
          <a:bodyPr wrap="square" lIns="0" tIns="0" rIns="0" bIns="0" rtlCol="0" anchor="ctr"/>
          <a:lstStyle/>
          <a:p>
            <a:pPr indent="0" marL="0">
              <a:buNone/>
            </a:pPr>
            <a:r>
              <a:rPr lang="en-US" sz="1500" b="1" dirty="0">
                <a:solidFill>
                  <a:schemeClr val="tx1"/>
                </a:solidFill>
              </a:rPr>
              <a:t>API MATU</a:t>
            </a:r>
            <a:pPr indent="0" marL="0">
              <a:buNone/>
            </a:pPr>
            <a:r>
              <a:rPr lang="en-US" sz="1500" dirty="0">
                <a:solidFill>
                  <a:schemeClr val="accent3"/>
                </a:solidFill>
              </a:rPr>
              <a:t>  ·  FastAPI · un solo proceso con módulos de límite explícito</a:t>
            </a:r>
            <a:endParaRPr lang="en-US" sz="1500" dirty="0"/>
          </a:p>
        </p:txBody>
      </p:sp>
      <p:sp>
        <p:nvSpPr>
          <p:cNvPr id="20" name="Capa 1 · el producto"/>
          <p:cNvSpPr/>
          <p:nvPr/>
        </p:nvSpPr>
        <p:spPr>
          <a:xfrm>
            <a:off x="777240" y="3154680"/>
            <a:ext cx="2240280" cy="960120"/>
          </a:xfrm>
          <a:prstGeom prst="roundRect">
            <a:avLst>
              <a:gd name="adj" fmla="val 11429"/>
            </a:avLst>
          </a:prstGeom>
          <a:solidFill>
            <a:schemeClr val="bg1"/>
          </a:solidFill>
          <a:ln w="12700">
            <a:solidFill>
              <a:schemeClr val="bg1"/>
            </a:solidFill>
            <a:prstDash val="solid"/>
          </a:ln>
        </p:spPr>
      </p:sp>
      <p:sp>
        <p:nvSpPr>
          <p:cNvPr id="21" name="Text 15"/>
          <p:cNvSpPr txBox="1"/>
          <p:nvPr/>
        </p:nvSpPr>
        <p:spPr>
          <a:xfrm>
            <a:off x="91440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1 · el producto</a:t>
            </a:r>
            <a:endParaRPr lang="en-US" sz="1400" dirty="0"/>
          </a:p>
        </p:txBody>
      </p:sp>
      <p:sp>
        <p:nvSpPr>
          <p:cNvPr id="22" name="Text 16"/>
          <p:cNvSpPr txBox="1"/>
          <p:nvPr/>
        </p:nvSpPr>
        <p:spPr>
          <a:xfrm>
            <a:off x="91440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care_plan</a:t>
            </a:r>
            <a:endParaRPr lang="en-US" sz="1400" dirty="0"/>
          </a:p>
        </p:txBody>
      </p:sp>
      <p:sp>
        <p:nvSpPr>
          <p:cNvPr id="23" name="Capa 2 · el diferenciador"/>
          <p:cNvSpPr/>
          <p:nvPr/>
        </p:nvSpPr>
        <p:spPr>
          <a:xfrm>
            <a:off x="3200400" y="3154680"/>
            <a:ext cx="2240280" cy="960120"/>
          </a:xfrm>
          <a:prstGeom prst="roundRect">
            <a:avLst>
              <a:gd name="adj" fmla="val 11429"/>
            </a:avLst>
          </a:prstGeom>
          <a:solidFill>
            <a:schemeClr val="bg1"/>
          </a:solidFill>
          <a:ln w="12700">
            <a:solidFill>
              <a:schemeClr val="bg1"/>
            </a:solidFill>
            <a:prstDash val="solid"/>
          </a:ln>
        </p:spPr>
      </p:sp>
      <p:sp>
        <p:nvSpPr>
          <p:cNvPr id="24" name="Text 18"/>
          <p:cNvSpPr txBox="1"/>
          <p:nvPr/>
        </p:nvSpPr>
        <p:spPr>
          <a:xfrm>
            <a:off x="333756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2 · el diferenciador</a:t>
            </a:r>
            <a:endParaRPr lang="en-US" sz="1400" dirty="0"/>
          </a:p>
        </p:txBody>
      </p:sp>
      <p:sp>
        <p:nvSpPr>
          <p:cNvPr id="25" name="Text 19"/>
          <p:cNvSpPr txBox="1"/>
          <p:nvPr/>
        </p:nvSpPr>
        <p:spPr>
          <a:xfrm>
            <a:off x="333756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consumption</a:t>
            </a:r>
            <a:endParaRPr lang="en-US" sz="1400" dirty="0"/>
          </a:p>
        </p:txBody>
      </p:sp>
      <p:sp>
        <p:nvSpPr>
          <p:cNvPr id="26" name="Capa 3 · se puede quitar"/>
          <p:cNvSpPr/>
          <p:nvPr/>
        </p:nvSpPr>
        <p:spPr>
          <a:xfrm>
            <a:off x="5623560" y="3154680"/>
            <a:ext cx="2240280" cy="960120"/>
          </a:xfrm>
          <a:prstGeom prst="roundRect">
            <a:avLst>
              <a:gd name="adj" fmla="val 11429"/>
            </a:avLst>
          </a:prstGeom>
          <a:solidFill>
            <a:schemeClr val="bg1"/>
          </a:solidFill>
          <a:ln w="15875">
            <a:solidFill>
              <a:schemeClr val="accent3"/>
            </a:solidFill>
            <a:prstDash val="dash"/>
          </a:ln>
        </p:spPr>
      </p:sp>
      <p:sp>
        <p:nvSpPr>
          <p:cNvPr id="27" name="Text 21"/>
          <p:cNvSpPr txBox="1"/>
          <p:nvPr/>
        </p:nvSpPr>
        <p:spPr>
          <a:xfrm>
            <a:off x="5760720" y="3246120"/>
            <a:ext cx="1965960" cy="320040"/>
          </a:xfrm>
          <a:prstGeom prst="rect">
            <a:avLst/>
          </a:prstGeom>
          <a:noFill/>
          <a:ln/>
        </p:spPr>
        <p:txBody>
          <a:bodyPr wrap="square" lIns="0" tIns="0" rIns="0" bIns="0" rtlCol="0" anchor="t"/>
          <a:lstStyle/>
          <a:p>
            <a:pPr indent="0" marL="0">
              <a:buNone/>
            </a:pPr>
            <a:r>
              <a:rPr lang="en-US" sz="1400" b="1" dirty="0">
                <a:solidFill>
                  <a:schemeClr val="accent3"/>
                </a:solidFill>
              </a:rPr>
              <a:t>Capa 3 · se puede quitar</a:t>
            </a:r>
            <a:endParaRPr lang="en-US" sz="1400" dirty="0"/>
          </a:p>
        </p:txBody>
      </p:sp>
      <p:sp>
        <p:nvSpPr>
          <p:cNvPr id="28" name="Text 22"/>
          <p:cNvSpPr txBox="1"/>
          <p:nvPr/>
        </p:nvSpPr>
        <p:spPr>
          <a:xfrm>
            <a:off x="576072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catalog · ordering · payments · fulfillment</a:t>
            </a:r>
            <a:endParaRPr lang="en-US" sz="1400" dirty="0"/>
          </a:p>
        </p:txBody>
      </p:sp>
      <p:sp>
        <p:nvSpPr>
          <p:cNvPr id="29" name="Etiqueta"/>
          <p:cNvSpPr txBox="1"/>
          <p:nvPr/>
        </p:nvSpPr>
        <p:spPr>
          <a:xfrm>
            <a:off x="777240" y="4251960"/>
            <a:ext cx="7086600" cy="384048"/>
          </a:xfrm>
          <a:prstGeom prst="roundRect">
            <a:avLst>
              <a:gd name="adj" fmla="val 23810"/>
            </a:avLst>
          </a:prstGeom>
          <a:solidFill>
            <a:schemeClr val="bg1"/>
          </a:solidFill>
          <a:ln>
            <a:solidFill>
              <a:schemeClr val="bg1"/>
            </a:solidFill>
          </a:ln>
        </p:spPr>
        <p:txBody>
          <a:bodyPr wrap="square" lIns="0" tIns="0" rIns="0" bIns="0" rtlCol="0" anchor="ctr"/>
          <a:lstStyle/>
          <a:p>
            <a:pPr algn="ctr" indent="0" marL="0">
              <a:buNone/>
            </a:pPr>
            <a:r>
              <a:rPr lang="en-US" sz="1300" dirty="0">
                <a:solidFill>
                  <a:schemeClr val="tx1"/>
                </a:solidFill>
              </a:rPr>
              <a:t>Transversales: iam · care_circle · notifications · shared</a:t>
            </a:r>
            <a:endParaRPr lang="en-US" sz="1300" dirty="0"/>
          </a:p>
        </p:txBody>
      </p:sp>
      <p:sp>
        <p:nvSpPr>
          <p:cNvPr id="30" name="Conector"/>
          <p:cNvSpPr/>
          <p:nvPr/>
        </p:nvSpPr>
        <p:spPr>
          <a:xfrm>
            <a:off x="4320540" y="4892040"/>
            <a:ext cx="914" cy="411480"/>
          </a:xfrm>
          <a:prstGeom prst="line">
            <a:avLst/>
          </a:prstGeom>
          <a:noFill/>
          <a:ln w="25400">
            <a:solidFill>
              <a:schemeClr val="tx2"/>
            </a:solidFill>
            <a:prstDash val="solid"/>
            <a:tailEnd type="triangle"/>
          </a:ln>
        </p:spPr>
      </p:sp>
      <p:sp>
        <p:nvSpPr>
          <p:cNvPr id="31" name="PostgreSQL 16"/>
          <p:cNvSpPr/>
          <p:nvPr/>
        </p:nvSpPr>
        <p:spPr>
          <a:xfrm>
            <a:off x="548640" y="5349240"/>
            <a:ext cx="1748790" cy="777240"/>
          </a:xfrm>
          <a:prstGeom prst="roundRect">
            <a:avLst>
              <a:gd name="adj" fmla="val 14118"/>
            </a:avLst>
          </a:prstGeom>
          <a:solidFill>
            <a:schemeClr val="bg1"/>
          </a:solidFill>
          <a:ln w="12700">
            <a:solidFill>
              <a:schemeClr val="bg1"/>
            </a:solidFill>
            <a:prstDash val="solid"/>
          </a:ln>
        </p:spPr>
      </p:sp>
      <p:pic>
        <p:nvPicPr>
          <p:cNvPr id="32" name="Image 4" descr="PostgreSQL 16">    </p:cNvPr>
          <p:cNvPicPr>
            <a:picLocks noChangeAspect="1"/>
          </p:cNvPicPr>
          <p:nvPr/>
        </p:nvPicPr>
        <p:blipFill>
          <a:blip r:embed="rId5"/>
          <a:stretch>
            <a:fillRect/>
          </a:stretch>
        </p:blipFill>
        <p:spPr>
          <a:xfrm>
            <a:off x="685800" y="5568696"/>
            <a:ext cx="329184" cy="329184"/>
          </a:xfrm>
          <a:prstGeom prst="rect">
            <a:avLst/>
          </a:prstGeom>
        </p:spPr>
      </p:pic>
      <p:sp>
        <p:nvSpPr>
          <p:cNvPr id="33" name="Text 26"/>
          <p:cNvSpPr txBox="1"/>
          <p:nvPr/>
        </p:nvSpPr>
        <p:spPr>
          <a:xfrm>
            <a:off x="109728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PostgreSQL 16</a:t>
            </a:r>
            <a:endParaRPr lang="en-US" sz="1300" dirty="0"/>
          </a:p>
          <a:p>
            <a:pPr indent="0" marL="0">
              <a:buNone/>
            </a:pPr>
            <a:r>
              <a:rPr lang="en-US" sz="1300" dirty="0">
                <a:solidFill>
                  <a:schemeClr val="accent3"/>
                </a:solidFill>
              </a:rPr>
              <a:t>RLS forzado</a:t>
            </a:r>
            <a:endParaRPr lang="en-US" sz="1300" dirty="0"/>
          </a:p>
        </p:txBody>
      </p:sp>
      <p:sp>
        <p:nvSpPr>
          <p:cNvPr id="34" name="Redis 7"/>
          <p:cNvSpPr/>
          <p:nvPr/>
        </p:nvSpPr>
        <p:spPr>
          <a:xfrm>
            <a:off x="2480310" y="5349240"/>
            <a:ext cx="1748790" cy="777240"/>
          </a:xfrm>
          <a:prstGeom prst="roundRect">
            <a:avLst>
              <a:gd name="adj" fmla="val 14118"/>
            </a:avLst>
          </a:prstGeom>
          <a:solidFill>
            <a:schemeClr val="bg1"/>
          </a:solidFill>
          <a:ln w="12700">
            <a:solidFill>
              <a:schemeClr val="bg1"/>
            </a:solidFill>
            <a:prstDash val="solid"/>
          </a:ln>
        </p:spPr>
      </p:sp>
      <p:pic>
        <p:nvPicPr>
          <p:cNvPr id="35" name="Image 5" descr="Redis 7">    </p:cNvPr>
          <p:cNvPicPr>
            <a:picLocks noChangeAspect="1"/>
          </p:cNvPicPr>
          <p:nvPr/>
        </p:nvPicPr>
        <p:blipFill>
          <a:blip r:embed="rId6"/>
          <a:stretch>
            <a:fillRect/>
          </a:stretch>
        </p:blipFill>
        <p:spPr>
          <a:xfrm>
            <a:off x="2617470" y="5568696"/>
            <a:ext cx="329184" cy="329184"/>
          </a:xfrm>
          <a:prstGeom prst="rect">
            <a:avLst/>
          </a:prstGeom>
        </p:spPr>
      </p:pic>
      <p:sp>
        <p:nvSpPr>
          <p:cNvPr id="36" name="Text 28"/>
          <p:cNvSpPr txBox="1"/>
          <p:nvPr/>
        </p:nvSpPr>
        <p:spPr>
          <a:xfrm>
            <a:off x="302895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Redis 7</a:t>
            </a:r>
            <a:endParaRPr lang="en-US" sz="1300" dirty="0"/>
          </a:p>
          <a:p>
            <a:pPr indent="0" marL="0">
              <a:buNone/>
            </a:pPr>
            <a:r>
              <a:rPr lang="en-US" sz="1300" dirty="0">
                <a:solidFill>
                  <a:schemeClr val="accent3"/>
                </a:solidFill>
              </a:rPr>
              <a:t>colas y caché</a:t>
            </a:r>
            <a:endParaRPr lang="en-US" sz="1300" dirty="0"/>
          </a:p>
        </p:txBody>
      </p:sp>
      <p:sp>
        <p:nvSpPr>
          <p:cNvPr id="37" name="Webpay Plus"/>
          <p:cNvSpPr/>
          <p:nvPr/>
        </p:nvSpPr>
        <p:spPr>
          <a:xfrm>
            <a:off x="4411980" y="5349240"/>
            <a:ext cx="1748790" cy="777240"/>
          </a:xfrm>
          <a:prstGeom prst="roundRect">
            <a:avLst>
              <a:gd name="adj" fmla="val 14118"/>
            </a:avLst>
          </a:prstGeom>
          <a:solidFill>
            <a:schemeClr val="bg1"/>
          </a:solidFill>
          <a:ln w="12700">
            <a:solidFill>
              <a:schemeClr val="bg1"/>
            </a:solidFill>
            <a:prstDash val="solid"/>
          </a:ln>
        </p:spPr>
      </p:sp>
      <p:pic>
        <p:nvPicPr>
          <p:cNvPr id="38" name="Image 6" descr="Webpay Plus">    </p:cNvPr>
          <p:cNvPicPr>
            <a:picLocks noChangeAspect="1"/>
          </p:cNvPicPr>
          <p:nvPr/>
        </p:nvPicPr>
        <p:blipFill>
          <a:blip r:embed="rId7"/>
          <a:stretch>
            <a:fillRect/>
          </a:stretch>
        </p:blipFill>
        <p:spPr>
          <a:xfrm>
            <a:off x="4549140" y="5568696"/>
            <a:ext cx="329184" cy="329184"/>
          </a:xfrm>
          <a:prstGeom prst="rect">
            <a:avLst/>
          </a:prstGeom>
        </p:spPr>
      </p:pic>
      <p:sp>
        <p:nvSpPr>
          <p:cNvPr id="39" name="Text 30"/>
          <p:cNvSpPr txBox="1"/>
          <p:nvPr/>
        </p:nvSpPr>
        <p:spPr>
          <a:xfrm>
            <a:off x="496062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Webpay Plus</a:t>
            </a:r>
            <a:endParaRPr lang="en-US" sz="1300" dirty="0"/>
          </a:p>
          <a:p>
            <a:pPr indent="0" marL="0">
              <a:buNone/>
            </a:pPr>
            <a:r>
              <a:rPr lang="en-US" sz="1300" dirty="0">
                <a:solidFill>
                  <a:schemeClr val="accent3"/>
                </a:solidFill>
              </a:rPr>
              <a:t>Transbank</a:t>
            </a:r>
            <a:endParaRPr lang="en-US" sz="1300" dirty="0"/>
          </a:p>
        </p:txBody>
      </p:sp>
      <p:sp>
        <p:nvSpPr>
          <p:cNvPr id="40" name="Clave maestra"/>
          <p:cNvSpPr/>
          <p:nvPr/>
        </p:nvSpPr>
        <p:spPr>
          <a:xfrm>
            <a:off x="6343650" y="5349240"/>
            <a:ext cx="1748790" cy="777240"/>
          </a:xfrm>
          <a:prstGeom prst="roundRect">
            <a:avLst>
              <a:gd name="adj" fmla="val 14118"/>
            </a:avLst>
          </a:prstGeom>
          <a:solidFill>
            <a:schemeClr val="bg1"/>
          </a:solidFill>
          <a:ln w="12700">
            <a:solidFill>
              <a:schemeClr val="bg1"/>
            </a:solidFill>
            <a:prstDash val="solid"/>
          </a:ln>
        </p:spPr>
      </p:sp>
      <p:pic>
        <p:nvPicPr>
          <p:cNvPr id="41" name="Image 7" descr="Clave maestra">    </p:cNvPr>
          <p:cNvPicPr>
            <a:picLocks noChangeAspect="1"/>
          </p:cNvPicPr>
          <p:nvPr/>
        </p:nvPicPr>
        <p:blipFill>
          <a:blip r:embed="rId8"/>
          <a:stretch>
            <a:fillRect/>
          </a:stretch>
        </p:blipFill>
        <p:spPr>
          <a:xfrm>
            <a:off x="6480810" y="5568696"/>
            <a:ext cx="329184" cy="329184"/>
          </a:xfrm>
          <a:prstGeom prst="rect">
            <a:avLst/>
          </a:prstGeom>
        </p:spPr>
      </p:pic>
      <p:sp>
        <p:nvSpPr>
          <p:cNvPr id="42" name="Text 32"/>
          <p:cNvSpPr txBox="1"/>
          <p:nvPr/>
        </p:nvSpPr>
        <p:spPr>
          <a:xfrm>
            <a:off x="689229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Clave maestra</a:t>
            </a:r>
            <a:endParaRPr lang="en-US" sz="1300" dirty="0"/>
          </a:p>
          <a:p>
            <a:pPr indent="0" marL="0">
              <a:buNone/>
            </a:pPr>
            <a:r>
              <a:rPr lang="en-US" sz="1300" dirty="0">
                <a:solidFill>
                  <a:schemeClr val="accent3"/>
                </a:solidFill>
              </a:rPr>
              <a:t>custodia externa</a:t>
            </a:r>
            <a:endParaRPr lang="en-US" sz="1300" dirty="0"/>
          </a:p>
        </p:txBody>
      </p:sp>
      <p:sp>
        <p:nvSpPr>
          <p:cNvPr id="43" name="Seguridad y normativa"/>
          <p:cNvSpPr/>
          <p:nvPr/>
        </p:nvSpPr>
        <p:spPr>
          <a:xfrm>
            <a:off x="8366760" y="1554480"/>
            <a:ext cx="3276295" cy="4572000"/>
          </a:xfrm>
          <a:prstGeom prst="roundRect">
            <a:avLst>
              <a:gd name="adj" fmla="val 3349"/>
            </a:avLst>
          </a:prstGeom>
          <a:solidFill>
            <a:schemeClr val="bg1"/>
          </a:solidFill>
          <a:ln w="12700">
            <a:solidFill>
              <a:schemeClr val="bg1"/>
            </a:solidFill>
            <a:prstDash val="solid"/>
          </a:ln>
        </p:spPr>
      </p:sp>
      <p:sp>
        <p:nvSpPr>
          <p:cNvPr id="44" name="Círculo de ícono"/>
          <p:cNvSpPr/>
          <p:nvPr/>
        </p:nvSpPr>
        <p:spPr>
          <a:xfrm>
            <a:off x="8595360" y="1755648"/>
            <a:ext cx="548640" cy="548640"/>
          </a:xfrm>
          <a:prstGeom prst="ellipse">
            <a:avLst/>
          </a:prstGeom>
          <a:solidFill>
            <a:schemeClr val="tx2"/>
          </a:solidFill>
          <a:ln w="12700">
            <a:solidFill>
              <a:schemeClr val="tx2"/>
            </a:solidFill>
            <a:prstDash val="solid"/>
          </a:ln>
        </p:spPr>
      </p:sp>
      <p:pic>
        <p:nvPicPr>
          <p:cNvPr id="45" name="Image 8" descr="Ícono ShieldCheck">    </p:cNvPr>
          <p:cNvPicPr>
            <a:picLocks noChangeAspect="1"/>
          </p:cNvPicPr>
          <p:nvPr/>
        </p:nvPicPr>
        <p:blipFill>
          <a:blip r:embed="rId9"/>
          <a:stretch>
            <a:fillRect/>
          </a:stretch>
        </p:blipFill>
        <p:spPr>
          <a:xfrm>
            <a:off x="8727034" y="1887322"/>
            <a:ext cx="285293" cy="285293"/>
          </a:xfrm>
          <a:prstGeom prst="rect">
            <a:avLst/>
          </a:prstGeom>
        </p:spPr>
      </p:pic>
      <p:sp>
        <p:nvSpPr>
          <p:cNvPr id="46" name="Text 35"/>
          <p:cNvSpPr txBox="1"/>
          <p:nvPr/>
        </p:nvSpPr>
        <p:spPr>
          <a:xfrm>
            <a:off x="9281160" y="1755648"/>
            <a:ext cx="2224735" cy="548640"/>
          </a:xfrm>
          <a:prstGeom prst="rect">
            <a:avLst/>
          </a:prstGeom>
          <a:noFill/>
          <a:ln/>
        </p:spPr>
        <p:txBody>
          <a:bodyPr wrap="square" lIns="0" tIns="0" rIns="0" bIns="0" rtlCol="0" anchor="ctr"/>
          <a:lstStyle/>
          <a:p>
            <a:pPr indent="0" marL="0">
              <a:buNone/>
            </a:pPr>
            <a:r>
              <a:rPr lang="en-US" sz="1700" b="1" dirty="0">
                <a:solidFill>
                  <a:schemeClr val="tx1"/>
                </a:solidFill>
              </a:rPr>
              <a:t>Seguridad desde el diseño</a:t>
            </a:r>
            <a:endParaRPr lang="en-US" sz="1700" dirty="0"/>
          </a:p>
        </p:txBody>
      </p:sp>
      <p:sp>
        <p:nvSpPr>
          <p:cNvPr id="47" name="Text 36"/>
          <p:cNvSpPr txBox="1"/>
          <p:nvPr/>
        </p:nvSpPr>
        <p:spPr>
          <a:xfrm>
            <a:off x="8595360" y="2514600"/>
            <a:ext cx="2864815" cy="34747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Aislamiento por familia con RLS forzado. La app se conecta como matu_app, nunca como dueño</a:t>
            </a:r>
            <a:endParaRPr lang="en-US" sz="1400" dirty="0"/>
          </a:p>
          <a:p>
            <a:pPr marL="177800" indent="-177800">
              <a:spcAft>
                <a:spcPts val="800"/>
              </a:spcAft>
              <a:buSzPct val="100000"/>
              <a:buChar char="•"/>
            </a:pPr>
            <a:r>
              <a:rPr lang="en-US" sz="1400" dirty="0">
                <a:solidFill>
                  <a:schemeClr val="tx1"/>
                </a:solidFill>
              </a:rPr>
              <a:t>Ficha cifrada con AES-256-GCM y una clave por persona</a:t>
            </a:r>
            <a:endParaRPr lang="en-US" sz="1400" dirty="0"/>
          </a:p>
          <a:p>
            <a:pPr marL="177800" indent="-177800">
              <a:spcAft>
                <a:spcPts val="800"/>
              </a:spcAft>
              <a:buSzPct val="100000"/>
              <a:buChar char="•"/>
            </a:pPr>
            <a:r>
              <a:rPr lang="en-US" sz="1400" dirty="0">
                <a:solidFill>
                  <a:schemeClr val="tx1"/>
                </a:solidFill>
              </a:rPr>
              <a:t>Un recurso de otra familia responde 404, nunca 403</a:t>
            </a:r>
            <a:endParaRPr lang="en-US" sz="1400" dirty="0"/>
          </a:p>
          <a:p>
            <a:pPr marL="177800" indent="-177800">
              <a:spcAft>
                <a:spcPts val="800"/>
              </a:spcAft>
              <a:buSzPct val="100000"/>
              <a:buChar char="•"/>
            </a:pPr>
            <a:r>
              <a:rPr lang="en-US" sz="1400" dirty="0">
                <a:solidFill>
                  <a:schemeClr val="tx1"/>
                </a:solidFill>
              </a:rPr>
              <a:t>Ley 19.628 y Ley 21.719, vigente desde el 1 de diciembre de 2026</a:t>
            </a:r>
            <a:endParaRPr lang="en-US" sz="1400" dirty="0"/>
          </a:p>
          <a:p>
            <a:pPr marL="177800" indent="-177800">
              <a:spcAft>
                <a:spcPts val="800"/>
              </a:spcAft>
              <a:buSzPct val="100000"/>
              <a:buChar char="•"/>
            </a:pPr>
            <a:r>
              <a:rPr lang="en-US" sz="1400" dirty="0">
                <a:solidFill>
                  <a:schemeClr val="tx1"/>
                </a:solidFill>
              </a:rPr>
              <a:t>Una prueba verifica que la capa 3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DATOS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sp>
      <p:sp>
        <p:nvSpPr>
          <p:cNvPr id="6" name="Text 4"/>
          <p:cNvSpPr txBox="1"/>
          <p:nvPr/>
        </p:nvSpPr>
        <p:spPr>
          <a:xfrm>
            <a:off x="4572000" y="17556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sp>
      <p:sp>
        <p:nvSpPr>
          <p:cNvPr id="8" name="Text 6"/>
          <p:cNvSpPr txBox="1"/>
          <p:nvPr/>
        </p:nvSpPr>
        <p:spPr>
          <a:xfrm>
            <a:off x="4572000" y="33558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sp>
      <p:sp>
        <p:nvSpPr>
          <p:cNvPr id="10" name="Text 8"/>
          <p:cNvSpPr txBox="1"/>
          <p:nvPr/>
        </p:nvSpPr>
        <p:spPr>
          <a:xfrm>
            <a:off x="4572000" y="459028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sp>
      <p:sp>
        <p:nvSpPr>
          <p:cNvPr id="18" name="Conector"/>
          <p:cNvSpPr/>
          <p:nvPr/>
        </p:nvSpPr>
        <p:spPr>
          <a:xfrm>
            <a:off x="1577340" y="3200400"/>
            <a:ext cx="914" cy="365760"/>
          </a:xfrm>
          <a:prstGeom prst="line">
            <a:avLst/>
          </a:prstGeom>
          <a:noFill/>
          <a:ln w="15875">
            <a:solidFill>
              <a:schemeClr val="accent3"/>
            </a:solidFill>
            <a:prstDash val="solid"/>
          </a:ln>
        </p:spPr>
      </p:sp>
      <p:sp>
        <p:nvSpPr>
          <p:cNvPr id="19" name="Conector"/>
          <p:cNvSpPr/>
          <p:nvPr/>
        </p:nvSpPr>
        <p:spPr>
          <a:xfrm>
            <a:off x="2377440" y="3794760"/>
            <a:ext cx="228600" cy="914"/>
          </a:xfrm>
          <a:prstGeom prst="line">
            <a:avLst/>
          </a:prstGeom>
          <a:noFill/>
          <a:ln w="25400">
            <a:solidFill>
              <a:schemeClr val="tx2"/>
            </a:solidFill>
            <a:prstDash val="solid"/>
          </a:ln>
        </p:spPr>
      </p:sp>
      <p:sp>
        <p:nvSpPr>
          <p:cNvPr id="20" name="Conector"/>
          <p:cNvSpPr/>
          <p:nvPr/>
        </p:nvSpPr>
        <p:spPr>
          <a:xfrm>
            <a:off x="3406140" y="4023360"/>
            <a:ext cx="914" cy="502920"/>
          </a:xfrm>
          <a:prstGeom prst="line">
            <a:avLst/>
          </a:prstGeom>
          <a:noFill/>
          <a:ln w="15875">
            <a:solidFill>
              <a:schemeClr val="accent3"/>
            </a:solidFill>
            <a:prstDash val="solid"/>
          </a:ln>
        </p:spPr>
      </p:sp>
      <p:sp>
        <p:nvSpPr>
          <p:cNvPr id="21" name="Conector"/>
          <p:cNvSpPr/>
          <p:nvPr/>
        </p:nvSpPr>
        <p:spPr>
          <a:xfrm>
            <a:off x="3406140" y="3063240"/>
            <a:ext cx="914" cy="502920"/>
          </a:xfrm>
          <a:prstGeom prst="line">
            <a:avLst/>
          </a:prstGeom>
          <a:noFill/>
          <a:ln w="15875">
            <a:solidFill>
              <a:schemeClr val="accent3"/>
            </a:solidFill>
            <a:prstDash val="solid"/>
          </a:ln>
        </p:spPr>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sp>
      <p:sp>
        <p:nvSpPr>
          <p:cNvPr id="31" name="Conector"/>
          <p:cNvSpPr/>
          <p:nvPr/>
        </p:nvSpPr>
        <p:spPr>
          <a:xfrm>
            <a:off x="4206240" y="3794760"/>
            <a:ext cx="365760" cy="45720"/>
          </a:xfrm>
          <a:prstGeom prst="line">
            <a:avLst/>
          </a:prstGeom>
          <a:noFill/>
          <a:ln w="19050">
            <a:solidFill>
              <a:schemeClr val="tx2"/>
            </a:solidFill>
            <a:prstDash val="solid"/>
          </a:ln>
        </p:spPr>
      </p:sp>
      <p:sp>
        <p:nvSpPr>
          <p:cNvPr id="32" name="Conector"/>
          <p:cNvSpPr/>
          <p:nvPr/>
        </p:nvSpPr>
        <p:spPr>
          <a:xfrm>
            <a:off x="4206240" y="3794760"/>
            <a:ext cx="365760" cy="1325880"/>
          </a:xfrm>
          <a:prstGeom prst="line">
            <a:avLst/>
          </a:prstGeom>
          <a:noFill/>
          <a:ln w="19050">
            <a:solidFill>
              <a:schemeClr val="tx2"/>
            </a:solidFill>
            <a:prstDash val="solid"/>
          </a:ln>
        </p:spPr>
      </p:sp>
      <p:sp>
        <p:nvSpPr>
          <p:cNvPr id="33" name="Conector"/>
          <p:cNvSpPr/>
          <p:nvPr/>
        </p:nvSpPr>
        <p:spPr>
          <a:xfrm>
            <a:off x="6035040" y="2286000"/>
            <a:ext cx="320040" cy="914"/>
          </a:xfrm>
          <a:prstGeom prst="line">
            <a:avLst/>
          </a:prstGeom>
          <a:noFill/>
          <a:ln w="15875">
            <a:solidFill>
              <a:schemeClr val="accent3"/>
            </a:solidFill>
            <a:prstDash val="solid"/>
          </a:ln>
        </p:spPr>
      </p:sp>
      <p:sp>
        <p:nvSpPr>
          <p:cNvPr id="34" name="Conector"/>
          <p:cNvSpPr/>
          <p:nvPr/>
        </p:nvSpPr>
        <p:spPr>
          <a:xfrm>
            <a:off x="6035040" y="2286000"/>
            <a:ext cx="320040" cy="548640"/>
          </a:xfrm>
          <a:prstGeom prst="line">
            <a:avLst/>
          </a:prstGeom>
          <a:noFill/>
          <a:ln w="15875">
            <a:solidFill>
              <a:schemeClr val="accent3"/>
            </a:solidFill>
            <a:prstDash val="solid"/>
          </a:ln>
        </p:spPr>
      </p:sp>
      <p:sp>
        <p:nvSpPr>
          <p:cNvPr id="35" name="Conector"/>
          <p:cNvSpPr/>
          <p:nvPr/>
        </p:nvSpPr>
        <p:spPr>
          <a:xfrm>
            <a:off x="6035040" y="3840480"/>
            <a:ext cx="320040" cy="914"/>
          </a:xfrm>
          <a:prstGeom prst="line">
            <a:avLst/>
          </a:prstGeom>
          <a:noFill/>
          <a:ln w="15875">
            <a:solidFill>
              <a:schemeClr val="accent3"/>
            </a:solidFill>
            <a:prstDash val="solid"/>
          </a:ln>
        </p:spPr>
      </p:sp>
      <p:sp>
        <p:nvSpPr>
          <p:cNvPr id="36" name="Conector"/>
          <p:cNvSpPr/>
          <p:nvPr/>
        </p:nvSpPr>
        <p:spPr>
          <a:xfrm>
            <a:off x="6035040" y="5120640"/>
            <a:ext cx="320040" cy="914"/>
          </a:xfrm>
          <a:prstGeom prst="line">
            <a:avLst/>
          </a:prstGeom>
          <a:noFill/>
          <a:ln w="15875">
            <a:solidFill>
              <a:schemeClr val="accent3"/>
            </a:solidFill>
            <a:prstDash val="solid"/>
          </a:ln>
        </p:spPr>
      </p:sp>
      <p:sp>
        <p:nvSpPr>
          <p:cNvPr id="37" name="Conector"/>
          <p:cNvSpPr/>
          <p:nvPr/>
        </p:nvSpPr>
        <p:spPr>
          <a:xfrm>
            <a:off x="6035040" y="5120640"/>
            <a:ext cx="320040" cy="548640"/>
          </a:xfrm>
          <a:prstGeom prst="line">
            <a:avLst/>
          </a:prstGeom>
          <a:noFill/>
          <a:ln w="15875">
            <a:solidFill>
              <a:schemeClr val="accent3"/>
            </a:solidFill>
            <a:prstDash val="solid"/>
          </a:ln>
        </p:spPr>
      </p:sp>
      <p:sp>
        <p:nvSpPr>
          <p:cNvPr id="38" name="Text 36"/>
          <p:cNvSpPr txBox="1"/>
          <p:nvPr/>
        </p:nvSpPr>
        <p:spPr>
          <a:xfrm>
            <a:off x="777240" y="5257800"/>
            <a:ext cx="3474720" cy="731520"/>
          </a:xfrm>
          <a:prstGeom prst="rect">
            <a:avLst/>
          </a:prstGeom>
          <a:noFill/>
          <a:ln/>
        </p:spPr>
        <p:txBody>
          <a:bodyPr wrap="square" lIns="0" tIns="0" rIns="0" bIns="0" rtlCol="0" anchor="t"/>
          <a:lstStyle/>
          <a:p>
            <a:pPr indent="0" marL="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sp>
      <p:sp>
        <p:nvSpPr>
          <p:cNvPr id="40" name="Text 38"/>
          <p:cNvSpPr txBox="1"/>
          <p:nvPr/>
        </p:nvSpPr>
        <p:spPr>
          <a:xfrm>
            <a:off x="8595360" y="1627632"/>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10058400" y="1627632"/>
            <a:ext cx="1447495" cy="640080"/>
          </a:xfrm>
          <a:prstGeom prst="rect">
            <a:avLst/>
          </a:prstGeom>
          <a:noFill/>
          <a:ln/>
        </p:spPr>
        <p:txBody>
          <a:bodyPr wrap="square" lIns="0" tIns="0" rIns="0" bIns="0" rtlCol="0" anchor="ctr"/>
          <a:lstStyle/>
          <a:p>
            <a:pPr indent="0" marL="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sp>
      <p:sp>
        <p:nvSpPr>
          <p:cNvPr id="43" name="Text 41"/>
          <p:cNvSpPr txBox="1"/>
          <p:nvPr/>
        </p:nvSpPr>
        <p:spPr>
          <a:xfrm>
            <a:off x="8595360" y="2523744"/>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10058400" y="2523744"/>
            <a:ext cx="1447495" cy="640080"/>
          </a:xfrm>
          <a:prstGeom prst="rect">
            <a:avLst/>
          </a:prstGeom>
          <a:noFill/>
          <a:ln/>
        </p:spPr>
        <p:txBody>
          <a:bodyPr wrap="square" lIns="0" tIns="0" rIns="0" bIns="0" rtlCol="0" anchor="ctr"/>
          <a:lstStyle/>
          <a:p>
            <a:pPr indent="0" marL="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sp>
      <p:sp>
        <p:nvSpPr>
          <p:cNvPr id="46" name="Text 44"/>
          <p:cNvSpPr txBox="1"/>
          <p:nvPr/>
        </p:nvSpPr>
        <p:spPr>
          <a:xfrm>
            <a:off x="8595360" y="3419856"/>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10058400" y="3419856"/>
            <a:ext cx="1447495" cy="640080"/>
          </a:xfrm>
          <a:prstGeom prst="rect">
            <a:avLst/>
          </a:prstGeom>
          <a:noFill/>
          <a:ln/>
        </p:spPr>
        <p:txBody>
          <a:bodyPr wrap="square" lIns="0" tIns="0" rIns="0" bIns="0" rtlCol="0" anchor="ctr"/>
          <a:lstStyle/>
          <a:p>
            <a:pPr indent="0" marL="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sp>
      <p:sp>
        <p:nvSpPr>
          <p:cNvPr id="49" name="Text 47"/>
          <p:cNvSpPr txBox="1"/>
          <p:nvPr/>
        </p:nvSpPr>
        <p:spPr>
          <a:xfrm>
            <a:off x="8595360" y="4315968"/>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058400" y="4315968"/>
            <a:ext cx="1447495" cy="640080"/>
          </a:xfrm>
          <a:prstGeom prst="rect">
            <a:avLst/>
          </a:prstGeom>
          <a:noFill/>
          <a:ln/>
        </p:spPr>
        <p:txBody>
          <a:bodyPr wrap="square" lIns="0" tIns="0" rIns="0" bIns="0" rtlCol="0" anchor="ctr"/>
          <a:lstStyle/>
          <a:p>
            <a:pPr indent="0" marL="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sp>
      <p:sp>
        <p:nvSpPr>
          <p:cNvPr id="52" name="Text 50"/>
          <p:cNvSpPr txBox="1"/>
          <p:nvPr/>
        </p:nvSpPr>
        <p:spPr>
          <a:xfrm>
            <a:off x="8595360" y="5212080"/>
            <a:ext cx="2864815" cy="868680"/>
          </a:xfrm>
          <a:prstGeom prst="rect">
            <a:avLst/>
          </a:prstGeom>
          <a:noFill/>
          <a:ln/>
        </p:spPr>
        <p:txBody>
          <a:bodyPr wrap="square" lIns="0" tIns="0" rIns="0" bIns="0" rtlCol="0" anchor="ctr"/>
          <a:lstStyle/>
          <a:p>
            <a:pPr indent="0" marL="0">
              <a:buNone/>
            </a:pPr>
            <a:r>
              <a:rPr lang="en-US" sz="1400" dirty="0">
                <a:solidFill>
                  <a:schemeClr val="tx1"/>
                </a:solidFill>
              </a:rPr>
              <a:t>Dinero en pesos enteros. Sin datos clínicos: solo el nivel de apoyo.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NEGOCIO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sp>
      <p:sp>
        <p:nvSpPr>
          <p:cNvPr id="5" name="Text 3"/>
          <p:cNvSpPr txBox="1"/>
          <p:nvPr/>
        </p:nvSpPr>
        <p:spPr>
          <a:xfrm>
            <a:off x="822960" y="1828800"/>
            <a:ext cx="2971800"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sp>
      <p:sp>
        <p:nvSpPr>
          <p:cNvPr id="13" name="Text 11"/>
          <p:cNvSpPr txBox="1"/>
          <p:nvPr/>
        </p:nvSpPr>
        <p:spPr>
          <a:xfrm>
            <a:off x="4434840" y="1828800"/>
            <a:ext cx="2971800"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sp>
      <p:pic>
        <p:nvPicPr>
          <p:cNvPr id="22" name="Image 0" descr="Ícono Wallet">    </p:cNvPr>
          <p:cNvPicPr>
            <a:picLocks noChangeAspect="1"/>
          </p:cNvPicPr>
          <p:nvPr/>
        </p:nvPicPr>
        <p:blipFill>
          <a:blip r:embed="rId1"/>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indent="0" marL="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sp>
      <p:pic>
        <p:nvPicPr>
          <p:cNvPr id="26" name="Image 1" descr="Ícono ThumbsUp">    </p:cNvPr>
          <p:cNvPicPr>
            <a:picLocks noChangeAspect="1"/>
          </p:cNvPicPr>
          <p:nvPr/>
        </p:nvPicPr>
        <p:blipFill>
          <a:blip r:embed="rId2"/>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indent="0" marL="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sp>
      <p:pic>
        <p:nvPicPr>
          <p:cNvPr id="30" name="Image 2" descr="Ícono ShoppingBasket">    </p:cNvPr>
          <p:cNvPicPr>
            <a:picLocks noChangeAspect="1"/>
          </p:cNvPicPr>
          <p:nvPr/>
        </p:nvPicPr>
        <p:blipFill>
          <a:blip r:embed="rId3"/>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indent="0" marL="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sp>
      <p:sp>
        <p:nvSpPr>
          <p:cNvPr id="33" name="Text 28"/>
          <p:cNvSpPr txBox="1"/>
          <p:nvPr/>
        </p:nvSpPr>
        <p:spPr>
          <a:xfrm>
            <a:off x="822960" y="5550408"/>
            <a:ext cx="10545775" cy="585216"/>
          </a:xfrm>
          <a:prstGeom prst="rect">
            <a:avLst/>
          </a:prstGeom>
          <a:noFill/>
          <a:ln/>
        </p:spPr>
        <p:txBody>
          <a:bodyPr wrap="square" lIns="0" tIns="0" rIns="0" bIns="0" rtlCol="0" anchor="ctr"/>
          <a:lstStyle/>
          <a:p>
            <a:pPr indent="0" marL="0">
              <a:buNone/>
            </a:pPr>
            <a:r>
              <a:rPr lang="en-US" sz="1400" dirty="0">
                <a:solidFill>
                  <a:schemeClr val="tx1"/>
                </a:solidFill>
              </a:rPr>
              <a:t>Es un ejercicio de viabilidad sobre 200 familias, no un compromiso del semestre: el cobro de la suscripción (RF-41) queda fuera del MVP. Exportar y compartir la lista es gratis.</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400" b="1" spc="200" kern="0" dirty="0">
                <a:solidFill>
                  <a:schemeClr val="bg1"/>
                </a:solidFill>
              </a:rPr>
              <a:t>DEMOSTRACIÓN</a:t>
            </a:r>
            <a:endParaRPr lang="en-US" sz="1400" dirty="0"/>
          </a:p>
        </p:txBody>
      </p:sp>
      <p:sp>
        <p:nvSpPr>
          <p:cNvPr id="3" name="Text 1"/>
          <p:cNvSpPr txBox="1"/>
          <p:nvPr/>
        </p:nvSpPr>
        <p:spPr>
          <a:xfrm>
            <a:off x="548640" y="822960"/>
            <a:ext cx="8229600" cy="822960"/>
          </a:xfrm>
          <a:prstGeom prst="rect">
            <a:avLst/>
          </a:prstGeom>
          <a:noFill/>
          <a:ln/>
        </p:spPr>
        <p:txBody>
          <a:bodyPr wrap="square" lIns="0" tIns="0" rIns="0" bIns="0" rtlCol="0" anchor="ctr"/>
          <a:lstStyle/>
          <a:p>
            <a:pPr indent="0" marL="0">
              <a:buNone/>
            </a:pPr>
            <a:r>
              <a:rPr lang="en-US" sz="4400" b="1" dirty="0">
                <a:solidFill>
                  <a:schemeClr val="bg1"/>
                </a:solidFill>
                <a:latin typeface="+mj-lt" pitchFamily="34" charset="0"/>
                <a:ea typeface="+mj-lt" pitchFamily="34" charset="-122"/>
                <a:cs typeface="+mj-lt" pitchFamily="34" charset="-120"/>
              </a:rPr>
              <a:t>MATU, en vivo</a:t>
            </a:r>
            <a:endParaRPr lang="en-US" sz="4400" dirty="0"/>
          </a:p>
        </p:txBody>
      </p:sp>
      <p:sp>
        <p:nvSpPr>
          <p:cNvPr id="4" name="Text 2"/>
          <p:cNvSpPr txBox="1"/>
          <p:nvPr/>
        </p:nvSpPr>
        <p:spPr>
          <a:xfrm>
            <a:off x="548640" y="1691640"/>
            <a:ext cx="7315200" cy="411480"/>
          </a:xfrm>
          <a:prstGeom prst="rect">
            <a:avLst/>
          </a:prstGeom>
          <a:noFill/>
          <a:ln/>
        </p:spPr>
        <p:txBody>
          <a:bodyPr wrap="square" lIns="0" tIns="0" rIns="0" bIns="0" rtlCol="0" anchor="t"/>
          <a:lstStyle/>
          <a:p>
            <a:pPr indent="0" marL="0">
              <a:buNone/>
            </a:pPr>
            <a:r>
              <a:rPr lang="en-US" sz="2000" dirty="0">
                <a:solidFill>
                  <a:schemeClr val="bg1"/>
                </a:solidFill>
              </a:rPr>
              <a:t>Presenta Martín Henríquez</a:t>
            </a:r>
            <a:endParaRPr lang="en-US" sz="2000" dirty="0"/>
          </a:p>
        </p:txBody>
      </p:sp>
      <p:sp>
        <p:nvSpPr>
          <p:cNvPr id="5" name="Etiqueta"/>
          <p:cNvSpPr txBox="1"/>
          <p:nvPr/>
        </p:nvSpPr>
        <p:spPr>
          <a:xfrm>
            <a:off x="7711135" y="868680"/>
            <a:ext cx="3931920" cy="457200"/>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Piloto académico con datos de prueba</a:t>
            </a:r>
            <a:endParaRPr lang="en-US" sz="1500" dirty="0"/>
          </a:p>
        </p:txBody>
      </p:sp>
      <p:sp>
        <p:nvSpPr>
          <p:cNvPr id="6" name="Ficha de relevo"/>
          <p:cNvSpPr/>
          <p:nvPr/>
        </p:nvSpPr>
        <p:spPr>
          <a:xfrm>
            <a:off x="548640" y="2514600"/>
            <a:ext cx="2602154" cy="3291840"/>
          </a:xfrm>
          <a:prstGeom prst="roundRect">
            <a:avLst>
              <a:gd name="adj" fmla="val 4217"/>
            </a:avLst>
          </a:prstGeom>
          <a:solidFill>
            <a:schemeClr val="bg1"/>
          </a:solidFill>
          <a:ln w="12700">
            <a:solidFill>
              <a:schemeClr val="bg1"/>
            </a:solidFill>
            <a:prstDash val="solid"/>
          </a:ln>
        </p:spPr>
      </p:sp>
      <p:sp>
        <p:nvSpPr>
          <p:cNvPr id="7" name="Número"/>
          <p:cNvSpPr txBox="1"/>
          <p:nvPr/>
        </p:nvSpPr>
        <p:spPr>
          <a:xfrm>
            <a:off x="777240"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1</a:t>
            </a:r>
            <a:endParaRPr lang="en-US" sz="1900" dirty="0"/>
          </a:p>
        </p:txBody>
      </p:sp>
      <p:pic>
        <p:nvPicPr>
          <p:cNvPr id="8" name="Image 0" descr="Ficha de relevo">    </p:cNvPr>
          <p:cNvPicPr>
            <a:picLocks noChangeAspect="1"/>
          </p:cNvPicPr>
          <p:nvPr/>
        </p:nvPicPr>
        <p:blipFill>
          <a:blip r:embed="rId1"/>
          <a:stretch>
            <a:fillRect/>
          </a:stretch>
        </p:blipFill>
        <p:spPr>
          <a:xfrm>
            <a:off x="2464994" y="2788920"/>
            <a:ext cx="411480" cy="411480"/>
          </a:xfrm>
          <a:prstGeom prst="rect">
            <a:avLst/>
          </a:prstGeom>
        </p:spPr>
      </p:pic>
      <p:sp>
        <p:nvSpPr>
          <p:cNvPr id="9" name="Text 6"/>
          <p:cNvSpPr txBox="1"/>
          <p:nvPr/>
        </p:nvSpPr>
        <p:spPr>
          <a:xfrm>
            <a:off x="777240"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Ficha de relevo</a:t>
            </a:r>
            <a:endParaRPr lang="en-US" sz="1900" dirty="0"/>
          </a:p>
        </p:txBody>
      </p:sp>
      <p:sp>
        <p:nvSpPr>
          <p:cNvPr id="10" name="Text 7"/>
          <p:cNvSpPr txBox="1"/>
          <p:nvPr/>
        </p:nvSpPr>
        <p:spPr>
          <a:xfrm>
            <a:off x="777240"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Cuenta, permiso, los tres campos, compartir con PIN, el relevo la abre, "Quién la vio" y cortar el enlace</a:t>
            </a:r>
            <a:endParaRPr lang="en-US" sz="1500" dirty="0"/>
          </a:p>
        </p:txBody>
      </p:sp>
      <p:sp>
        <p:nvSpPr>
          <p:cNvPr id="11" name="Consumo y predicción"/>
          <p:cNvSpPr/>
          <p:nvPr/>
        </p:nvSpPr>
        <p:spPr>
          <a:xfrm>
            <a:off x="3379394" y="2514600"/>
            <a:ext cx="2602154" cy="3291840"/>
          </a:xfrm>
          <a:prstGeom prst="roundRect">
            <a:avLst>
              <a:gd name="adj" fmla="val 4217"/>
            </a:avLst>
          </a:prstGeom>
          <a:solidFill>
            <a:schemeClr val="bg1"/>
          </a:solidFill>
          <a:ln w="12700">
            <a:solidFill>
              <a:schemeClr val="bg1"/>
            </a:solidFill>
            <a:prstDash val="solid"/>
          </a:ln>
        </p:spPr>
      </p:sp>
      <p:sp>
        <p:nvSpPr>
          <p:cNvPr id="12" name="Número"/>
          <p:cNvSpPr txBox="1"/>
          <p:nvPr/>
        </p:nvSpPr>
        <p:spPr>
          <a:xfrm>
            <a:off x="3607994"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2</a:t>
            </a:r>
            <a:endParaRPr lang="en-US" sz="1900" dirty="0"/>
          </a:p>
        </p:txBody>
      </p:sp>
      <p:pic>
        <p:nvPicPr>
          <p:cNvPr id="13" name="Image 1" descr="Consumo y predicción">    </p:cNvPr>
          <p:cNvPicPr>
            <a:picLocks noChangeAspect="1"/>
          </p:cNvPicPr>
          <p:nvPr/>
        </p:nvPicPr>
        <p:blipFill>
          <a:blip r:embed="rId2"/>
          <a:stretch>
            <a:fillRect/>
          </a:stretch>
        </p:blipFill>
        <p:spPr>
          <a:xfrm>
            <a:off x="5295748" y="2788920"/>
            <a:ext cx="411480" cy="411480"/>
          </a:xfrm>
          <a:prstGeom prst="rect">
            <a:avLst/>
          </a:prstGeom>
        </p:spPr>
      </p:pic>
      <p:sp>
        <p:nvSpPr>
          <p:cNvPr id="14" name="Text 10"/>
          <p:cNvSpPr txBox="1"/>
          <p:nvPr/>
        </p:nvSpPr>
        <p:spPr>
          <a:xfrm>
            <a:off x="3607994"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Consumo y predicción</a:t>
            </a:r>
            <a:endParaRPr lang="en-US" sz="1900" dirty="0"/>
          </a:p>
        </p:txBody>
      </p:sp>
      <p:sp>
        <p:nvSpPr>
          <p:cNvPr id="15" name="Text 11"/>
          <p:cNvSpPr txBox="1"/>
          <p:nvPr/>
        </p:nvSpPr>
        <p:spPr>
          <a:xfrm>
            <a:off x="3607994"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Qué se está acabando, declarar el consumo, "Ya lo compré" y la lista para exportar o compartir</a:t>
            </a:r>
            <a:endParaRPr lang="en-US" sz="1500" dirty="0"/>
          </a:p>
        </p:txBody>
      </p:sp>
      <p:sp>
        <p:nvSpPr>
          <p:cNvPr id="16" name="Pedido y pago"/>
          <p:cNvSpPr/>
          <p:nvPr/>
        </p:nvSpPr>
        <p:spPr>
          <a:xfrm>
            <a:off x="6210148" y="2514600"/>
            <a:ext cx="2602154" cy="3291840"/>
          </a:xfrm>
          <a:prstGeom prst="roundRect">
            <a:avLst>
              <a:gd name="adj" fmla="val 4217"/>
            </a:avLst>
          </a:prstGeom>
          <a:solidFill>
            <a:schemeClr val="bg1"/>
          </a:solidFill>
          <a:ln w="12700">
            <a:solidFill>
              <a:schemeClr val="bg1"/>
            </a:solidFill>
            <a:prstDash val="solid"/>
          </a:ln>
        </p:spPr>
      </p:sp>
      <p:sp>
        <p:nvSpPr>
          <p:cNvPr id="17" name="Número"/>
          <p:cNvSpPr txBox="1"/>
          <p:nvPr/>
        </p:nvSpPr>
        <p:spPr>
          <a:xfrm>
            <a:off x="6438748"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3</a:t>
            </a:r>
            <a:endParaRPr lang="en-US" sz="1900" dirty="0"/>
          </a:p>
        </p:txBody>
      </p:sp>
      <p:pic>
        <p:nvPicPr>
          <p:cNvPr id="18" name="Image 2" descr="Pedido y pago">    </p:cNvPr>
          <p:cNvPicPr>
            <a:picLocks noChangeAspect="1"/>
          </p:cNvPicPr>
          <p:nvPr/>
        </p:nvPicPr>
        <p:blipFill>
          <a:blip r:embed="rId3"/>
          <a:stretch>
            <a:fillRect/>
          </a:stretch>
        </p:blipFill>
        <p:spPr>
          <a:xfrm>
            <a:off x="8126501" y="2788920"/>
            <a:ext cx="411480" cy="411480"/>
          </a:xfrm>
          <a:prstGeom prst="rect">
            <a:avLst/>
          </a:prstGeom>
        </p:spPr>
      </p:pic>
      <p:sp>
        <p:nvSpPr>
          <p:cNvPr id="19" name="Text 14"/>
          <p:cNvSpPr txBox="1"/>
          <p:nvPr/>
        </p:nvSpPr>
        <p:spPr>
          <a:xfrm>
            <a:off x="6438748"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Pedido y pago</a:t>
            </a:r>
            <a:endParaRPr lang="en-US" sz="1900" dirty="0"/>
          </a:p>
        </p:txBody>
      </p:sp>
      <p:sp>
        <p:nvSpPr>
          <p:cNvPr id="20" name="Text 15"/>
          <p:cNvSpPr txBox="1"/>
          <p:nvPr/>
        </p:nvSpPr>
        <p:spPr>
          <a:xfrm>
            <a:off x="6438748"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El total antes de pagar, la pasarela simulada y la vista de comercio con su código de retiro</a:t>
            </a:r>
            <a:endParaRPr lang="en-US" sz="1500" dirty="0"/>
          </a:p>
        </p:txBody>
      </p:sp>
      <p:sp>
        <p:nvSpPr>
          <p:cNvPr id="21" name="Casos borde"/>
          <p:cNvSpPr/>
          <p:nvPr/>
        </p:nvSpPr>
        <p:spPr>
          <a:xfrm>
            <a:off x="9040901" y="2514600"/>
            <a:ext cx="2602154" cy="3291840"/>
          </a:xfrm>
          <a:prstGeom prst="roundRect">
            <a:avLst>
              <a:gd name="adj" fmla="val 4217"/>
            </a:avLst>
          </a:prstGeom>
          <a:solidFill>
            <a:schemeClr val="bg1"/>
          </a:solidFill>
          <a:ln w="12700">
            <a:solidFill>
              <a:schemeClr val="bg1"/>
            </a:solidFill>
            <a:prstDash val="solid"/>
          </a:ln>
        </p:spPr>
      </p:sp>
      <p:sp>
        <p:nvSpPr>
          <p:cNvPr id="22" name="Número"/>
          <p:cNvSpPr txBox="1"/>
          <p:nvPr/>
        </p:nvSpPr>
        <p:spPr>
          <a:xfrm>
            <a:off x="9269501"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4</a:t>
            </a:r>
            <a:endParaRPr lang="en-US" sz="1900" dirty="0"/>
          </a:p>
        </p:txBody>
      </p:sp>
      <p:pic>
        <p:nvPicPr>
          <p:cNvPr id="23" name="Image 3" descr="Casos borde">    </p:cNvPr>
          <p:cNvPicPr>
            <a:picLocks noChangeAspect="1"/>
          </p:cNvPicPr>
          <p:nvPr/>
        </p:nvPicPr>
        <p:blipFill>
          <a:blip r:embed="rId4"/>
          <a:stretch>
            <a:fillRect/>
          </a:stretch>
        </p:blipFill>
        <p:spPr>
          <a:xfrm>
            <a:off x="10957255" y="2788920"/>
            <a:ext cx="411480" cy="411480"/>
          </a:xfrm>
          <a:prstGeom prst="rect">
            <a:avLst/>
          </a:prstGeom>
        </p:spPr>
      </p:pic>
      <p:sp>
        <p:nvSpPr>
          <p:cNvPr id="24" name="Text 18"/>
          <p:cNvSpPr txBox="1"/>
          <p:nvPr/>
        </p:nvSpPr>
        <p:spPr>
          <a:xfrm>
            <a:off x="9269501"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Casos borde</a:t>
            </a:r>
            <a:endParaRPr lang="en-US" sz="1900" dirty="0"/>
          </a:p>
        </p:txBody>
      </p:sp>
      <p:sp>
        <p:nvSpPr>
          <p:cNvPr id="25" name="Text 19"/>
          <p:cNvSpPr txBox="1"/>
          <p:nvPr/>
        </p:nvSpPr>
        <p:spPr>
          <a:xfrm>
            <a:off x="9269501"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Dos versiones de un campo, PIN incorrecto, enlace no disponible y texto al 200%</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MEJORAS FUTURAS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Pill">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sp>
      <p:pic>
        <p:nvPicPr>
          <p:cNvPr id="11" name="Image 1" descr="Ícono Smartphone">    </p:cNvPr>
          <p:cNvPicPr>
            <a:picLocks noChangeAspect="1"/>
          </p:cNvPicPr>
          <p:nvPr/>
        </p:nvPicPr>
        <p:blipFill>
          <a:blip r:embed="rId2"/>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sp>
      <p:pic>
        <p:nvPicPr>
          <p:cNvPr id="16" name="Image 2" descr="Ícono Users">    </p:cNvPr>
          <p:cNvPicPr>
            <a:picLocks noChangeAspect="1"/>
          </p:cNvPicPr>
          <p:nvPr/>
        </p:nvPicPr>
        <p:blipFill>
          <a:blip r:embed="rId3"/>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sp>
      <p:pic>
        <p:nvPicPr>
          <p:cNvPr id="21" name="Image 3" descr="Ícono Repeat">    </p:cNvPr>
          <p:cNvPicPr>
            <a:picLocks noChangeAspect="1"/>
          </p:cNvPicPr>
          <p:nvPr/>
        </p:nvPicPr>
        <p:blipFill>
          <a:blip r:embed="rId4"/>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sp>
      <p:pic>
        <p:nvPicPr>
          <p:cNvPr id="26" name="Image 4" descr="Ícono Bike">    </p:cNvPr>
          <p:cNvPicPr>
            <a:picLocks noChangeAspect="1"/>
          </p:cNvPicPr>
          <p:nvPr/>
        </p:nvPicPr>
        <p:blipFill>
          <a:blip r:embed="rId5"/>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sp>
      <p:pic>
        <p:nvPicPr>
          <p:cNvPr id="31" name="Image 5" descr="Ícono Handshake">    </p:cNvPr>
          <p:cNvPicPr>
            <a:picLocks noChangeAspect="1"/>
          </p:cNvPicPr>
          <p:nvPr/>
        </p:nvPicPr>
        <p:blipFill>
          <a:blip r:embed="rId6"/>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Un adaptador real del puerto CatalogoComercio, sin tocar los módulos que lo usan</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CONCLUSIÓN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sp>
      <p:pic>
        <p:nvPicPr>
          <p:cNvPr id="6" name="Image 0" descr="Ícono SearchCheck">    </p:cNvPr>
          <p:cNvPicPr>
            <a:picLocks noChangeAspect="1"/>
          </p:cNvPicPr>
          <p:nvPr/>
        </p:nvPicPr>
        <p:blipFill>
          <a:blip r:embed="rId1"/>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sp>
      <p:pic>
        <p:nvPicPr>
          <p:cNvPr id="11" name="Image 1" descr="Ícono Layers">    </p:cNvPr>
          <p:cNvPicPr>
            <a:picLocks noChangeAspect="1"/>
          </p:cNvPicPr>
          <p:nvPr/>
        </p:nvPicPr>
        <p:blipFill>
          <a:blip r:embed="rId2"/>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sp>
      <p:pic>
        <p:nvPicPr>
          <p:cNvPr id="16" name="Image 2" descr="Ícono ShieldCheck">    </p:cNvPr>
          <p:cNvPicPr>
            <a:picLocks noChangeAspect="1"/>
          </p:cNvPicPr>
          <p:nvPr/>
        </p:nvPicPr>
        <p:blipFill>
          <a:blip r:embed="rId3"/>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sp>
      <p:pic>
        <p:nvPicPr>
          <p:cNvPr id="21" name="Image 3" descr="Ícono ListTodo">    </p:cNvPr>
          <p:cNvPicPr>
            <a:picLocks noChangeAspect="1"/>
          </p:cNvPicPr>
          <p:nvPr/>
        </p:nvPicPr>
        <p:blipFill>
          <a:blip r:embed="rId4"/>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indent="0" marL="0">
              <a:buNone/>
            </a:pPr>
            <a:r>
              <a:rPr lang="en-US" sz="1600" b="1" dirty="0">
                <a:solidFill>
                  <a:schemeClr val="tx1"/>
                </a:solidFill>
              </a:rPr>
              <a:t>Lo que falta, dicho claro. </a:t>
            </a:r>
            <a:pPr indent="0" marL="0">
              <a:buNone/>
            </a:pPr>
            <a:r>
              <a:rPr lang="en-US" sz="1600" dirty="0">
                <a:solidFill>
                  <a:schemeClr val="tx1"/>
                </a:solidFill>
              </a:rPr>
              <a:t>La consulta legal antes de cobrar dinero real,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Logo de MATU">    </p:cNvPr>
          <p:cNvPicPr>
            <a:picLocks noChangeAspect="1"/>
          </p:cNvPicPr>
          <p:nvPr/>
        </p:nvPicPr>
        <p:blipFill>
          <a:blip r:embed="rId1"/>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algn="ctr" indent="0" marL="0">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algn="ctr" indent="0" marL="0">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algn="ctr" indent="0" marL="0">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algn="ctr" indent="0" marL="0">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A8261B"/>
      </a:accent6>
      <a:hlink>
        <a:srgbClr val="086764"/>
      </a:hlink>
      <a:folHlink>
        <a:srgbClr val="485B5F"/>
      </a:folHlink>
    </a:clrScheme>
    <a:fontScheme name="MAT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Espinoza y Martín Henríquez</cp:lastModifiedBy>
  <cp:revision>1</cp:revision>
  <dcterms:created xsi:type="dcterms:W3CDTF">2026-10-28T02:31:16Z</dcterms:created>
  <dcterms:modified xsi:type="dcterms:W3CDTF">2026-10-28T02:31:16Z</dcterms:modified>
</cp:coreProperties>
</file>