
<file path=[Content_Types].xml><?xml version="1.0" encoding="utf-8"?>
<Types xmlns="http://schemas.openxmlformats.org/package/2006/content-types">
  <Default ContentType="application/xml" Extension="xml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</p:sldIdLst>
  <p:sldSz cy="6858000" cx="12192000"/>
  <p:notesSz cx="6858000" cy="12192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13" roundtripDataSignature="AMtx7mjWYdGjCRGzN/TErJA93S3yQeH2c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customschemas.google.com/relationships/presentationmetadata" Target="metadata"/><Relationship Id="rId12" Type="http://schemas.openxmlformats.org/officeDocument/2006/relationships/slide" Target="slides/slide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" name="Google Shape;13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PORTADA · 15 s · Jorge.</a:t>
            </a:r>
            <a:br>
              <a:rPr lang="en-US"/>
            </a:br>
            <a:r>
              <a:rPr lang="en-US"/>
              <a:t>Buenos días. Somos Jorge Espinoza y Martín Henríquez. Nuestro proyecto se llama MATU y es un sistema de continuidad del cuidado para personas mayores con dependencia.</a:t>
            </a:r>
            <a:endParaRPr/>
          </a:p>
        </p:txBody>
      </p:sp>
      <p:sp>
        <p:nvSpPr>
          <p:cNvPr id="14" name="Google Shape;14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" name="Google Shape;26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EL PROBLEMA · 35 s · Jorge.</a:t>
            </a:r>
            <a:br>
              <a:rPr lang="en-US"/>
            </a:br>
            <a:r>
              <a:rPr lang="en-US"/>
              <a:t>No es un nicho: un millón y medio de personas adultas viven en situación de dependencia. Y el cuidado lo sostienen familias que no reciben pago: 96 de cada 100 cuidadores del hogar no cobran nada, y la mayoría son mujeres. El dato que más nos importa es el tercero: cuatro de cada diez personas dependientes no tienen cuidador formal. No es que falte gente dispuesta. Es que no se puede traspasar el cuidado.</a:t>
            </a:r>
            <a:endParaRPr/>
          </a:p>
        </p:txBody>
      </p:sp>
      <p:sp>
        <p:nvSpPr>
          <p:cNvPr id="27" name="Google Shape;27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1" name="Google Shape;5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EL DIAGNÓSTICO · 30 s · Jorge.</a:t>
            </a:r>
            <a:br>
              <a:rPr lang="en-US"/>
            </a:br>
            <a:r>
              <a:rPr lang="en-US"/>
              <a:t>Quien cuida enfrenta dos problemas que parecen distintos. Uno es de continuidad: el conocimiento del cuidado no está escrito, vive en una sola cabeza. El otro es de abastecimiento: el consumo se lleva de memoria y se compra tarde. Son el mismo problema visto dos veces: el cuidado depende de una sola persona que no puede delegar ni ausentarse. Eso es lo que ataca MATU.</a:t>
            </a:r>
            <a:endParaRPr/>
          </a:p>
        </p:txBody>
      </p:sp>
      <p:sp>
        <p:nvSpPr>
          <p:cNvPr id="52" name="Google Shape;52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LA SOLUCIÓN · 55 s · Jorge.</a:t>
            </a:r>
            <a:br>
              <a:rPr lang="en-US"/>
            </a:br>
            <a:r>
              <a:rPr lang="en-US"/>
              <a:t>MATU tiene tres capas y el orden es lo que define al producto.</a:t>
            </a:r>
            <a:br>
              <a:rPr lang="en-US"/>
            </a:br>
            <a:r>
              <a:rPr lang="en-US"/>
              <a:t>La capa 1 es el plan de cuidado, y es el producto: convierte lo que sabe el cuidador en algo transferible, y con un enlace acotado un relevo puede tomar el turno.</a:t>
            </a:r>
            <a:br>
              <a:rPr lang="en-US"/>
            </a:br>
            <a:r>
              <a:rPr lang="en-US"/>
              <a:t>De ese mismo plan sale la capa 2: cuánto se consume de cada insumo, y con eso el sistema avisa antes del quiebre.</a:t>
            </a:r>
            <a:br>
              <a:rPr lang="en-US"/>
            </a:br>
            <a:r>
              <a:rPr lang="en-US"/>
              <a:t>La capa 3 es el despacho, y está desacoplada a propósito: si no conseguimos convenio con un comercio, la familia exporta su lista y compra donde quiera. El sistema sigue sirviendo.</a:t>
            </a:r>
            <a:br>
              <a:rPr lang="en-US"/>
            </a:br>
            <a:r>
              <a:rPr lang="en-US"/>
              <a:t>La frase de abajo es la tesis: la predicción existe porque existe el plan. MATU no es una aplicación de delivery.</a:t>
            </a:r>
            <a:endParaRPr/>
          </a:p>
        </p:txBody>
      </p:sp>
      <p:sp>
        <p:nvSpPr>
          <p:cNvPr id="74" name="Google Shape;74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0" name="Google Shape;10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INGENIERÍA · 40 s · Martín.</a:t>
            </a:r>
            <a:br>
              <a:rPr lang="en-US"/>
            </a:br>
            <a:r>
              <a:rPr lang="en-US"/>
              <a:t>Cuatro decisiones sostienen el diseño.</a:t>
            </a:r>
            <a:br>
              <a:rPr lang="en-US"/>
            </a:br>
            <a:r>
              <a:rPr lang="en-US"/>
              <a:t>Primera, el aislamiento: usamos Row Level Security forzado, de modo que una consulta sin contexto devuelve cero filas en vez de devolver todo.</a:t>
            </a:r>
            <a:br>
              <a:rPr lang="en-US"/>
            </a:br>
            <a:r>
              <a:rPr lang="en-US"/>
              <a:t>Segunda, el dato sensible va cifrado con una clave por persona cuidada, lo que permite borrarlo de verdad. Eso lo exige la Ley 21.719.</a:t>
            </a:r>
            <a:br>
              <a:rPr lang="en-US"/>
            </a:br>
            <a:r>
              <a:rPr lang="en-US"/>
              <a:t>Tercera, el pago dividido: ninguna pasarela chilena lo hace, así que lo orquestamos con autorización diferida y captura por el monto real.</a:t>
            </a:r>
            <a:br>
              <a:rPr lang="en-US"/>
            </a:br>
            <a:r>
              <a:rPr lang="en-US"/>
              <a:t>Y cuarta, el despacho es desacoplable, y hay una prueba automatizada que lo verifica.</a:t>
            </a:r>
            <a:endParaRPr/>
          </a:p>
        </p:txBody>
      </p:sp>
      <p:sp>
        <p:nvSpPr>
          <p:cNvPr id="101" name="Google Shape;101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METODOLOGÍA · 45 s · Martín.</a:t>
            </a:r>
            <a:br>
              <a:rPr lang="en-US"/>
            </a:br>
            <a:r>
              <a:rPr lang="en-US"/>
              <a:t>Trabajamos con Scrum en sprints de una semana. El reparto es por eje vertical y no por capa: el error clásico en un equipo de dos es que uno haga todo el backend y el otro todo el frontend, con lo cual el segundo siempre espera un endpoint. Cada uno es responsable de sus módulos de extremo a extremo.</a:t>
            </a:r>
            <a:br>
              <a:rPr lang="en-US"/>
            </a:br>
            <a:r>
              <a:rPr lang="en-US"/>
              <a:t>Jorge toma el eje de cuidado y consumo; yo tomo identidad, dinero y operación.</a:t>
            </a:r>
            <a:br>
              <a:rPr lang="en-US"/>
            </a:br>
            <a:r>
              <a:rPr lang="en-US"/>
              <a:t>Y declaramos la capacidad: quince horas por persona a la semana. El alcance estimado no cabía, así que recortamos cuarenta y una horas antes de empezar, no en la mitad del semestre.</a:t>
            </a:r>
            <a:endParaRPr/>
          </a:p>
        </p:txBody>
      </p:sp>
      <p:sp>
        <p:nvSpPr>
          <p:cNvPr id="129" name="Google Shape;129;p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8" name="Google Shape;14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PLAN · 40 s · Martín.</a:t>
            </a:r>
            <a:br>
              <a:rPr lang="en-US"/>
            </a:br>
            <a:r>
              <a:rPr lang="en-US"/>
              <a:t>Dieciocho semanas en tres fases. La primera es la que estamos cerrando: arquitectura, prototipo, y dos actividades de validación que son las que convierten esto de deseable en viable: diez entrevistas con cuidadores y la prueba de concepto contra Transbank.</a:t>
            </a:r>
            <a:br>
              <a:rPr lang="en-US"/>
            </a:br>
            <a:r>
              <a:rPr lang="en-US"/>
              <a:t>La fase 2 son los doce sprints de construcción, en el orden capa 1, capa 2, capa 3.</a:t>
            </a:r>
            <a:br>
              <a:rPr lang="en-US"/>
            </a:br>
            <a:r>
              <a:rPr lang="en-US"/>
              <a:t>Y lo importante del plan está abajo: el diferenciador se demuestra en el sprint 3, no al final. A un cuarto del semestre ya hay algo funcionando que mostrar.</a:t>
            </a:r>
            <a:endParaRPr/>
          </a:p>
        </p:txBody>
      </p:sp>
      <p:sp>
        <p:nvSpPr>
          <p:cNvPr id="149" name="Google Shape;149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2" name="Google Shape;17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CIERRE · 35 s · Martín, y Jorge cierra.</a:t>
            </a:r>
            <a:br>
              <a:rPr lang="en-US"/>
            </a:br>
            <a:r>
              <a:rPr lang="en-US"/>
              <a:t>Estas son las cuatro evidencias con las que vamos a dar cuenta del proyecto.</a:t>
            </a:r>
            <a:br>
              <a:rPr lang="en-US"/>
            </a:br>
            <a:r>
              <a:rPr lang="en-US"/>
              <a:t>Y queremos decir con todas sus letras lo que todavía no tenemos: no hemos hecho ninguna entrevista, no tenemos comercio comprometido y no hemos probado la pasarela. Los tres se cierran en la fase 1, y por eso están primeros en el plan y no al final.</a:t>
            </a:r>
            <a:br>
              <a:rPr lang="en-US"/>
            </a:br>
            <a:r>
              <a:rPr lang="en-US"/>
              <a:t>Gracias. Quedamos atentos a sus preguntas.</a:t>
            </a:r>
            <a:endParaRPr/>
          </a:p>
        </p:txBody>
      </p:sp>
      <p:sp>
        <p:nvSpPr>
          <p:cNvPr id="173" name="Google Shape;173;p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F3A34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"/>
          <p:cNvSpPr/>
          <p:nvPr/>
        </p:nvSpPr>
        <p:spPr>
          <a:xfrm>
            <a:off x="8366760" y="1874520"/>
            <a:ext cx="2834640" cy="685800"/>
          </a:xfrm>
          <a:prstGeom prst="roundRect">
            <a:avLst>
              <a:gd fmla="val 16000" name="adj"/>
            </a:avLst>
          </a:prstGeom>
          <a:solidFill>
            <a:srgbClr val="8FB3A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" name="Google Shape;17;p1"/>
          <p:cNvSpPr/>
          <p:nvPr/>
        </p:nvSpPr>
        <p:spPr>
          <a:xfrm>
            <a:off x="8622792" y="2743200"/>
            <a:ext cx="2834640" cy="685800"/>
          </a:xfrm>
          <a:prstGeom prst="roundRect">
            <a:avLst>
              <a:gd fmla="val 16000" name="adj"/>
            </a:avLst>
          </a:prstGeom>
          <a:solidFill>
            <a:srgbClr val="6E9C8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" name="Google Shape;18;p1"/>
          <p:cNvSpPr/>
          <p:nvPr/>
        </p:nvSpPr>
        <p:spPr>
          <a:xfrm>
            <a:off x="8878824" y="3611880"/>
            <a:ext cx="2834640" cy="685800"/>
          </a:xfrm>
          <a:prstGeom prst="roundRect">
            <a:avLst>
              <a:gd fmla="val 16000" name="adj"/>
            </a:avLst>
          </a:prstGeom>
          <a:solidFill>
            <a:srgbClr val="C75B2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" name="Google Shape;19;p1"/>
          <p:cNvSpPr txBox="1"/>
          <p:nvPr/>
        </p:nvSpPr>
        <p:spPr>
          <a:xfrm>
            <a:off x="822960" y="1965960"/>
            <a:ext cx="731520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0"/>
              <a:buFont typeface="Cambria"/>
              <a:buNone/>
            </a:pPr>
            <a:r>
              <a:rPr b="1" i="0" lang="en-US" sz="90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MATU</a:t>
            </a:r>
            <a:endParaRPr b="0" i="0" sz="9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Google Shape;20;p1"/>
          <p:cNvSpPr txBox="1"/>
          <p:nvPr/>
        </p:nvSpPr>
        <p:spPr>
          <a:xfrm>
            <a:off x="868680" y="3337560"/>
            <a:ext cx="713232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2105"/>
              </a:lnSpc>
              <a:spcBef>
                <a:spcPts val="0"/>
              </a:spcBef>
              <a:spcAft>
                <a:spcPts val="0"/>
              </a:spcAft>
              <a:buClr>
                <a:srgbClr val="8FB3A6"/>
              </a:buClr>
              <a:buSzPts val="1900"/>
              <a:buFont typeface="Calibri"/>
              <a:buNone/>
            </a:pPr>
            <a:r>
              <a:rPr b="0" i="0" lang="en-US" sz="1900" u="none" cap="none" strike="noStrike">
                <a:solidFill>
                  <a:srgbClr val="8FB3A6"/>
                </a:solidFill>
                <a:latin typeface="Calibri"/>
                <a:ea typeface="Calibri"/>
                <a:cs typeface="Calibri"/>
                <a:sym typeface="Calibri"/>
              </a:rPr>
              <a:t>Sistema de continuidad del cuidado</a:t>
            </a:r>
            <a:endParaRPr b="0" i="0" sz="1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42105"/>
              </a:lnSpc>
              <a:spcBef>
                <a:spcPts val="0"/>
              </a:spcBef>
              <a:spcAft>
                <a:spcPts val="0"/>
              </a:spcAft>
              <a:buClr>
                <a:srgbClr val="8FB3A6"/>
              </a:buClr>
              <a:buSzPts val="1900"/>
              <a:buFont typeface="Calibri"/>
              <a:buNone/>
            </a:pPr>
            <a:r>
              <a:rPr b="0" i="0" lang="en-US" sz="1900" u="none" cap="none" strike="noStrike">
                <a:solidFill>
                  <a:srgbClr val="8FB3A6"/>
                </a:solidFill>
                <a:latin typeface="Calibri"/>
                <a:ea typeface="Calibri"/>
                <a:cs typeface="Calibri"/>
                <a:sym typeface="Calibri"/>
              </a:rPr>
              <a:t>para personas mayores con dependencia</a:t>
            </a:r>
            <a:endParaRPr b="0" i="0" sz="1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1;p1"/>
          <p:cNvSpPr txBox="1"/>
          <p:nvPr/>
        </p:nvSpPr>
        <p:spPr>
          <a:xfrm>
            <a:off x="868680" y="4663440"/>
            <a:ext cx="71323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9B6C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E89B6C"/>
                </a:solidFill>
                <a:latin typeface="Calibri"/>
                <a:ea typeface="Calibri"/>
                <a:cs typeface="Calibri"/>
                <a:sym typeface="Calibri"/>
              </a:rPr>
              <a:t>Definición de Proyecto APT  ·  Fase 1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22;p1"/>
          <p:cNvSpPr txBox="1"/>
          <p:nvPr/>
        </p:nvSpPr>
        <p:spPr>
          <a:xfrm>
            <a:off x="868680" y="5029200"/>
            <a:ext cx="71323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libri"/>
              <a:buNone/>
            </a:pPr>
            <a:r>
              <a:rPr b="0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Jorge Espinoza  ·  Martín Henríquez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3;p1"/>
          <p:cNvSpPr txBox="1"/>
          <p:nvPr/>
        </p:nvSpPr>
        <p:spPr>
          <a:xfrm>
            <a:off x="868680" y="5367528"/>
            <a:ext cx="71323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FB3A6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8FB3A6"/>
                </a:solidFill>
                <a:latin typeface="Calibri"/>
                <a:ea typeface="Calibri"/>
                <a:cs typeface="Calibri"/>
                <a:sym typeface="Calibri"/>
              </a:rPr>
              <a:t>Ingeniería en Informática  ·  Duoc UC, sede San Joaquín  ·  Capstone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2"/>
          <p:cNvSpPr txBox="1"/>
          <p:nvPr/>
        </p:nvSpPr>
        <p:spPr>
          <a:xfrm>
            <a:off x="731520" y="457200"/>
            <a:ext cx="106984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75B2B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C75B2B"/>
                </a:solidFill>
                <a:latin typeface="Calibri"/>
                <a:ea typeface="Calibri"/>
                <a:cs typeface="Calibri"/>
                <a:sym typeface="Calibri"/>
              </a:rPr>
              <a:t>EL PROBLEMA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" name="Google Shape;30;p2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8211E"/>
              </a:buClr>
              <a:buSzPts val="3400"/>
              <a:buFont typeface="Cambria"/>
              <a:buNone/>
            </a:pPr>
            <a:r>
              <a:rPr b="1" i="0" lang="en-US" sz="3400" u="none" cap="none" strike="noStrike">
                <a:solidFill>
                  <a:srgbClr val="18211E"/>
                </a:solidFill>
                <a:latin typeface="Cambria"/>
                <a:ea typeface="Cambria"/>
                <a:cs typeface="Cambria"/>
                <a:sym typeface="Cambria"/>
              </a:rPr>
              <a:t>En Chile el cuidado lo sostienen familias, sin pago y sin herramientas</a:t>
            </a:r>
            <a:endParaRPr b="0" i="0" sz="3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" name="Google Shape;31;p2"/>
          <p:cNvSpPr/>
          <p:nvPr/>
        </p:nvSpPr>
        <p:spPr>
          <a:xfrm>
            <a:off x="731520" y="1965960"/>
            <a:ext cx="2468880" cy="2880360"/>
          </a:xfrm>
          <a:prstGeom prst="roundRect">
            <a:avLst>
              <a:gd fmla="val 3704" name="adj"/>
            </a:avLst>
          </a:prstGeom>
          <a:solidFill>
            <a:srgbClr val="EEF3F1"/>
          </a:solidFill>
          <a:ln>
            <a:noFill/>
          </a:ln>
          <a:effectLst>
            <a:outerShdw blurRad="152400" rotWithShape="0" algn="bl" dir="5400000" dist="254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" name="Google Shape;32;p2"/>
          <p:cNvSpPr txBox="1"/>
          <p:nvPr/>
        </p:nvSpPr>
        <p:spPr>
          <a:xfrm>
            <a:off x="987552" y="2212848"/>
            <a:ext cx="1956816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75B2B"/>
              </a:buClr>
              <a:buSzPts val="2900"/>
              <a:buFont typeface="Cambria"/>
              <a:buNone/>
            </a:pPr>
            <a:r>
              <a:rPr b="1" i="0" lang="en-US" sz="2900" u="none" cap="none" strike="noStrike">
                <a:solidFill>
                  <a:srgbClr val="C75B2B"/>
                </a:solidFill>
                <a:latin typeface="Cambria"/>
                <a:ea typeface="Cambria"/>
                <a:cs typeface="Cambria"/>
                <a:sym typeface="Cambria"/>
              </a:rPr>
              <a:t>1.498.977</a:t>
            </a:r>
            <a:endParaRPr b="0" i="0" sz="2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" name="Google Shape;33;p2"/>
          <p:cNvSpPr txBox="1"/>
          <p:nvPr/>
        </p:nvSpPr>
        <p:spPr>
          <a:xfrm>
            <a:off x="987552" y="3035808"/>
            <a:ext cx="1956816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rgbClr val="18211E"/>
              </a:buClr>
              <a:buSzPts val="1350"/>
              <a:buFont typeface="Calibri"/>
              <a:buNone/>
            </a:pPr>
            <a:r>
              <a:rPr b="0" i="0" lang="en-US" sz="1350" u="none" cap="none" strike="noStrike">
                <a:solidFill>
                  <a:srgbClr val="18211E"/>
                </a:solidFill>
                <a:latin typeface="Calibri"/>
                <a:ea typeface="Calibri"/>
                <a:cs typeface="Calibri"/>
                <a:sym typeface="Calibri"/>
              </a:rPr>
              <a:t>personas adultas viven en situación de dependencia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" name="Google Shape;34;p2"/>
          <p:cNvSpPr txBox="1"/>
          <p:nvPr/>
        </p:nvSpPr>
        <p:spPr>
          <a:xfrm>
            <a:off x="987552" y="4069080"/>
            <a:ext cx="1956816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6363"/>
              </a:lnSpc>
              <a:spcBef>
                <a:spcPts val="0"/>
              </a:spcBef>
              <a:spcAft>
                <a:spcPts val="0"/>
              </a:spcAft>
              <a:buClr>
                <a:srgbClr val="5A6661"/>
              </a:buClr>
              <a:buSzPts val="1100"/>
              <a:buFont typeface="Calibri"/>
              <a:buNone/>
            </a:pPr>
            <a:r>
              <a:rPr b="0" i="1" lang="en-US" sz="1100" u="none" cap="none" strike="noStrike">
                <a:solidFill>
                  <a:srgbClr val="5A6661"/>
                </a:solidFill>
                <a:latin typeface="Calibri"/>
                <a:ea typeface="Calibri"/>
                <a:cs typeface="Calibri"/>
                <a:sym typeface="Calibri"/>
              </a:rPr>
              <a:t>9,8% de la población de 18 años y más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" name="Google Shape;35;p2"/>
          <p:cNvSpPr/>
          <p:nvPr/>
        </p:nvSpPr>
        <p:spPr>
          <a:xfrm>
            <a:off x="3474720" y="1965960"/>
            <a:ext cx="2468880" cy="2880360"/>
          </a:xfrm>
          <a:prstGeom prst="roundRect">
            <a:avLst>
              <a:gd fmla="val 3704" name="adj"/>
            </a:avLst>
          </a:prstGeom>
          <a:solidFill>
            <a:srgbClr val="EEF3F1"/>
          </a:solidFill>
          <a:ln>
            <a:noFill/>
          </a:ln>
          <a:effectLst>
            <a:outerShdw blurRad="152400" rotWithShape="0" algn="bl" dir="5400000" dist="254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" name="Google Shape;36;p2"/>
          <p:cNvSpPr txBox="1"/>
          <p:nvPr/>
        </p:nvSpPr>
        <p:spPr>
          <a:xfrm>
            <a:off x="3730752" y="2212848"/>
            <a:ext cx="1956816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75B2B"/>
              </a:buClr>
              <a:buSzPts val="3700"/>
              <a:buFont typeface="Cambria"/>
              <a:buNone/>
            </a:pPr>
            <a:r>
              <a:rPr b="1" i="0" lang="en-US" sz="3700" u="none" cap="none" strike="noStrike">
                <a:solidFill>
                  <a:srgbClr val="C75B2B"/>
                </a:solidFill>
                <a:latin typeface="Cambria"/>
                <a:ea typeface="Cambria"/>
                <a:cs typeface="Cambria"/>
                <a:sym typeface="Cambria"/>
              </a:rPr>
              <a:t>96,4%</a:t>
            </a:r>
            <a:endParaRPr b="0" i="0" sz="3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" name="Google Shape;37;p2"/>
          <p:cNvSpPr txBox="1"/>
          <p:nvPr/>
        </p:nvSpPr>
        <p:spPr>
          <a:xfrm>
            <a:off x="3730752" y="3035808"/>
            <a:ext cx="1956816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rgbClr val="18211E"/>
              </a:buClr>
              <a:buSzPts val="1350"/>
              <a:buFont typeface="Calibri"/>
              <a:buNone/>
            </a:pPr>
            <a:r>
              <a:rPr b="0" i="0" lang="en-US" sz="1350" u="none" cap="none" strike="noStrike">
                <a:solidFill>
                  <a:srgbClr val="18211E"/>
                </a:solidFill>
                <a:latin typeface="Calibri"/>
                <a:ea typeface="Calibri"/>
                <a:cs typeface="Calibri"/>
                <a:sym typeface="Calibri"/>
              </a:rPr>
              <a:t>de los cuidadores del hogar no recibe remuneración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" name="Google Shape;38;p2"/>
          <p:cNvSpPr txBox="1"/>
          <p:nvPr/>
        </p:nvSpPr>
        <p:spPr>
          <a:xfrm>
            <a:off x="3730752" y="4069080"/>
            <a:ext cx="1956816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6363"/>
              </a:lnSpc>
              <a:spcBef>
                <a:spcPts val="0"/>
              </a:spcBef>
              <a:spcAft>
                <a:spcPts val="0"/>
              </a:spcAft>
              <a:buClr>
                <a:srgbClr val="5A6661"/>
              </a:buClr>
              <a:buSzPts val="1100"/>
              <a:buFont typeface="Calibri"/>
              <a:buNone/>
            </a:pPr>
            <a:r>
              <a:rPr b="0" i="1" lang="en-US" sz="1100" u="none" cap="none" strike="noStrike">
                <a:solidFill>
                  <a:srgbClr val="5A6661"/>
                </a:solidFill>
                <a:latin typeface="Calibri"/>
                <a:ea typeface="Calibri"/>
                <a:cs typeface="Calibri"/>
                <a:sym typeface="Calibri"/>
              </a:rPr>
              <a:t>el 69,9% son mujeres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" name="Google Shape;39;p2"/>
          <p:cNvSpPr/>
          <p:nvPr/>
        </p:nvSpPr>
        <p:spPr>
          <a:xfrm>
            <a:off x="6217920" y="1965960"/>
            <a:ext cx="2468880" cy="2880360"/>
          </a:xfrm>
          <a:prstGeom prst="roundRect">
            <a:avLst>
              <a:gd fmla="val 3704" name="adj"/>
            </a:avLst>
          </a:prstGeom>
          <a:solidFill>
            <a:srgbClr val="EEF3F1"/>
          </a:solidFill>
          <a:ln>
            <a:noFill/>
          </a:ln>
          <a:effectLst>
            <a:outerShdw blurRad="152400" rotWithShape="0" algn="bl" dir="5400000" dist="254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" name="Google Shape;40;p2"/>
          <p:cNvSpPr txBox="1"/>
          <p:nvPr/>
        </p:nvSpPr>
        <p:spPr>
          <a:xfrm>
            <a:off x="6473952" y="2212848"/>
            <a:ext cx="1956816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75B2B"/>
              </a:buClr>
              <a:buSzPts val="3700"/>
              <a:buFont typeface="Cambria"/>
              <a:buNone/>
            </a:pPr>
            <a:r>
              <a:rPr b="1" i="0" lang="en-US" sz="3700" u="none" cap="none" strike="noStrike">
                <a:solidFill>
                  <a:srgbClr val="C75B2B"/>
                </a:solidFill>
                <a:latin typeface="Cambria"/>
                <a:ea typeface="Cambria"/>
                <a:cs typeface="Cambria"/>
                <a:sym typeface="Cambria"/>
              </a:rPr>
              <a:t>41,3%</a:t>
            </a:r>
            <a:endParaRPr b="0" i="0" sz="3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" name="Google Shape;41;p2"/>
          <p:cNvSpPr txBox="1"/>
          <p:nvPr/>
        </p:nvSpPr>
        <p:spPr>
          <a:xfrm>
            <a:off x="6473952" y="3035808"/>
            <a:ext cx="1956816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rgbClr val="18211E"/>
              </a:buClr>
              <a:buSzPts val="1350"/>
              <a:buFont typeface="Calibri"/>
              <a:buNone/>
            </a:pPr>
            <a:r>
              <a:rPr b="0" i="0" lang="en-US" sz="1350" u="none" cap="none" strike="noStrike">
                <a:solidFill>
                  <a:srgbClr val="18211E"/>
                </a:solidFill>
                <a:latin typeface="Calibri"/>
                <a:ea typeface="Calibri"/>
                <a:cs typeface="Calibri"/>
                <a:sym typeface="Calibri"/>
              </a:rPr>
              <a:t>de las personas dependientes no tiene cuidador formal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" name="Google Shape;42;p2"/>
          <p:cNvSpPr txBox="1"/>
          <p:nvPr/>
        </p:nvSpPr>
        <p:spPr>
          <a:xfrm>
            <a:off x="6473952" y="4069080"/>
            <a:ext cx="1956816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6363"/>
              </a:lnSpc>
              <a:spcBef>
                <a:spcPts val="0"/>
              </a:spcBef>
              <a:spcAft>
                <a:spcPts val="0"/>
              </a:spcAft>
              <a:buClr>
                <a:srgbClr val="5A6661"/>
              </a:buClr>
              <a:buSzPts val="1100"/>
              <a:buFont typeface="Calibri"/>
              <a:buNone/>
            </a:pPr>
            <a:r>
              <a:rPr b="0" i="1" lang="en-US" sz="1100" u="none" cap="none" strike="noStrike">
                <a:solidFill>
                  <a:srgbClr val="5A6661"/>
                </a:solidFill>
                <a:latin typeface="Calibri"/>
                <a:ea typeface="Calibri"/>
                <a:cs typeface="Calibri"/>
                <a:sym typeface="Calibri"/>
              </a:rPr>
              <a:t>no falta gente: falta poder traspasar el cuidado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" name="Google Shape;43;p2"/>
          <p:cNvSpPr/>
          <p:nvPr/>
        </p:nvSpPr>
        <p:spPr>
          <a:xfrm>
            <a:off x="8961120" y="1965960"/>
            <a:ext cx="2468880" cy="2880360"/>
          </a:xfrm>
          <a:prstGeom prst="roundRect">
            <a:avLst>
              <a:gd fmla="val 3704" name="adj"/>
            </a:avLst>
          </a:prstGeom>
          <a:solidFill>
            <a:srgbClr val="EEF3F1"/>
          </a:solidFill>
          <a:ln>
            <a:noFill/>
          </a:ln>
          <a:effectLst>
            <a:outerShdw blurRad="152400" rotWithShape="0" algn="bl" dir="5400000" dist="254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" name="Google Shape;44;p2"/>
          <p:cNvSpPr txBox="1"/>
          <p:nvPr/>
        </p:nvSpPr>
        <p:spPr>
          <a:xfrm>
            <a:off x="9217152" y="2212848"/>
            <a:ext cx="1956816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75B2B"/>
              </a:buClr>
              <a:buSzPts val="3700"/>
              <a:buFont typeface="Cambria"/>
              <a:buNone/>
            </a:pPr>
            <a:r>
              <a:rPr b="1" i="0" lang="en-US" sz="3700" u="none" cap="none" strike="noStrike">
                <a:solidFill>
                  <a:srgbClr val="C75B2B"/>
                </a:solidFill>
                <a:latin typeface="Cambria"/>
                <a:ea typeface="Cambria"/>
                <a:cs typeface="Cambria"/>
                <a:sym typeface="Cambria"/>
              </a:rPr>
              <a:t>200.000</a:t>
            </a:r>
            <a:endParaRPr b="0" i="0" sz="3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" name="Google Shape;45;p2"/>
          <p:cNvSpPr txBox="1"/>
          <p:nvPr/>
        </p:nvSpPr>
        <p:spPr>
          <a:xfrm>
            <a:off x="9217152" y="3035808"/>
            <a:ext cx="1956816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rgbClr val="18211E"/>
              </a:buClr>
              <a:buSzPts val="1350"/>
              <a:buFont typeface="Calibri"/>
              <a:buNone/>
            </a:pPr>
            <a:r>
              <a:rPr b="0" i="0" lang="en-US" sz="1350" u="none" cap="none" strike="noStrike">
                <a:solidFill>
                  <a:srgbClr val="18211E"/>
                </a:solidFill>
                <a:latin typeface="Calibri"/>
                <a:ea typeface="Calibri"/>
                <a:cs typeface="Calibri"/>
                <a:sym typeface="Calibri"/>
              </a:rPr>
              <a:t>personas con demencia en Chile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" name="Google Shape;46;p2"/>
          <p:cNvSpPr txBox="1"/>
          <p:nvPr/>
        </p:nvSpPr>
        <p:spPr>
          <a:xfrm>
            <a:off x="9217152" y="4069080"/>
            <a:ext cx="1956816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6363"/>
              </a:lnSpc>
              <a:spcBef>
                <a:spcPts val="0"/>
              </a:spcBef>
              <a:spcAft>
                <a:spcPts val="0"/>
              </a:spcAft>
              <a:buClr>
                <a:srgbClr val="5A6661"/>
              </a:buClr>
              <a:buSzPts val="1100"/>
              <a:buFont typeface="Calibri"/>
              <a:buNone/>
            </a:pPr>
            <a:r>
              <a:rPr b="0" i="1" lang="en-US" sz="1100" u="none" cap="none" strike="noStrike">
                <a:solidFill>
                  <a:srgbClr val="5A6661"/>
                </a:solidFill>
                <a:latin typeface="Calibri"/>
                <a:ea typeface="Calibri"/>
                <a:cs typeface="Calibri"/>
                <a:sym typeface="Calibri"/>
              </a:rPr>
              <a:t>cuarta causa de muerte en 2024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" name="Google Shape;47;p2"/>
          <p:cNvSpPr txBox="1"/>
          <p:nvPr/>
        </p:nvSpPr>
        <p:spPr>
          <a:xfrm>
            <a:off x="731520" y="5120640"/>
            <a:ext cx="106984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A6661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5A6661"/>
                </a:solidFill>
                <a:latin typeface="Calibri"/>
                <a:ea typeface="Calibri"/>
                <a:cs typeface="Calibri"/>
                <a:sym typeface="Calibri"/>
              </a:rPr>
              <a:t>ENDIDE 2022, Ministerio de Desarrollo Social y Familia  ·  Plan Nacional de Demencia 2025-2035, MINSAL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" name="Google Shape;48;p2"/>
          <p:cNvSpPr txBox="1"/>
          <p:nvPr/>
        </p:nvSpPr>
        <p:spPr>
          <a:xfrm>
            <a:off x="731520" y="6263640"/>
            <a:ext cx="106984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A6661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5A6661"/>
                </a:solidFill>
                <a:latin typeface="Calibri"/>
                <a:ea typeface="Calibri"/>
                <a:cs typeface="Calibri"/>
                <a:sym typeface="Calibri"/>
              </a:rPr>
              <a:t>Jorge  ·  35 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3"/>
          <p:cNvSpPr txBox="1"/>
          <p:nvPr/>
        </p:nvSpPr>
        <p:spPr>
          <a:xfrm>
            <a:off x="731520" y="457200"/>
            <a:ext cx="106984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75B2B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C75B2B"/>
                </a:solidFill>
                <a:latin typeface="Calibri"/>
                <a:ea typeface="Calibri"/>
                <a:cs typeface="Calibri"/>
                <a:sym typeface="Calibri"/>
              </a:rPr>
              <a:t>EL DIAGNÓSTICO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" name="Google Shape;55;p3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8211E"/>
              </a:buClr>
              <a:buSzPts val="3400"/>
              <a:buFont typeface="Cambria"/>
              <a:buNone/>
            </a:pPr>
            <a:r>
              <a:rPr b="1" i="0" lang="en-US" sz="3400" u="none" cap="none" strike="noStrike">
                <a:solidFill>
                  <a:srgbClr val="18211E"/>
                </a:solidFill>
                <a:latin typeface="Cambria"/>
                <a:ea typeface="Cambria"/>
                <a:cs typeface="Cambria"/>
                <a:sym typeface="Cambria"/>
              </a:rPr>
              <a:t>Dos problemas que parecen distintos y son el mismo</a:t>
            </a:r>
            <a:endParaRPr b="0" i="0" sz="3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" name="Google Shape;56;p3"/>
          <p:cNvSpPr/>
          <p:nvPr/>
        </p:nvSpPr>
        <p:spPr>
          <a:xfrm>
            <a:off x="731520" y="1920240"/>
            <a:ext cx="5120640" cy="2697480"/>
          </a:xfrm>
          <a:prstGeom prst="roundRect">
            <a:avLst>
              <a:gd fmla="val 3390" name="adj"/>
            </a:avLst>
          </a:prstGeom>
          <a:solidFill>
            <a:srgbClr val="EEF3F1"/>
          </a:solidFill>
          <a:ln>
            <a:noFill/>
          </a:ln>
          <a:effectLst>
            <a:outerShdw blurRad="152400" rotWithShape="0" algn="bl" dir="5400000" dist="254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" name="Google Shape;57;p3"/>
          <p:cNvSpPr/>
          <p:nvPr/>
        </p:nvSpPr>
        <p:spPr>
          <a:xfrm>
            <a:off x="1051560" y="2212848"/>
            <a:ext cx="384048" cy="384048"/>
          </a:xfrm>
          <a:prstGeom prst="ellipse">
            <a:avLst/>
          </a:prstGeom>
          <a:solidFill>
            <a:srgbClr val="C75B2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" name="Google Shape;58;p3"/>
          <p:cNvSpPr txBox="1"/>
          <p:nvPr/>
        </p:nvSpPr>
        <p:spPr>
          <a:xfrm>
            <a:off x="1051560" y="2212848"/>
            <a:ext cx="384048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" name="Google Shape;59;p3"/>
          <p:cNvSpPr txBox="1"/>
          <p:nvPr/>
        </p:nvSpPr>
        <p:spPr>
          <a:xfrm>
            <a:off x="1600200" y="2240280"/>
            <a:ext cx="40233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75B2B"/>
              </a:buClr>
              <a:buSzPts val="2200"/>
              <a:buFont typeface="Cambria"/>
              <a:buNone/>
            </a:pPr>
            <a:r>
              <a:rPr b="1" i="0" lang="en-US" sz="2200" u="none" cap="none" strike="noStrike">
                <a:solidFill>
                  <a:srgbClr val="C75B2B"/>
                </a:solidFill>
                <a:latin typeface="Cambria"/>
                <a:ea typeface="Cambria"/>
                <a:cs typeface="Cambria"/>
                <a:sym typeface="Cambria"/>
              </a:rPr>
              <a:t>Continuidad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" name="Google Shape;60;p3"/>
          <p:cNvSpPr txBox="1"/>
          <p:nvPr/>
        </p:nvSpPr>
        <p:spPr>
          <a:xfrm>
            <a:off x="1051560" y="2788920"/>
            <a:ext cx="452628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18211E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18211E"/>
                </a:solidFill>
                <a:latin typeface="Calibri"/>
                <a:ea typeface="Calibri"/>
                <a:cs typeface="Calibri"/>
                <a:sym typeface="Calibri"/>
              </a:rPr>
              <a:t>Cómo se cuida a alguien no está escrito en ninguna parte: vive en una sola cabeza.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" name="Google Shape;61;p3"/>
          <p:cNvSpPr txBox="1"/>
          <p:nvPr/>
        </p:nvSpPr>
        <p:spPr>
          <a:xfrm>
            <a:off x="1051560" y="3520440"/>
            <a:ext cx="4526280" cy="9601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6153"/>
              </a:lnSpc>
              <a:spcBef>
                <a:spcPts val="0"/>
              </a:spcBef>
              <a:spcAft>
                <a:spcPts val="0"/>
              </a:spcAft>
              <a:buClr>
                <a:srgbClr val="5A6661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5A6661"/>
                </a:solidFill>
                <a:latin typeface="Calibri"/>
                <a:ea typeface="Calibri"/>
                <a:cs typeface="Calibri"/>
                <a:sym typeface="Calibri"/>
              </a:rPr>
              <a:t>Traspasarlo a un hermano o a quien cubra un fin de semana cuesta horas de explicación. En la práctica no se traspasa, y el cuidador principal no puede ausentarse.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" name="Google Shape;62;p3"/>
          <p:cNvSpPr/>
          <p:nvPr/>
        </p:nvSpPr>
        <p:spPr>
          <a:xfrm>
            <a:off x="6309360" y="1920240"/>
            <a:ext cx="5120640" cy="2697480"/>
          </a:xfrm>
          <a:prstGeom prst="roundRect">
            <a:avLst>
              <a:gd fmla="val 3390" name="adj"/>
            </a:avLst>
          </a:prstGeom>
          <a:solidFill>
            <a:srgbClr val="EEF3F1"/>
          </a:solidFill>
          <a:ln>
            <a:noFill/>
          </a:ln>
          <a:effectLst>
            <a:outerShdw blurRad="152400" rotWithShape="0" algn="bl" dir="5400000" dist="254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" name="Google Shape;63;p3"/>
          <p:cNvSpPr/>
          <p:nvPr/>
        </p:nvSpPr>
        <p:spPr>
          <a:xfrm>
            <a:off x="6629400" y="2212848"/>
            <a:ext cx="384048" cy="384048"/>
          </a:xfrm>
          <a:prstGeom prst="ellipse">
            <a:avLst/>
          </a:prstGeom>
          <a:solidFill>
            <a:srgbClr val="1F3A3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4" name="Google Shape;64;p3"/>
          <p:cNvSpPr txBox="1"/>
          <p:nvPr/>
        </p:nvSpPr>
        <p:spPr>
          <a:xfrm>
            <a:off x="6629400" y="2212848"/>
            <a:ext cx="384048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" name="Google Shape;65;p3"/>
          <p:cNvSpPr txBox="1"/>
          <p:nvPr/>
        </p:nvSpPr>
        <p:spPr>
          <a:xfrm>
            <a:off x="7178040" y="2240280"/>
            <a:ext cx="40233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3A34"/>
              </a:buClr>
              <a:buSzPts val="2200"/>
              <a:buFont typeface="Cambria"/>
              <a:buNone/>
            </a:pPr>
            <a:r>
              <a:rPr b="1" i="0" lang="en-US" sz="2200" u="none" cap="none" strike="noStrike">
                <a:solidFill>
                  <a:srgbClr val="1F3A34"/>
                </a:solidFill>
                <a:latin typeface="Cambria"/>
                <a:ea typeface="Cambria"/>
                <a:cs typeface="Cambria"/>
                <a:sym typeface="Cambria"/>
              </a:rPr>
              <a:t>Abastecimiento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" name="Google Shape;66;p3"/>
          <p:cNvSpPr txBox="1"/>
          <p:nvPr/>
        </p:nvSpPr>
        <p:spPr>
          <a:xfrm>
            <a:off x="6629400" y="2788920"/>
            <a:ext cx="452628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18211E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18211E"/>
                </a:solidFill>
                <a:latin typeface="Calibri"/>
                <a:ea typeface="Calibri"/>
                <a:cs typeface="Calibri"/>
                <a:sym typeface="Calibri"/>
              </a:rPr>
              <a:t>El consumo de insumos se lleva de memoria y cambia con el estado de la persona.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" name="Google Shape;67;p3"/>
          <p:cNvSpPr txBox="1"/>
          <p:nvPr/>
        </p:nvSpPr>
        <p:spPr>
          <a:xfrm>
            <a:off x="6629400" y="3520440"/>
            <a:ext cx="4526280" cy="9601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6153"/>
              </a:lnSpc>
              <a:spcBef>
                <a:spcPts val="0"/>
              </a:spcBef>
              <a:spcAft>
                <a:spcPts val="0"/>
              </a:spcAft>
              <a:buClr>
                <a:srgbClr val="5A6661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5A6661"/>
                </a:solidFill>
                <a:latin typeface="Calibri"/>
                <a:ea typeface="Calibri"/>
                <a:cs typeface="Calibri"/>
                <a:sym typeface="Calibri"/>
              </a:rPr>
              <a:t>Se compra cuando alguien nota que se está acabando. La salida de urgencia recae siempre en el mismo familiar, y el gasto se reparte de manera informal.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p3"/>
          <p:cNvSpPr/>
          <p:nvPr/>
        </p:nvSpPr>
        <p:spPr>
          <a:xfrm>
            <a:off x="731520" y="4892040"/>
            <a:ext cx="10698480" cy="1005840"/>
          </a:xfrm>
          <a:prstGeom prst="roundRect">
            <a:avLst>
              <a:gd fmla="val 9091" name="adj"/>
            </a:avLst>
          </a:prstGeom>
          <a:solidFill>
            <a:srgbClr val="18211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9" name="Google Shape;69;p3"/>
          <p:cNvSpPr txBox="1"/>
          <p:nvPr/>
        </p:nvSpPr>
        <p:spPr>
          <a:xfrm>
            <a:off x="1005840" y="5138928"/>
            <a:ext cx="101498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100"/>
              <a:buFont typeface="Cambria"/>
              <a:buNone/>
            </a:pPr>
            <a:r>
              <a:rPr b="1" i="0" lang="en-US" sz="21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El cuidado depende de una sola persona que no puede delegar ni ausentarse.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" name="Google Shape;70;p3"/>
          <p:cNvSpPr txBox="1"/>
          <p:nvPr/>
        </p:nvSpPr>
        <p:spPr>
          <a:xfrm>
            <a:off x="731520" y="6263640"/>
            <a:ext cx="106984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A6661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5A6661"/>
                </a:solidFill>
                <a:latin typeface="Calibri"/>
                <a:ea typeface="Calibri"/>
                <a:cs typeface="Calibri"/>
                <a:sym typeface="Calibri"/>
              </a:rPr>
              <a:t>Jorge  ·  30 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4"/>
          <p:cNvSpPr txBox="1"/>
          <p:nvPr/>
        </p:nvSpPr>
        <p:spPr>
          <a:xfrm>
            <a:off x="731520" y="457200"/>
            <a:ext cx="106984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75B2B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C75B2B"/>
                </a:solidFill>
                <a:latin typeface="Calibri"/>
                <a:ea typeface="Calibri"/>
                <a:cs typeface="Calibri"/>
                <a:sym typeface="Calibri"/>
              </a:rPr>
              <a:t>LA SOLUCIÓN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" name="Google Shape;77;p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8211E"/>
              </a:buClr>
              <a:buSzPts val="3400"/>
              <a:buFont typeface="Cambria"/>
              <a:buNone/>
            </a:pPr>
            <a:r>
              <a:rPr b="1" i="0" lang="en-US" sz="3400" u="none" cap="none" strike="noStrike">
                <a:solidFill>
                  <a:srgbClr val="18211E"/>
                </a:solidFill>
                <a:latin typeface="Cambria"/>
                <a:ea typeface="Cambria"/>
                <a:cs typeface="Cambria"/>
                <a:sym typeface="Cambria"/>
              </a:rPr>
              <a:t>Tres capas, y el orden importa</a:t>
            </a:r>
            <a:endParaRPr b="0" i="0" sz="3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" name="Google Shape;78;p4"/>
          <p:cNvSpPr/>
          <p:nvPr/>
        </p:nvSpPr>
        <p:spPr>
          <a:xfrm>
            <a:off x="731520" y="1755648"/>
            <a:ext cx="10698480" cy="1152144"/>
          </a:xfrm>
          <a:prstGeom prst="roundRect">
            <a:avLst>
              <a:gd fmla="val 7937" name="adj"/>
            </a:avLst>
          </a:prstGeom>
          <a:solidFill>
            <a:srgbClr val="EEF3F1"/>
          </a:solidFill>
          <a:ln>
            <a:noFill/>
          </a:ln>
          <a:effectLst>
            <a:outerShdw blurRad="152400" rotWithShape="0" algn="bl" dir="5400000" dist="254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4"/>
          <p:cNvSpPr/>
          <p:nvPr/>
        </p:nvSpPr>
        <p:spPr>
          <a:xfrm>
            <a:off x="1051560" y="2139696"/>
            <a:ext cx="384048" cy="384048"/>
          </a:xfrm>
          <a:prstGeom prst="ellipse">
            <a:avLst/>
          </a:prstGeom>
          <a:solidFill>
            <a:srgbClr val="C75B2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0" name="Google Shape;80;p4"/>
          <p:cNvSpPr txBox="1"/>
          <p:nvPr/>
        </p:nvSpPr>
        <p:spPr>
          <a:xfrm>
            <a:off x="1051560" y="2139696"/>
            <a:ext cx="384048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" name="Google Shape;81;p4"/>
          <p:cNvSpPr txBox="1"/>
          <p:nvPr/>
        </p:nvSpPr>
        <p:spPr>
          <a:xfrm>
            <a:off x="1600200" y="1938528"/>
            <a:ext cx="32918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8211E"/>
              </a:buClr>
              <a:buSzPts val="1700"/>
              <a:buFont typeface="Cambria"/>
              <a:buNone/>
            </a:pPr>
            <a:r>
              <a:rPr b="1" i="0" lang="en-US" sz="1700" u="none" cap="none" strike="noStrike">
                <a:solidFill>
                  <a:srgbClr val="18211E"/>
                </a:solidFill>
                <a:latin typeface="Cambria"/>
                <a:ea typeface="Cambria"/>
                <a:cs typeface="Cambria"/>
                <a:sym typeface="Cambria"/>
              </a:rPr>
              <a:t>Capa 1 · Plan de cuidado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" name="Google Shape;82;p4"/>
          <p:cNvSpPr txBox="1"/>
          <p:nvPr/>
        </p:nvSpPr>
        <p:spPr>
          <a:xfrm>
            <a:off x="1600200" y="2286000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75B2B"/>
              </a:buClr>
              <a:buSzPts val="1300"/>
              <a:buFont typeface="Calibri"/>
              <a:buNone/>
            </a:pPr>
            <a:r>
              <a:rPr b="1" i="1" lang="en-US" sz="1300" u="none" cap="none" strike="noStrike">
                <a:solidFill>
                  <a:srgbClr val="C75B2B"/>
                </a:solidFill>
                <a:latin typeface="Calibri"/>
                <a:ea typeface="Calibri"/>
                <a:cs typeface="Calibri"/>
                <a:sym typeface="Calibri"/>
              </a:rPr>
              <a:t>Es el producto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" name="Google Shape;83;p4"/>
          <p:cNvSpPr txBox="1"/>
          <p:nvPr/>
        </p:nvSpPr>
        <p:spPr>
          <a:xfrm>
            <a:off x="5029200" y="1920240"/>
            <a:ext cx="6172200" cy="868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8461"/>
              </a:lnSpc>
              <a:spcBef>
                <a:spcPts val="0"/>
              </a:spcBef>
              <a:spcAft>
                <a:spcPts val="0"/>
              </a:spcAft>
              <a:buClr>
                <a:srgbClr val="5A6661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5A6661"/>
                </a:solidFill>
                <a:latin typeface="Calibri"/>
                <a:ea typeface="Calibri"/>
                <a:cs typeface="Calibri"/>
                <a:sym typeface="Calibri"/>
              </a:rPr>
              <a:t>Convierte lo que sabe quien cuida —rutina, horarios, qué hacer en una crisis— en algo escrito y transferible. Se comparte con un relevo por un enlace acotado, con vencimiento y auditoría.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" name="Google Shape;84;p4"/>
          <p:cNvSpPr/>
          <p:nvPr/>
        </p:nvSpPr>
        <p:spPr>
          <a:xfrm>
            <a:off x="731520" y="3072384"/>
            <a:ext cx="10698480" cy="1152144"/>
          </a:xfrm>
          <a:prstGeom prst="roundRect">
            <a:avLst>
              <a:gd fmla="val 7937" name="adj"/>
            </a:avLst>
          </a:prstGeom>
          <a:solidFill>
            <a:srgbClr val="F7F9F8"/>
          </a:solidFill>
          <a:ln>
            <a:noFill/>
          </a:ln>
          <a:effectLst>
            <a:outerShdw blurRad="152400" rotWithShape="0" algn="bl" dir="5400000" dist="254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5" name="Google Shape;85;p4"/>
          <p:cNvSpPr/>
          <p:nvPr/>
        </p:nvSpPr>
        <p:spPr>
          <a:xfrm>
            <a:off x="1051560" y="3456432"/>
            <a:ext cx="384048" cy="384048"/>
          </a:xfrm>
          <a:prstGeom prst="ellipse">
            <a:avLst/>
          </a:prstGeom>
          <a:solidFill>
            <a:srgbClr val="6E9C8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6" name="Google Shape;86;p4"/>
          <p:cNvSpPr txBox="1"/>
          <p:nvPr/>
        </p:nvSpPr>
        <p:spPr>
          <a:xfrm>
            <a:off x="1051560" y="3456432"/>
            <a:ext cx="384048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4"/>
          <p:cNvSpPr txBox="1"/>
          <p:nvPr/>
        </p:nvSpPr>
        <p:spPr>
          <a:xfrm>
            <a:off x="1600200" y="3255264"/>
            <a:ext cx="32918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8211E"/>
              </a:buClr>
              <a:buSzPts val="1700"/>
              <a:buFont typeface="Cambria"/>
              <a:buNone/>
            </a:pPr>
            <a:r>
              <a:rPr b="1" i="0" lang="en-US" sz="1700" u="none" cap="none" strike="noStrike">
                <a:solidFill>
                  <a:srgbClr val="18211E"/>
                </a:solidFill>
                <a:latin typeface="Cambria"/>
                <a:ea typeface="Cambria"/>
                <a:cs typeface="Cambria"/>
                <a:sym typeface="Cambria"/>
              </a:rPr>
              <a:t>Capa 2 · Consumo y predicción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4"/>
          <p:cNvSpPr txBox="1"/>
          <p:nvPr/>
        </p:nvSpPr>
        <p:spPr>
          <a:xfrm>
            <a:off x="1600200" y="3602736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9C8C"/>
              </a:buClr>
              <a:buSzPts val="1300"/>
              <a:buFont typeface="Calibri"/>
              <a:buNone/>
            </a:pPr>
            <a:r>
              <a:rPr b="1" i="1" lang="en-US" sz="1300" u="none" cap="none" strike="noStrike">
                <a:solidFill>
                  <a:srgbClr val="6E9C8C"/>
                </a:solidFill>
                <a:latin typeface="Calibri"/>
                <a:ea typeface="Calibri"/>
                <a:cs typeface="Calibri"/>
                <a:sym typeface="Calibri"/>
              </a:rPr>
              <a:t>Es el diferenciador computable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4"/>
          <p:cNvSpPr txBox="1"/>
          <p:nvPr/>
        </p:nvSpPr>
        <p:spPr>
          <a:xfrm>
            <a:off x="5029200" y="3236976"/>
            <a:ext cx="6172200" cy="868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8461"/>
              </a:lnSpc>
              <a:spcBef>
                <a:spcPts val="0"/>
              </a:spcBef>
              <a:spcAft>
                <a:spcPts val="0"/>
              </a:spcAft>
              <a:buClr>
                <a:srgbClr val="5A6661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5A6661"/>
                </a:solidFill>
                <a:latin typeface="Calibri"/>
                <a:ea typeface="Calibri"/>
                <a:cs typeface="Calibri"/>
                <a:sym typeface="Calibri"/>
              </a:rPr>
              <a:t>Del mismo plan se declara el consumo de cada insumo. El sistema anticipa la fecha de quiebre y arma la lista de reposición antes de que algo se acabe.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p4"/>
          <p:cNvSpPr/>
          <p:nvPr/>
        </p:nvSpPr>
        <p:spPr>
          <a:xfrm>
            <a:off x="731520" y="4389120"/>
            <a:ext cx="10698480" cy="1152144"/>
          </a:xfrm>
          <a:prstGeom prst="roundRect">
            <a:avLst>
              <a:gd fmla="val 7937" name="adj"/>
            </a:avLst>
          </a:prstGeom>
          <a:solidFill>
            <a:srgbClr val="F7F9F8"/>
          </a:solidFill>
          <a:ln>
            <a:noFill/>
          </a:ln>
          <a:effectLst>
            <a:outerShdw blurRad="152400" rotWithShape="0" algn="bl" dir="5400000" dist="254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" name="Google Shape;91;p4"/>
          <p:cNvSpPr/>
          <p:nvPr/>
        </p:nvSpPr>
        <p:spPr>
          <a:xfrm>
            <a:off x="1051560" y="4773168"/>
            <a:ext cx="384048" cy="384048"/>
          </a:xfrm>
          <a:prstGeom prst="ellipse">
            <a:avLst/>
          </a:prstGeom>
          <a:solidFill>
            <a:srgbClr val="1F3A3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p4"/>
          <p:cNvSpPr txBox="1"/>
          <p:nvPr/>
        </p:nvSpPr>
        <p:spPr>
          <a:xfrm>
            <a:off x="1051560" y="4773168"/>
            <a:ext cx="384048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4"/>
          <p:cNvSpPr txBox="1"/>
          <p:nvPr/>
        </p:nvSpPr>
        <p:spPr>
          <a:xfrm>
            <a:off x="1600200" y="4572000"/>
            <a:ext cx="32918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8211E"/>
              </a:buClr>
              <a:buSzPts val="1700"/>
              <a:buFont typeface="Cambria"/>
              <a:buNone/>
            </a:pPr>
            <a:r>
              <a:rPr b="1" i="0" lang="en-US" sz="1700" u="none" cap="none" strike="noStrike">
                <a:solidFill>
                  <a:srgbClr val="18211E"/>
                </a:solidFill>
                <a:latin typeface="Cambria"/>
                <a:ea typeface="Cambria"/>
                <a:cs typeface="Cambria"/>
                <a:sym typeface="Cambria"/>
              </a:rPr>
              <a:t>Capa 3 · Despacho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4"/>
          <p:cNvSpPr txBox="1"/>
          <p:nvPr/>
        </p:nvSpPr>
        <p:spPr>
          <a:xfrm>
            <a:off x="1600200" y="4919472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3A34"/>
              </a:buClr>
              <a:buSzPts val="1300"/>
              <a:buFont typeface="Calibri"/>
              <a:buNone/>
            </a:pPr>
            <a:r>
              <a:rPr b="1" i="1" lang="en-US" sz="1300" u="none" cap="none" strike="noStrike">
                <a:solidFill>
                  <a:srgbClr val="1F3A34"/>
                </a:solidFill>
                <a:latin typeface="Calibri"/>
                <a:ea typeface="Calibri"/>
                <a:cs typeface="Calibri"/>
                <a:sym typeface="Calibri"/>
              </a:rPr>
              <a:t>Es un servicio, no la razón de existir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4"/>
          <p:cNvSpPr txBox="1"/>
          <p:nvPr/>
        </p:nvSpPr>
        <p:spPr>
          <a:xfrm>
            <a:off x="5029200" y="4553712"/>
            <a:ext cx="6172200" cy="868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8461"/>
              </a:lnSpc>
              <a:spcBef>
                <a:spcPts val="0"/>
              </a:spcBef>
              <a:spcAft>
                <a:spcPts val="0"/>
              </a:spcAft>
              <a:buClr>
                <a:srgbClr val="5A6661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5A6661"/>
                </a:solidFill>
                <a:latin typeface="Calibri"/>
                <a:ea typeface="Calibri"/>
                <a:cs typeface="Calibri"/>
                <a:sym typeface="Calibri"/>
              </a:rPr>
              <a:t>Catálogo, pedido, pago dividido entre familiares y entrega. Desacoplada por diseño: sin convenio comercial, la familia exporta su lista y compra donde quiera.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4"/>
          <p:cNvSpPr txBox="1"/>
          <p:nvPr/>
        </p:nvSpPr>
        <p:spPr>
          <a:xfrm>
            <a:off x="731520" y="5742432"/>
            <a:ext cx="106984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75B2B"/>
              </a:buClr>
              <a:buSzPts val="1500"/>
              <a:buFont typeface="Cambria"/>
              <a:buNone/>
            </a:pPr>
            <a:r>
              <a:rPr b="1" i="1" lang="en-US" sz="1500" u="none" cap="none" strike="noStrike">
                <a:solidFill>
                  <a:srgbClr val="C75B2B"/>
                </a:solidFill>
                <a:latin typeface="Cambria"/>
                <a:ea typeface="Cambria"/>
                <a:cs typeface="Cambria"/>
                <a:sym typeface="Cambria"/>
              </a:rPr>
              <a:t>La predicción existe porque existe el plan. Nadie que no conozca a la persona cuidada sabe que usa cuatro pañales al día.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p4"/>
          <p:cNvSpPr txBox="1"/>
          <p:nvPr/>
        </p:nvSpPr>
        <p:spPr>
          <a:xfrm>
            <a:off x="731520" y="6263640"/>
            <a:ext cx="106984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A6661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5A6661"/>
                </a:solidFill>
                <a:latin typeface="Calibri"/>
                <a:ea typeface="Calibri"/>
                <a:cs typeface="Calibri"/>
                <a:sym typeface="Calibri"/>
              </a:rPr>
              <a:t>Jorge  ·  55 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5"/>
          <p:cNvSpPr txBox="1"/>
          <p:nvPr/>
        </p:nvSpPr>
        <p:spPr>
          <a:xfrm>
            <a:off x="731520" y="457200"/>
            <a:ext cx="106984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75B2B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C75B2B"/>
                </a:solidFill>
                <a:latin typeface="Calibri"/>
                <a:ea typeface="Calibri"/>
                <a:cs typeface="Calibri"/>
                <a:sym typeface="Calibri"/>
              </a:rPr>
              <a:t>INGENIERÍA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5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8211E"/>
              </a:buClr>
              <a:buSzPts val="3400"/>
              <a:buFont typeface="Cambria"/>
              <a:buNone/>
            </a:pPr>
            <a:r>
              <a:rPr b="1" i="0" lang="en-US" sz="3400" u="none" cap="none" strike="noStrike">
                <a:solidFill>
                  <a:srgbClr val="18211E"/>
                </a:solidFill>
                <a:latin typeface="Cambria"/>
                <a:ea typeface="Cambria"/>
                <a:cs typeface="Cambria"/>
                <a:sym typeface="Cambria"/>
              </a:rPr>
              <a:t>Cuatro decisiones que sostienen el diseño</a:t>
            </a:r>
            <a:endParaRPr b="0" i="0" sz="3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5"/>
          <p:cNvSpPr/>
          <p:nvPr/>
        </p:nvSpPr>
        <p:spPr>
          <a:xfrm>
            <a:off x="731520" y="1874520"/>
            <a:ext cx="5120640" cy="1828800"/>
          </a:xfrm>
          <a:prstGeom prst="roundRect">
            <a:avLst>
              <a:gd fmla="val 5000" name="adj"/>
            </a:avLst>
          </a:prstGeom>
          <a:solidFill>
            <a:srgbClr val="EEF3F1"/>
          </a:solidFill>
          <a:ln>
            <a:noFill/>
          </a:ln>
          <a:effectLst>
            <a:outerShdw blurRad="152400" rotWithShape="0" algn="bl" dir="5400000" dist="254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5"/>
          <p:cNvSpPr/>
          <p:nvPr/>
        </p:nvSpPr>
        <p:spPr>
          <a:xfrm>
            <a:off x="1051560" y="2167128"/>
            <a:ext cx="384048" cy="384048"/>
          </a:xfrm>
          <a:prstGeom prst="ellipse">
            <a:avLst/>
          </a:prstGeom>
          <a:solidFill>
            <a:srgbClr val="C75B2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7" name="Google Shape;107;p5"/>
          <p:cNvSpPr txBox="1"/>
          <p:nvPr/>
        </p:nvSpPr>
        <p:spPr>
          <a:xfrm>
            <a:off x="1051560" y="2167128"/>
            <a:ext cx="384048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" name="Google Shape;108;p5"/>
          <p:cNvSpPr txBox="1"/>
          <p:nvPr/>
        </p:nvSpPr>
        <p:spPr>
          <a:xfrm>
            <a:off x="1600200" y="2176272"/>
            <a:ext cx="40233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8211E"/>
              </a:buClr>
              <a:buSzPts val="1700"/>
              <a:buFont typeface="Cambria"/>
              <a:buNone/>
            </a:pPr>
            <a:r>
              <a:rPr b="1" i="0" lang="en-US" sz="1700" u="none" cap="none" strike="noStrike">
                <a:solidFill>
                  <a:srgbClr val="18211E"/>
                </a:solidFill>
                <a:latin typeface="Cambria"/>
                <a:ea typeface="Cambria"/>
                <a:cs typeface="Cambria"/>
                <a:sym typeface="Cambria"/>
              </a:rPr>
              <a:t>Aislamiento verificable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" name="Google Shape;109;p5"/>
          <p:cNvSpPr txBox="1"/>
          <p:nvPr/>
        </p:nvSpPr>
        <p:spPr>
          <a:xfrm>
            <a:off x="1051560" y="2679192"/>
            <a:ext cx="4526280" cy="868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4000"/>
              </a:lnSpc>
              <a:spcBef>
                <a:spcPts val="0"/>
              </a:spcBef>
              <a:spcAft>
                <a:spcPts val="0"/>
              </a:spcAft>
              <a:buClr>
                <a:srgbClr val="5A6661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5A6661"/>
                </a:solidFill>
                <a:latin typeface="Calibri"/>
                <a:ea typeface="Calibri"/>
                <a:cs typeface="Calibri"/>
                <a:sym typeface="Calibri"/>
              </a:rPr>
              <a:t>Row Level Security forzado en PostgreSQL sobre tres ejes de acceso: familia, comercio y operación. Una consulta sin contexto no devuelve todo, devuelve nada.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p5"/>
          <p:cNvSpPr/>
          <p:nvPr/>
        </p:nvSpPr>
        <p:spPr>
          <a:xfrm>
            <a:off x="6309360" y="1874520"/>
            <a:ext cx="5120640" cy="1828800"/>
          </a:xfrm>
          <a:prstGeom prst="roundRect">
            <a:avLst>
              <a:gd fmla="val 5000" name="adj"/>
            </a:avLst>
          </a:prstGeom>
          <a:solidFill>
            <a:srgbClr val="EEF3F1"/>
          </a:solidFill>
          <a:ln>
            <a:noFill/>
          </a:ln>
          <a:effectLst>
            <a:outerShdw blurRad="152400" rotWithShape="0" algn="bl" dir="5400000" dist="254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5"/>
          <p:cNvSpPr/>
          <p:nvPr/>
        </p:nvSpPr>
        <p:spPr>
          <a:xfrm>
            <a:off x="6629400" y="2167128"/>
            <a:ext cx="384048" cy="384048"/>
          </a:xfrm>
          <a:prstGeom prst="ellipse">
            <a:avLst/>
          </a:prstGeom>
          <a:solidFill>
            <a:srgbClr val="1F3A3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5"/>
          <p:cNvSpPr txBox="1"/>
          <p:nvPr/>
        </p:nvSpPr>
        <p:spPr>
          <a:xfrm>
            <a:off x="6629400" y="2167128"/>
            <a:ext cx="384048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5"/>
          <p:cNvSpPr txBox="1"/>
          <p:nvPr/>
        </p:nvSpPr>
        <p:spPr>
          <a:xfrm>
            <a:off x="7178040" y="2176272"/>
            <a:ext cx="40233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8211E"/>
              </a:buClr>
              <a:buSzPts val="1700"/>
              <a:buFont typeface="Cambria"/>
              <a:buNone/>
            </a:pPr>
            <a:r>
              <a:rPr b="1" i="0" lang="en-US" sz="1700" u="none" cap="none" strike="noStrike">
                <a:solidFill>
                  <a:srgbClr val="18211E"/>
                </a:solidFill>
                <a:latin typeface="Cambria"/>
                <a:ea typeface="Cambria"/>
                <a:cs typeface="Cambria"/>
                <a:sym typeface="Cambria"/>
              </a:rPr>
              <a:t>Dato sensible cifrado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5"/>
          <p:cNvSpPr txBox="1"/>
          <p:nvPr/>
        </p:nvSpPr>
        <p:spPr>
          <a:xfrm>
            <a:off x="6629400" y="2679192"/>
            <a:ext cx="4526280" cy="868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4000"/>
              </a:lnSpc>
              <a:spcBef>
                <a:spcPts val="0"/>
              </a:spcBef>
              <a:spcAft>
                <a:spcPts val="0"/>
              </a:spcAft>
              <a:buClr>
                <a:srgbClr val="5A6661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5A6661"/>
                </a:solidFill>
                <a:latin typeface="Calibri"/>
                <a:ea typeface="Calibri"/>
                <a:cs typeface="Calibri"/>
                <a:sym typeface="Calibri"/>
              </a:rPr>
              <a:t>Cifrado por sobre con una clave por persona cuidada, lo que permite eliminación efectiva. Alineado con la Ley 21.719, vigente desde diciembre de 2026.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5"/>
          <p:cNvSpPr/>
          <p:nvPr/>
        </p:nvSpPr>
        <p:spPr>
          <a:xfrm>
            <a:off x="731520" y="3977640"/>
            <a:ext cx="5120640" cy="1828800"/>
          </a:xfrm>
          <a:prstGeom prst="roundRect">
            <a:avLst>
              <a:gd fmla="val 5000" name="adj"/>
            </a:avLst>
          </a:prstGeom>
          <a:solidFill>
            <a:srgbClr val="EEF3F1"/>
          </a:solidFill>
          <a:ln>
            <a:noFill/>
          </a:ln>
          <a:effectLst>
            <a:outerShdw blurRad="152400" rotWithShape="0" algn="bl" dir="5400000" dist="254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6" name="Google Shape;116;p5"/>
          <p:cNvSpPr/>
          <p:nvPr/>
        </p:nvSpPr>
        <p:spPr>
          <a:xfrm>
            <a:off x="1051560" y="4270248"/>
            <a:ext cx="384048" cy="384048"/>
          </a:xfrm>
          <a:prstGeom prst="ellipse">
            <a:avLst/>
          </a:prstGeom>
          <a:solidFill>
            <a:srgbClr val="C75B2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"/>
          <p:cNvSpPr txBox="1"/>
          <p:nvPr/>
        </p:nvSpPr>
        <p:spPr>
          <a:xfrm>
            <a:off x="1051560" y="4270248"/>
            <a:ext cx="384048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5"/>
          <p:cNvSpPr txBox="1"/>
          <p:nvPr/>
        </p:nvSpPr>
        <p:spPr>
          <a:xfrm>
            <a:off x="1600200" y="4279392"/>
            <a:ext cx="40233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8211E"/>
              </a:buClr>
              <a:buSzPts val="1700"/>
              <a:buFont typeface="Cambria"/>
              <a:buNone/>
            </a:pPr>
            <a:r>
              <a:rPr b="1" i="0" lang="en-US" sz="1700" u="none" cap="none" strike="noStrike">
                <a:solidFill>
                  <a:srgbClr val="18211E"/>
                </a:solidFill>
                <a:latin typeface="Cambria"/>
                <a:ea typeface="Cambria"/>
                <a:cs typeface="Cambria"/>
                <a:sym typeface="Cambria"/>
              </a:rPr>
              <a:t>Pago dividido, sin reembolsos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5"/>
          <p:cNvSpPr txBox="1"/>
          <p:nvPr/>
        </p:nvSpPr>
        <p:spPr>
          <a:xfrm>
            <a:off x="1051560" y="4782312"/>
            <a:ext cx="4526280" cy="868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4000"/>
              </a:lnSpc>
              <a:spcBef>
                <a:spcPts val="0"/>
              </a:spcBef>
              <a:spcAft>
                <a:spcPts val="0"/>
              </a:spcAft>
              <a:buClr>
                <a:srgbClr val="5A6661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5A6661"/>
                </a:solidFill>
                <a:latin typeface="Calibri"/>
                <a:ea typeface="Calibri"/>
                <a:cs typeface="Calibri"/>
                <a:sym typeface="Calibri"/>
              </a:rPr>
              <a:t>Ninguna pasarela chilena divide un pago. Se orquesta con autorización diferida y captura por el monto real, con prorrateo en aritmética entera y pagador de respaldo.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5"/>
          <p:cNvSpPr/>
          <p:nvPr/>
        </p:nvSpPr>
        <p:spPr>
          <a:xfrm>
            <a:off x="6309360" y="3977640"/>
            <a:ext cx="5120640" cy="1828800"/>
          </a:xfrm>
          <a:prstGeom prst="roundRect">
            <a:avLst>
              <a:gd fmla="val 5000" name="adj"/>
            </a:avLst>
          </a:prstGeom>
          <a:solidFill>
            <a:srgbClr val="EEF3F1"/>
          </a:solidFill>
          <a:ln>
            <a:noFill/>
          </a:ln>
          <a:effectLst>
            <a:outerShdw blurRad="152400" rotWithShape="0" algn="bl" dir="5400000" dist="254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"/>
          <p:cNvSpPr/>
          <p:nvPr/>
        </p:nvSpPr>
        <p:spPr>
          <a:xfrm>
            <a:off x="6629400" y="4270248"/>
            <a:ext cx="384048" cy="384048"/>
          </a:xfrm>
          <a:prstGeom prst="ellipse">
            <a:avLst/>
          </a:prstGeom>
          <a:solidFill>
            <a:srgbClr val="1F3A3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2" name="Google Shape;122;p5"/>
          <p:cNvSpPr txBox="1"/>
          <p:nvPr/>
        </p:nvSpPr>
        <p:spPr>
          <a:xfrm>
            <a:off x="6629400" y="4270248"/>
            <a:ext cx="384048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p5"/>
          <p:cNvSpPr txBox="1"/>
          <p:nvPr/>
        </p:nvSpPr>
        <p:spPr>
          <a:xfrm>
            <a:off x="7178040" y="4279392"/>
            <a:ext cx="40233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8211E"/>
              </a:buClr>
              <a:buSzPts val="1700"/>
              <a:buFont typeface="Cambria"/>
              <a:buNone/>
            </a:pPr>
            <a:r>
              <a:rPr b="1" i="0" lang="en-US" sz="1700" u="none" cap="none" strike="noStrike">
                <a:solidFill>
                  <a:srgbClr val="18211E"/>
                </a:solidFill>
                <a:latin typeface="Cambria"/>
                <a:ea typeface="Cambria"/>
                <a:cs typeface="Cambria"/>
                <a:sym typeface="Cambria"/>
              </a:rPr>
              <a:t>Despacho desacoplable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5"/>
          <p:cNvSpPr txBox="1"/>
          <p:nvPr/>
        </p:nvSpPr>
        <p:spPr>
          <a:xfrm>
            <a:off x="6629400" y="4782312"/>
            <a:ext cx="4526280" cy="868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4000"/>
              </a:lnSpc>
              <a:spcBef>
                <a:spcPts val="0"/>
              </a:spcBef>
              <a:spcAft>
                <a:spcPts val="0"/>
              </a:spcAft>
              <a:buClr>
                <a:srgbClr val="5A6661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5A6661"/>
                </a:solidFill>
                <a:latin typeface="Calibri"/>
                <a:ea typeface="Calibri"/>
                <a:cs typeface="Calibri"/>
                <a:sym typeface="Calibri"/>
              </a:rPr>
              <a:t>Las dependencias apuntan solo hacia abajo. Una prueba automatizada verifica que el sistema arranca y sirve sin la capa de despacho.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5"/>
          <p:cNvSpPr txBox="1"/>
          <p:nvPr/>
        </p:nvSpPr>
        <p:spPr>
          <a:xfrm>
            <a:off x="731520" y="6263640"/>
            <a:ext cx="106984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A6661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5A6661"/>
                </a:solidFill>
                <a:latin typeface="Calibri"/>
                <a:ea typeface="Calibri"/>
                <a:cs typeface="Calibri"/>
                <a:sym typeface="Calibri"/>
              </a:rPr>
              <a:t>Martín  ·  40 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"/>
          <p:cNvSpPr txBox="1"/>
          <p:nvPr/>
        </p:nvSpPr>
        <p:spPr>
          <a:xfrm>
            <a:off x="731520" y="457200"/>
            <a:ext cx="106984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75B2B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C75B2B"/>
                </a:solidFill>
                <a:latin typeface="Calibri"/>
                <a:ea typeface="Calibri"/>
                <a:cs typeface="Calibri"/>
                <a:sym typeface="Calibri"/>
              </a:rPr>
              <a:t>METODOLOGÍA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6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8211E"/>
              </a:buClr>
              <a:buSzPts val="3400"/>
              <a:buFont typeface="Cambria"/>
              <a:buNone/>
            </a:pPr>
            <a:r>
              <a:rPr b="1" i="0" lang="en-US" sz="3400" u="none" cap="none" strike="noStrike">
                <a:solidFill>
                  <a:srgbClr val="18211E"/>
                </a:solidFill>
                <a:latin typeface="Cambria"/>
                <a:ea typeface="Cambria"/>
                <a:cs typeface="Cambria"/>
                <a:sym typeface="Cambria"/>
              </a:rPr>
              <a:t>Scrum en sprints de una semana, con reparto por ejes verticales</a:t>
            </a:r>
            <a:endParaRPr b="0" i="0" sz="3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6"/>
          <p:cNvSpPr/>
          <p:nvPr/>
        </p:nvSpPr>
        <p:spPr>
          <a:xfrm>
            <a:off x="731520" y="1874520"/>
            <a:ext cx="5120640" cy="2743200"/>
          </a:xfrm>
          <a:prstGeom prst="roundRect">
            <a:avLst>
              <a:gd fmla="val 3333" name="adj"/>
            </a:avLst>
          </a:prstGeom>
          <a:solidFill>
            <a:srgbClr val="EEF3F1"/>
          </a:solidFill>
          <a:ln>
            <a:noFill/>
          </a:ln>
          <a:effectLst>
            <a:outerShdw blurRad="152400" rotWithShape="0" algn="bl" dir="5400000" dist="254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4" name="Google Shape;134;p6"/>
          <p:cNvSpPr txBox="1"/>
          <p:nvPr/>
        </p:nvSpPr>
        <p:spPr>
          <a:xfrm>
            <a:off x="1051560" y="2103120"/>
            <a:ext cx="452628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8211E"/>
              </a:buClr>
              <a:buSzPts val="2000"/>
              <a:buFont typeface="Cambria"/>
              <a:buNone/>
            </a:pPr>
            <a:r>
              <a:rPr b="1" i="0" lang="en-US" sz="2000" u="none" cap="none" strike="noStrike">
                <a:solidFill>
                  <a:srgbClr val="18211E"/>
                </a:solidFill>
                <a:latin typeface="Cambria"/>
                <a:ea typeface="Cambria"/>
                <a:cs typeface="Cambria"/>
                <a:sym typeface="Cambria"/>
              </a:rPr>
              <a:t>Jorge Espinoza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6"/>
          <p:cNvSpPr txBox="1"/>
          <p:nvPr/>
        </p:nvSpPr>
        <p:spPr>
          <a:xfrm>
            <a:off x="1051560" y="2487168"/>
            <a:ext cx="4526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75B2B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C75B2B"/>
                </a:solidFill>
                <a:latin typeface="Calibri"/>
                <a:ea typeface="Calibri"/>
                <a:cs typeface="Calibri"/>
                <a:sym typeface="Calibri"/>
              </a:rPr>
              <a:t>Product Owner · Eje A  ·  Cuidado y consumo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6"/>
          <p:cNvSpPr txBox="1"/>
          <p:nvPr/>
        </p:nvSpPr>
        <p:spPr>
          <a:xfrm>
            <a:off x="1051560" y="2871216"/>
            <a:ext cx="45262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54545"/>
              </a:lnSpc>
              <a:spcBef>
                <a:spcPts val="0"/>
              </a:spcBef>
              <a:spcAft>
                <a:spcPts val="0"/>
              </a:spcAft>
              <a:buClr>
                <a:srgbClr val="18211E"/>
              </a:buClr>
              <a:buSzPts val="1100"/>
              <a:buFont typeface="Consolas"/>
              <a:buNone/>
            </a:pPr>
            <a:r>
              <a:rPr b="0" i="0" lang="en-US" sz="1100" u="none" cap="none" strike="noStrike">
                <a:solidFill>
                  <a:srgbClr val="18211E"/>
                </a:solidFill>
                <a:latin typeface="Consolas"/>
                <a:ea typeface="Consolas"/>
                <a:cs typeface="Consolas"/>
                <a:sym typeface="Consolas"/>
              </a:rPr>
              <a:t>care_plan · consumption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54545"/>
              </a:lnSpc>
              <a:spcBef>
                <a:spcPts val="0"/>
              </a:spcBef>
              <a:spcAft>
                <a:spcPts val="0"/>
              </a:spcAft>
              <a:buClr>
                <a:srgbClr val="18211E"/>
              </a:buClr>
              <a:buSzPts val="1100"/>
              <a:buFont typeface="Consolas"/>
              <a:buNone/>
            </a:pPr>
            <a:r>
              <a:rPr b="0" i="0" lang="en-US" sz="1100" u="none" cap="none" strike="noStrike">
                <a:solidFill>
                  <a:srgbClr val="18211E"/>
                </a:solidFill>
                <a:latin typeface="Consolas"/>
                <a:ea typeface="Consolas"/>
                <a:cs typeface="Consolas"/>
                <a:sym typeface="Consolas"/>
              </a:rPr>
              <a:t>catalog · replenishment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p6"/>
          <p:cNvSpPr txBox="1"/>
          <p:nvPr/>
        </p:nvSpPr>
        <p:spPr>
          <a:xfrm>
            <a:off x="1051560" y="3566160"/>
            <a:ext cx="4526280" cy="868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4000"/>
              </a:lnSpc>
              <a:spcBef>
                <a:spcPts val="0"/>
              </a:spcBef>
              <a:spcAft>
                <a:spcPts val="0"/>
              </a:spcAft>
              <a:buClr>
                <a:srgbClr val="5A6661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5A6661"/>
                </a:solidFill>
                <a:latin typeface="Calibri"/>
                <a:ea typeface="Calibri"/>
                <a:cs typeface="Calibri"/>
                <a:sym typeface="Calibri"/>
              </a:rPr>
              <a:t>Backlog, validación con cuidadores, diseño de interacción y accesibilidad.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6"/>
          <p:cNvSpPr/>
          <p:nvPr/>
        </p:nvSpPr>
        <p:spPr>
          <a:xfrm>
            <a:off x="6309360" y="1874520"/>
            <a:ext cx="5120640" cy="2743200"/>
          </a:xfrm>
          <a:prstGeom prst="roundRect">
            <a:avLst>
              <a:gd fmla="val 3333" name="adj"/>
            </a:avLst>
          </a:prstGeom>
          <a:solidFill>
            <a:srgbClr val="EEF3F1"/>
          </a:solidFill>
          <a:ln>
            <a:noFill/>
          </a:ln>
          <a:effectLst>
            <a:outerShdw blurRad="152400" rotWithShape="0" algn="bl" dir="5400000" dist="254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6"/>
          <p:cNvSpPr txBox="1"/>
          <p:nvPr/>
        </p:nvSpPr>
        <p:spPr>
          <a:xfrm>
            <a:off x="6629400" y="2103120"/>
            <a:ext cx="452628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8211E"/>
              </a:buClr>
              <a:buSzPts val="2000"/>
              <a:buFont typeface="Cambria"/>
              <a:buNone/>
            </a:pPr>
            <a:r>
              <a:rPr b="1" i="0" lang="en-US" sz="2000" u="none" cap="none" strike="noStrike">
                <a:solidFill>
                  <a:srgbClr val="18211E"/>
                </a:solidFill>
                <a:latin typeface="Cambria"/>
                <a:ea typeface="Cambria"/>
                <a:cs typeface="Cambria"/>
                <a:sym typeface="Cambria"/>
              </a:rPr>
              <a:t>Martín Henríquez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6"/>
          <p:cNvSpPr txBox="1"/>
          <p:nvPr/>
        </p:nvSpPr>
        <p:spPr>
          <a:xfrm>
            <a:off x="6629400" y="2487168"/>
            <a:ext cx="4526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3A34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1F3A34"/>
                </a:solidFill>
                <a:latin typeface="Calibri"/>
                <a:ea typeface="Calibri"/>
                <a:cs typeface="Calibri"/>
                <a:sym typeface="Calibri"/>
              </a:rPr>
              <a:t>Scrum Master · Eje B  ·  Identidad, dinero y operación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6"/>
          <p:cNvSpPr txBox="1"/>
          <p:nvPr/>
        </p:nvSpPr>
        <p:spPr>
          <a:xfrm>
            <a:off x="6629400" y="2871216"/>
            <a:ext cx="45262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54545"/>
              </a:lnSpc>
              <a:spcBef>
                <a:spcPts val="0"/>
              </a:spcBef>
              <a:spcAft>
                <a:spcPts val="0"/>
              </a:spcAft>
              <a:buClr>
                <a:srgbClr val="18211E"/>
              </a:buClr>
              <a:buSzPts val="1100"/>
              <a:buFont typeface="Consolas"/>
              <a:buNone/>
            </a:pPr>
            <a:r>
              <a:rPr b="0" i="0" lang="en-US" sz="1100" u="none" cap="none" strike="noStrike">
                <a:solidFill>
                  <a:srgbClr val="18211E"/>
                </a:solidFill>
                <a:latin typeface="Consolas"/>
                <a:ea typeface="Consolas"/>
                <a:cs typeface="Consolas"/>
                <a:sym typeface="Consolas"/>
              </a:rPr>
              <a:t>iam · care_circle · ordering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54545"/>
              </a:lnSpc>
              <a:spcBef>
                <a:spcPts val="0"/>
              </a:spcBef>
              <a:spcAft>
                <a:spcPts val="0"/>
              </a:spcAft>
              <a:buClr>
                <a:srgbClr val="18211E"/>
              </a:buClr>
              <a:buSzPts val="1100"/>
              <a:buFont typeface="Consolas"/>
              <a:buNone/>
            </a:pPr>
            <a:r>
              <a:rPr b="0" i="0" lang="en-US" sz="1100" u="none" cap="none" strike="noStrike">
                <a:solidFill>
                  <a:srgbClr val="18211E"/>
                </a:solidFill>
                <a:latin typeface="Consolas"/>
                <a:ea typeface="Consolas"/>
                <a:cs typeface="Consolas"/>
                <a:sym typeface="Consolas"/>
              </a:rPr>
              <a:t>payments · settlement · backoffice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6"/>
          <p:cNvSpPr txBox="1"/>
          <p:nvPr/>
        </p:nvSpPr>
        <p:spPr>
          <a:xfrm>
            <a:off x="6629400" y="3566160"/>
            <a:ext cx="4526280" cy="868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4000"/>
              </a:lnSpc>
              <a:spcBef>
                <a:spcPts val="0"/>
              </a:spcBef>
              <a:spcAft>
                <a:spcPts val="0"/>
              </a:spcAft>
              <a:buClr>
                <a:srgbClr val="5A6661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5A6661"/>
                </a:solidFill>
                <a:latin typeface="Calibri"/>
                <a:ea typeface="Calibri"/>
                <a:cs typeface="Calibri"/>
                <a:sym typeface="Calibri"/>
              </a:rPr>
              <a:t>Integración con Transbank, pipeline de integración continua, ceremonias.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" name="Google Shape;143;p6"/>
          <p:cNvSpPr/>
          <p:nvPr/>
        </p:nvSpPr>
        <p:spPr>
          <a:xfrm>
            <a:off x="731520" y="4892040"/>
            <a:ext cx="10698480" cy="1051560"/>
          </a:xfrm>
          <a:prstGeom prst="roundRect">
            <a:avLst>
              <a:gd fmla="val 8696" name="adj"/>
            </a:avLst>
          </a:prstGeom>
          <a:solidFill>
            <a:srgbClr val="18211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6"/>
          <p:cNvSpPr txBox="1"/>
          <p:nvPr/>
        </p:nvSpPr>
        <p:spPr>
          <a:xfrm>
            <a:off x="1005840" y="5193792"/>
            <a:ext cx="101498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FB3A6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8FB3A6"/>
                </a:solidFill>
                <a:latin typeface="Calibri"/>
                <a:ea typeface="Calibri"/>
                <a:cs typeface="Calibri"/>
                <a:sym typeface="Calibri"/>
              </a:rPr>
              <a:t>Capacidad declarada: </a:t>
            </a:r>
            <a: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15 h por persona a la semana, 390 h en el semestre.  El alcance estimado sumaba 414 h, así que recortamos 41 h.  Comprometemos 373 h.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6"/>
          <p:cNvSpPr txBox="1"/>
          <p:nvPr/>
        </p:nvSpPr>
        <p:spPr>
          <a:xfrm>
            <a:off x="731520" y="6263640"/>
            <a:ext cx="106984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A6661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5A6661"/>
                </a:solidFill>
                <a:latin typeface="Calibri"/>
                <a:ea typeface="Calibri"/>
                <a:cs typeface="Calibri"/>
                <a:sym typeface="Calibri"/>
              </a:rPr>
              <a:t>Martín  ·  40 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7"/>
          <p:cNvSpPr txBox="1"/>
          <p:nvPr/>
        </p:nvSpPr>
        <p:spPr>
          <a:xfrm>
            <a:off x="731520" y="457200"/>
            <a:ext cx="106984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75B2B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C75B2B"/>
                </a:solidFill>
                <a:latin typeface="Calibri"/>
                <a:ea typeface="Calibri"/>
                <a:cs typeface="Calibri"/>
                <a:sym typeface="Calibri"/>
              </a:rPr>
              <a:t>PLAN DE TRABAJO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7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8211E"/>
              </a:buClr>
              <a:buSzPts val="3400"/>
              <a:buFont typeface="Cambria"/>
              <a:buNone/>
            </a:pPr>
            <a:r>
              <a:rPr b="1" i="0" lang="en-US" sz="3400" u="none" cap="none" strike="noStrike">
                <a:solidFill>
                  <a:srgbClr val="18211E"/>
                </a:solidFill>
                <a:latin typeface="Cambria"/>
                <a:ea typeface="Cambria"/>
                <a:cs typeface="Cambria"/>
                <a:sym typeface="Cambria"/>
              </a:rPr>
              <a:t>Dieciocho semanas, con producto demostrable en la tercera</a:t>
            </a:r>
            <a:endParaRPr b="0" i="0" sz="3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p7"/>
          <p:cNvSpPr/>
          <p:nvPr/>
        </p:nvSpPr>
        <p:spPr>
          <a:xfrm>
            <a:off x="731520" y="2011680"/>
            <a:ext cx="3352800" cy="457200"/>
          </a:xfrm>
          <a:prstGeom prst="roundRect">
            <a:avLst>
              <a:gd fmla="val 16000" name="adj"/>
            </a:avLst>
          </a:prstGeom>
          <a:solidFill>
            <a:srgbClr val="C75B2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7"/>
          <p:cNvSpPr txBox="1"/>
          <p:nvPr/>
        </p:nvSpPr>
        <p:spPr>
          <a:xfrm>
            <a:off x="731520" y="2011680"/>
            <a:ext cx="3352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Fase 1  ·  Semanas 1 a 4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" name="Google Shape;155;p7"/>
          <p:cNvSpPr/>
          <p:nvPr/>
        </p:nvSpPr>
        <p:spPr>
          <a:xfrm>
            <a:off x="731520" y="2578608"/>
            <a:ext cx="3352800" cy="1965960"/>
          </a:xfrm>
          <a:prstGeom prst="roundRect">
            <a:avLst>
              <a:gd fmla="val 4651" name="adj"/>
            </a:avLst>
          </a:prstGeom>
          <a:solidFill>
            <a:srgbClr val="EEF3F1"/>
          </a:solidFill>
          <a:ln>
            <a:noFill/>
          </a:ln>
          <a:effectLst>
            <a:outerShdw blurRad="152400" rotWithShape="0" algn="bl" dir="5400000" dist="254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6" name="Google Shape;156;p7"/>
          <p:cNvSpPr txBox="1"/>
          <p:nvPr/>
        </p:nvSpPr>
        <p:spPr>
          <a:xfrm>
            <a:off x="1005840" y="2788920"/>
            <a:ext cx="28041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8211E"/>
              </a:buClr>
              <a:buSzPts val="1900"/>
              <a:buFont typeface="Cambria"/>
              <a:buNone/>
            </a:pPr>
            <a:r>
              <a:rPr b="1" i="0" lang="en-US" sz="1900" u="none" cap="none" strike="noStrike">
                <a:solidFill>
                  <a:srgbClr val="18211E"/>
                </a:solidFill>
                <a:latin typeface="Cambria"/>
                <a:ea typeface="Cambria"/>
                <a:cs typeface="Cambria"/>
                <a:sym typeface="Cambria"/>
              </a:rPr>
              <a:t>Definición</a:t>
            </a:r>
            <a:endParaRPr b="0" i="0" sz="1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p7"/>
          <p:cNvSpPr txBox="1"/>
          <p:nvPr/>
        </p:nvSpPr>
        <p:spPr>
          <a:xfrm>
            <a:off x="1005840" y="3310128"/>
            <a:ext cx="280416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5A6661"/>
              </a:buClr>
              <a:buSzPts val="1250"/>
              <a:buFont typeface="Calibri"/>
              <a:buChar char="•"/>
            </a:pPr>
            <a:r>
              <a:rPr b="0" i="0" lang="en-US" sz="1250" u="none" cap="none" strike="noStrike">
                <a:solidFill>
                  <a:srgbClr val="5A6661"/>
                </a:solidFill>
                <a:latin typeface="Calibri"/>
                <a:ea typeface="Calibri"/>
                <a:cs typeface="Calibri"/>
                <a:sym typeface="Calibri"/>
              </a:rPr>
              <a:t>Arquitectura y prototipo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700"/>
              </a:spcBef>
              <a:spcAft>
                <a:spcPts val="0"/>
              </a:spcAft>
              <a:buClr>
                <a:srgbClr val="5A6661"/>
              </a:buClr>
              <a:buSzPts val="1250"/>
              <a:buFont typeface="Calibri"/>
              <a:buChar char="•"/>
            </a:pPr>
            <a:r>
              <a:rPr b="0" i="0" lang="en-US" sz="1250" u="none" cap="none" strike="noStrike">
                <a:solidFill>
                  <a:srgbClr val="5A6661"/>
                </a:solidFill>
                <a:latin typeface="Calibri"/>
                <a:ea typeface="Calibri"/>
                <a:cs typeface="Calibri"/>
                <a:sym typeface="Calibri"/>
              </a:rPr>
              <a:t>Validación con 10 cuidadores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700"/>
              </a:spcBef>
              <a:spcAft>
                <a:spcPts val="0"/>
              </a:spcAft>
              <a:buClr>
                <a:srgbClr val="5A6661"/>
              </a:buClr>
              <a:buSzPts val="1250"/>
              <a:buFont typeface="Calibri"/>
              <a:buChar char="•"/>
            </a:pPr>
            <a:r>
              <a:rPr b="0" i="0" lang="en-US" sz="1250" u="none" cap="none" strike="noStrike">
                <a:solidFill>
                  <a:srgbClr val="5A6661"/>
                </a:solidFill>
                <a:latin typeface="Calibri"/>
                <a:ea typeface="Calibri"/>
                <a:cs typeface="Calibri"/>
                <a:sym typeface="Calibri"/>
              </a:rPr>
              <a:t>Prueba de concepto de pagos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" name="Google Shape;158;p7"/>
          <p:cNvSpPr/>
          <p:nvPr/>
        </p:nvSpPr>
        <p:spPr>
          <a:xfrm>
            <a:off x="4404360" y="2011680"/>
            <a:ext cx="3352800" cy="457200"/>
          </a:xfrm>
          <a:prstGeom prst="roundRect">
            <a:avLst>
              <a:gd fmla="val 16000" name="adj"/>
            </a:avLst>
          </a:prstGeom>
          <a:solidFill>
            <a:srgbClr val="6E9C8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7"/>
          <p:cNvSpPr txBox="1"/>
          <p:nvPr/>
        </p:nvSpPr>
        <p:spPr>
          <a:xfrm>
            <a:off x="4404360" y="2011680"/>
            <a:ext cx="3352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Fase 2  ·  Semanas 5 a 16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" name="Google Shape;160;p7"/>
          <p:cNvSpPr/>
          <p:nvPr/>
        </p:nvSpPr>
        <p:spPr>
          <a:xfrm>
            <a:off x="4404360" y="2578608"/>
            <a:ext cx="3352800" cy="1965960"/>
          </a:xfrm>
          <a:prstGeom prst="roundRect">
            <a:avLst>
              <a:gd fmla="val 4651" name="adj"/>
            </a:avLst>
          </a:prstGeom>
          <a:solidFill>
            <a:srgbClr val="EEF3F1"/>
          </a:solidFill>
          <a:ln>
            <a:noFill/>
          </a:ln>
          <a:effectLst>
            <a:outerShdw blurRad="152400" rotWithShape="0" algn="bl" dir="5400000" dist="254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1" name="Google Shape;161;p7"/>
          <p:cNvSpPr txBox="1"/>
          <p:nvPr/>
        </p:nvSpPr>
        <p:spPr>
          <a:xfrm>
            <a:off x="4678680" y="2788920"/>
            <a:ext cx="28041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8211E"/>
              </a:buClr>
              <a:buSzPts val="1900"/>
              <a:buFont typeface="Cambria"/>
              <a:buNone/>
            </a:pPr>
            <a:r>
              <a:rPr b="1" i="0" lang="en-US" sz="1900" u="none" cap="none" strike="noStrike">
                <a:solidFill>
                  <a:srgbClr val="18211E"/>
                </a:solidFill>
                <a:latin typeface="Cambria"/>
                <a:ea typeface="Cambria"/>
                <a:cs typeface="Cambria"/>
                <a:sym typeface="Cambria"/>
              </a:rPr>
              <a:t>Construcción</a:t>
            </a:r>
            <a:endParaRPr b="0" i="0" sz="1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7"/>
          <p:cNvSpPr txBox="1"/>
          <p:nvPr/>
        </p:nvSpPr>
        <p:spPr>
          <a:xfrm>
            <a:off x="4678680" y="3310128"/>
            <a:ext cx="280416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5A6661"/>
              </a:buClr>
              <a:buSzPts val="1250"/>
              <a:buFont typeface="Calibri"/>
              <a:buChar char="•"/>
            </a:pPr>
            <a:r>
              <a:rPr b="0" i="0" lang="en-US" sz="1250" u="none" cap="none" strike="noStrike">
                <a:solidFill>
                  <a:srgbClr val="5A6661"/>
                </a:solidFill>
                <a:latin typeface="Calibri"/>
                <a:ea typeface="Calibri"/>
                <a:cs typeface="Calibri"/>
                <a:sym typeface="Calibri"/>
              </a:rPr>
              <a:t>Modelo de datos y aislamiento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700"/>
              </a:spcBef>
              <a:spcAft>
                <a:spcPts val="0"/>
              </a:spcAft>
              <a:buClr>
                <a:srgbClr val="5A6661"/>
              </a:buClr>
              <a:buSzPts val="1250"/>
              <a:buFont typeface="Calibri"/>
              <a:buChar char="•"/>
            </a:pPr>
            <a:r>
              <a:rPr b="0" i="0" lang="en-US" sz="1250" u="none" cap="none" strike="noStrike">
                <a:solidFill>
                  <a:srgbClr val="5A6661"/>
                </a:solidFill>
                <a:latin typeface="Calibri"/>
                <a:ea typeface="Calibri"/>
                <a:cs typeface="Calibri"/>
                <a:sym typeface="Calibri"/>
              </a:rPr>
              <a:t>Capa 1, capa 2 y capa 3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700"/>
              </a:spcBef>
              <a:spcAft>
                <a:spcPts val="0"/>
              </a:spcAft>
              <a:buClr>
                <a:srgbClr val="5A6661"/>
              </a:buClr>
              <a:buSzPts val="1250"/>
              <a:buFont typeface="Calibri"/>
              <a:buChar char="•"/>
            </a:pPr>
            <a:r>
              <a:rPr b="0" i="0" lang="en-US" sz="1250" u="none" cap="none" strike="noStrike">
                <a:solidFill>
                  <a:srgbClr val="5A6661"/>
                </a:solidFill>
                <a:latin typeface="Calibri"/>
                <a:ea typeface="Calibri"/>
                <a:cs typeface="Calibri"/>
                <a:sym typeface="Calibri"/>
              </a:rPr>
              <a:t>Pruebas de usabilidad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7"/>
          <p:cNvSpPr/>
          <p:nvPr/>
        </p:nvSpPr>
        <p:spPr>
          <a:xfrm>
            <a:off x="8077200" y="2011680"/>
            <a:ext cx="3352800" cy="457200"/>
          </a:xfrm>
          <a:prstGeom prst="roundRect">
            <a:avLst>
              <a:gd fmla="val 16000" name="adj"/>
            </a:avLst>
          </a:prstGeom>
          <a:solidFill>
            <a:srgbClr val="1F3A3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4" name="Google Shape;164;p7"/>
          <p:cNvSpPr txBox="1"/>
          <p:nvPr/>
        </p:nvSpPr>
        <p:spPr>
          <a:xfrm>
            <a:off x="8077200" y="2011680"/>
            <a:ext cx="3352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Fase 3  ·  Semanas 17 y 18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7"/>
          <p:cNvSpPr/>
          <p:nvPr/>
        </p:nvSpPr>
        <p:spPr>
          <a:xfrm>
            <a:off x="8077200" y="2578608"/>
            <a:ext cx="3352800" cy="1965960"/>
          </a:xfrm>
          <a:prstGeom prst="roundRect">
            <a:avLst>
              <a:gd fmla="val 4651" name="adj"/>
            </a:avLst>
          </a:prstGeom>
          <a:solidFill>
            <a:srgbClr val="EEF3F1"/>
          </a:solidFill>
          <a:ln>
            <a:noFill/>
          </a:ln>
          <a:effectLst>
            <a:outerShdw blurRad="152400" rotWithShape="0" algn="bl" dir="5400000" dist="254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7"/>
          <p:cNvSpPr txBox="1"/>
          <p:nvPr/>
        </p:nvSpPr>
        <p:spPr>
          <a:xfrm>
            <a:off x="8351520" y="2788920"/>
            <a:ext cx="28041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8211E"/>
              </a:buClr>
              <a:buSzPts val="1900"/>
              <a:buFont typeface="Cambria"/>
              <a:buNone/>
            </a:pPr>
            <a:r>
              <a:rPr b="1" i="0" lang="en-US" sz="1900" u="none" cap="none" strike="noStrike">
                <a:solidFill>
                  <a:srgbClr val="18211E"/>
                </a:solidFill>
                <a:latin typeface="Cambria"/>
                <a:ea typeface="Cambria"/>
                <a:cs typeface="Cambria"/>
                <a:sym typeface="Cambria"/>
              </a:rPr>
              <a:t>Cierre</a:t>
            </a:r>
            <a:endParaRPr b="0" i="0" sz="1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p7"/>
          <p:cNvSpPr txBox="1"/>
          <p:nvPr/>
        </p:nvSpPr>
        <p:spPr>
          <a:xfrm>
            <a:off x="8351520" y="3310128"/>
            <a:ext cx="280416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5A6661"/>
              </a:buClr>
              <a:buSzPts val="1250"/>
              <a:buFont typeface="Calibri"/>
              <a:buChar char="•"/>
            </a:pPr>
            <a:r>
              <a:rPr b="0" i="0" lang="en-US" sz="1250" u="none" cap="none" strike="noStrike">
                <a:solidFill>
                  <a:srgbClr val="5A6661"/>
                </a:solidFill>
                <a:latin typeface="Calibri"/>
                <a:ea typeface="Calibri"/>
                <a:cs typeface="Calibri"/>
                <a:sym typeface="Calibri"/>
              </a:rPr>
              <a:t>Endurecimiento y despliegue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700"/>
              </a:spcBef>
              <a:spcAft>
                <a:spcPts val="0"/>
              </a:spcAft>
              <a:buClr>
                <a:srgbClr val="5A6661"/>
              </a:buClr>
              <a:buSzPts val="1250"/>
              <a:buFont typeface="Calibri"/>
              <a:buChar char="•"/>
            </a:pPr>
            <a:r>
              <a:rPr b="0" i="0" lang="en-US" sz="1250" u="none" cap="none" strike="noStrike">
                <a:solidFill>
                  <a:srgbClr val="5A6661"/>
                </a:solidFill>
                <a:latin typeface="Calibri"/>
                <a:ea typeface="Calibri"/>
                <a:cs typeface="Calibri"/>
                <a:sym typeface="Calibri"/>
              </a:rPr>
              <a:t>Informe final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700"/>
              </a:spcBef>
              <a:spcAft>
                <a:spcPts val="0"/>
              </a:spcAft>
              <a:buClr>
                <a:srgbClr val="5A6661"/>
              </a:buClr>
              <a:buSzPts val="1250"/>
              <a:buFont typeface="Calibri"/>
              <a:buChar char="•"/>
            </a:pPr>
            <a:r>
              <a:rPr b="0" i="0" lang="en-US" sz="1250" u="none" cap="none" strike="noStrike">
                <a:solidFill>
                  <a:srgbClr val="5A6661"/>
                </a:solidFill>
                <a:latin typeface="Calibri"/>
                <a:ea typeface="Calibri"/>
                <a:cs typeface="Calibri"/>
                <a:sym typeface="Calibri"/>
              </a:rPr>
              <a:t>Defensa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7"/>
          <p:cNvSpPr txBox="1"/>
          <p:nvPr/>
        </p:nvSpPr>
        <p:spPr>
          <a:xfrm>
            <a:off x="731520" y="4937760"/>
            <a:ext cx="1069848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75B2B"/>
              </a:buClr>
              <a:buSzPts val="1500"/>
              <a:buFont typeface="Cambria"/>
              <a:buNone/>
            </a:pPr>
            <a:r>
              <a:rPr b="1" i="1" lang="en-US" sz="1500" u="none" cap="none" strike="noStrike">
                <a:solidFill>
                  <a:srgbClr val="C75B2B"/>
                </a:solidFill>
                <a:latin typeface="Cambria"/>
                <a:ea typeface="Cambria"/>
                <a:cs typeface="Cambria"/>
                <a:sym typeface="Cambria"/>
              </a:rPr>
              <a:t>El diferenciador se demuestra en el sprint 3, no en el sprint 12: hay algo que mostrar a un cuarto del semestre.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7"/>
          <p:cNvSpPr txBox="1"/>
          <p:nvPr/>
        </p:nvSpPr>
        <p:spPr>
          <a:xfrm>
            <a:off x="731520" y="6263640"/>
            <a:ext cx="106984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A6661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5A6661"/>
                </a:solidFill>
                <a:latin typeface="Calibri"/>
                <a:ea typeface="Calibri"/>
                <a:cs typeface="Calibri"/>
                <a:sym typeface="Calibri"/>
              </a:rPr>
              <a:t>Martín  ·  45 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F3A34"/>
        </a:solidFill>
      </p:bgPr>
    </p:bg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8"/>
          <p:cNvSpPr txBox="1"/>
          <p:nvPr/>
        </p:nvSpPr>
        <p:spPr>
          <a:xfrm>
            <a:off x="822960" y="685800"/>
            <a:ext cx="10515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9B6C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E89B6C"/>
                </a:solidFill>
                <a:latin typeface="Calibri"/>
                <a:ea typeface="Calibri"/>
                <a:cs typeface="Calibri"/>
                <a:sym typeface="Calibri"/>
              </a:rPr>
              <a:t>QUÉ VAMOS A DEMOSTRAR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8"/>
          <p:cNvSpPr txBox="1"/>
          <p:nvPr/>
        </p:nvSpPr>
        <p:spPr>
          <a:xfrm>
            <a:off x="822960" y="1005840"/>
            <a:ext cx="105156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400"/>
              <a:buFont typeface="Cambria"/>
              <a:buNone/>
            </a:pPr>
            <a:r>
              <a:rPr b="1" i="0" lang="en-US" sz="34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Evidencias comprometidas</a:t>
            </a:r>
            <a:endParaRPr b="0" i="0" sz="3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" name="Google Shape;177;p8"/>
          <p:cNvSpPr/>
          <p:nvPr/>
        </p:nvSpPr>
        <p:spPr>
          <a:xfrm>
            <a:off x="822960" y="2011680"/>
            <a:ext cx="384048" cy="384048"/>
          </a:xfrm>
          <a:prstGeom prst="ellipse">
            <a:avLst/>
          </a:prstGeom>
          <a:solidFill>
            <a:srgbClr val="E89B6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8" name="Google Shape;178;p8"/>
          <p:cNvSpPr txBox="1"/>
          <p:nvPr/>
        </p:nvSpPr>
        <p:spPr>
          <a:xfrm>
            <a:off x="822960" y="2011680"/>
            <a:ext cx="384048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8211E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18211E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" name="Google Shape;179;p8"/>
          <p:cNvSpPr txBox="1"/>
          <p:nvPr/>
        </p:nvSpPr>
        <p:spPr>
          <a:xfrm>
            <a:off x="1371600" y="1993392"/>
            <a:ext cx="46634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Cambria"/>
              <a:buNone/>
            </a:pPr>
            <a:r>
              <a:rPr b="1" i="0" lang="en-US" sz="17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Informe de validación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8"/>
          <p:cNvSpPr txBox="1"/>
          <p:nvPr/>
        </p:nvSpPr>
        <p:spPr>
          <a:xfrm>
            <a:off x="1371600" y="2340864"/>
            <a:ext cx="46634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6000"/>
              </a:lnSpc>
              <a:spcBef>
                <a:spcPts val="0"/>
              </a:spcBef>
              <a:spcAft>
                <a:spcPts val="0"/>
              </a:spcAft>
              <a:buClr>
                <a:srgbClr val="8FB3A6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8FB3A6"/>
                </a:solidFill>
                <a:latin typeface="Calibri"/>
                <a:ea typeface="Calibri"/>
                <a:cs typeface="Calibri"/>
                <a:sym typeface="Calibri"/>
              </a:rPr>
              <a:t>Diez entrevistas con criterios de falsación fijados antes de entrevistar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8"/>
          <p:cNvSpPr/>
          <p:nvPr/>
        </p:nvSpPr>
        <p:spPr>
          <a:xfrm>
            <a:off x="6263640" y="2011680"/>
            <a:ext cx="384048" cy="384048"/>
          </a:xfrm>
          <a:prstGeom prst="ellipse">
            <a:avLst/>
          </a:prstGeom>
          <a:solidFill>
            <a:srgbClr val="E89B6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8"/>
          <p:cNvSpPr txBox="1"/>
          <p:nvPr/>
        </p:nvSpPr>
        <p:spPr>
          <a:xfrm>
            <a:off x="6263640" y="2011680"/>
            <a:ext cx="384048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8211E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18211E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8"/>
          <p:cNvSpPr txBox="1"/>
          <p:nvPr/>
        </p:nvSpPr>
        <p:spPr>
          <a:xfrm>
            <a:off x="6812280" y="1993392"/>
            <a:ext cx="46634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Cambria"/>
              <a:buNone/>
            </a:pPr>
            <a:r>
              <a:rPr b="1" i="0" lang="en-US" sz="17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Modelo de datos con aislamiento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8"/>
          <p:cNvSpPr txBox="1"/>
          <p:nvPr/>
        </p:nvSpPr>
        <p:spPr>
          <a:xfrm>
            <a:off x="6812280" y="2340864"/>
            <a:ext cx="46634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6000"/>
              </a:lnSpc>
              <a:spcBef>
                <a:spcPts val="0"/>
              </a:spcBef>
              <a:spcAft>
                <a:spcPts val="0"/>
              </a:spcAft>
              <a:buClr>
                <a:srgbClr val="8FB3A6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8FB3A6"/>
                </a:solidFill>
                <a:latin typeface="Calibri"/>
                <a:ea typeface="Calibri"/>
                <a:cs typeface="Calibri"/>
                <a:sym typeface="Calibri"/>
              </a:rPr>
              <a:t>Verificado por pruebas contra una base de datos real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8"/>
          <p:cNvSpPr/>
          <p:nvPr/>
        </p:nvSpPr>
        <p:spPr>
          <a:xfrm>
            <a:off x="822960" y="3246120"/>
            <a:ext cx="384048" cy="384048"/>
          </a:xfrm>
          <a:prstGeom prst="ellipse">
            <a:avLst/>
          </a:prstGeom>
          <a:solidFill>
            <a:srgbClr val="E89B6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6" name="Google Shape;186;p8"/>
          <p:cNvSpPr txBox="1"/>
          <p:nvPr/>
        </p:nvSpPr>
        <p:spPr>
          <a:xfrm>
            <a:off x="822960" y="3246120"/>
            <a:ext cx="384048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8211E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18211E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8"/>
          <p:cNvSpPr txBox="1"/>
          <p:nvPr/>
        </p:nvSpPr>
        <p:spPr>
          <a:xfrm>
            <a:off x="1371600" y="3227832"/>
            <a:ext cx="46634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Cambria"/>
              <a:buNone/>
            </a:pPr>
            <a:r>
              <a:rPr b="1" i="0" lang="en-US" sz="17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Producto de la capa 1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8"/>
          <p:cNvSpPr txBox="1"/>
          <p:nvPr/>
        </p:nvSpPr>
        <p:spPr>
          <a:xfrm>
            <a:off x="1371600" y="3575304"/>
            <a:ext cx="46634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6000"/>
              </a:lnSpc>
              <a:spcBef>
                <a:spcPts val="0"/>
              </a:spcBef>
              <a:spcAft>
                <a:spcPts val="0"/>
              </a:spcAft>
              <a:buClr>
                <a:srgbClr val="8FB3A6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8FB3A6"/>
                </a:solidFill>
                <a:latin typeface="Calibri"/>
                <a:ea typeface="Calibri"/>
                <a:cs typeface="Calibri"/>
                <a:sym typeface="Calibri"/>
              </a:rPr>
              <a:t>Plan de cuidado, relevo y auditoría, funcionando de punta a punta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p8"/>
          <p:cNvSpPr/>
          <p:nvPr/>
        </p:nvSpPr>
        <p:spPr>
          <a:xfrm>
            <a:off x="6263640" y="3246120"/>
            <a:ext cx="384048" cy="384048"/>
          </a:xfrm>
          <a:prstGeom prst="ellipse">
            <a:avLst/>
          </a:prstGeom>
          <a:solidFill>
            <a:srgbClr val="E89B6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8"/>
          <p:cNvSpPr txBox="1"/>
          <p:nvPr/>
        </p:nvSpPr>
        <p:spPr>
          <a:xfrm>
            <a:off x="6263640" y="3246120"/>
            <a:ext cx="384048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8211E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18211E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p8"/>
          <p:cNvSpPr txBox="1"/>
          <p:nvPr/>
        </p:nvSpPr>
        <p:spPr>
          <a:xfrm>
            <a:off x="6812280" y="3227832"/>
            <a:ext cx="46634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Cambria"/>
              <a:buNone/>
            </a:pPr>
            <a:r>
              <a:rPr b="1" i="0" lang="en-US" sz="17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Aplicación integrada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" name="Google Shape;192;p8"/>
          <p:cNvSpPr txBox="1"/>
          <p:nvPr/>
        </p:nvSpPr>
        <p:spPr>
          <a:xfrm>
            <a:off x="6812280" y="3575304"/>
            <a:ext cx="46634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6000"/>
              </a:lnSpc>
              <a:spcBef>
                <a:spcPts val="0"/>
              </a:spcBef>
              <a:spcAft>
                <a:spcPts val="0"/>
              </a:spcAft>
              <a:buClr>
                <a:srgbClr val="8FB3A6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8FB3A6"/>
                </a:solidFill>
                <a:latin typeface="Calibri"/>
                <a:ea typeface="Calibri"/>
                <a:cs typeface="Calibri"/>
                <a:sym typeface="Calibri"/>
              </a:rPr>
              <a:t>Móvil, vista de comercio y backoffice en un entorno de demostración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p8"/>
          <p:cNvSpPr/>
          <p:nvPr/>
        </p:nvSpPr>
        <p:spPr>
          <a:xfrm>
            <a:off x="822960" y="4709160"/>
            <a:ext cx="10543032" cy="1143000"/>
          </a:xfrm>
          <a:prstGeom prst="roundRect">
            <a:avLst>
              <a:gd fmla="val 8000" name="adj"/>
            </a:avLst>
          </a:prstGeom>
          <a:solidFill>
            <a:srgbClr val="16302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8"/>
          <p:cNvSpPr txBox="1"/>
          <p:nvPr/>
        </p:nvSpPr>
        <p:spPr>
          <a:xfrm>
            <a:off x="1188720" y="4983480"/>
            <a:ext cx="97840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E89B6C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E89B6C"/>
                </a:solidFill>
                <a:latin typeface="Calibri"/>
                <a:ea typeface="Calibri"/>
                <a:cs typeface="Calibri"/>
                <a:sym typeface="Calibri"/>
              </a:rPr>
              <a:t>Lo que todavía no tenemos.  </a:t>
            </a:r>
            <a: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Ninguna entrevista hecha, ningún comercio comprometido y la pasarela sin probar. Los tres se cierran en la primera fase, y por eso van primero en el plan.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8"/>
          <p:cNvSpPr txBox="1"/>
          <p:nvPr/>
        </p:nvSpPr>
        <p:spPr>
          <a:xfrm>
            <a:off x="822960" y="6080760"/>
            <a:ext cx="4572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FB3A6"/>
              </a:buClr>
              <a:buSzPts val="1800"/>
              <a:buFont typeface="Cambria"/>
              <a:buNone/>
            </a:pPr>
            <a:r>
              <a:rPr b="1" i="0" lang="en-US" sz="1800" u="none" cap="none" strike="noStrike">
                <a:solidFill>
                  <a:srgbClr val="8FB3A6"/>
                </a:solidFill>
                <a:latin typeface="Cambria"/>
                <a:ea typeface="Cambria"/>
                <a:cs typeface="Cambria"/>
                <a:sym typeface="Cambria"/>
              </a:rPr>
              <a:t>Gracias.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2026-09-02T02:54:51Z</dcterms:created>
  <dc:creator>Jorge Espinoza · Martín Henríquez</dc:creator>
</cp:coreProperties>
</file>