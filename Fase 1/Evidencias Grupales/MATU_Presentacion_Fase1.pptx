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 15 s · Jorge.
Buenas tardes. Somos Jorge Espinoza y Martín Henríquez. Presentamos MATU, un sistema de continuidad del cuidado para personas mayores con dependencia. Yo parto con el problema y la solución, y Martín sigue con la arquitectura y el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 45 s · Jorge.
Un millón y medio de personas adultas viven en Chile en situación de dependencia. El 96,4% de quienes las cuidan en el hogar no recibe remuneración, y siete de cada diez son mujeres. El 41,3% no tiene cuidador formal: el problema no es que falte gente, es que el cuidado no se puede traspasar. Y hay doscientas mil personas con demencia, que en 2024 fue la cuarta causa de muerte del país.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DIAGNÓSTICO · 35 s · Jorge.
Dos problemas que parecen distintos y son el mismo. El primero es la continuidad: cómo se cuida a alguien vive en una sola cabeza, y traspasarlo cuesta horas. El segundo es el abastecimiento: el consumo se lleva de memoria y se compra cuando alguien nota que se acaba. Los dos son la misma falla, el cuidado depende de una persona que no puede delegar ni ausentarse. Esta frase es de una de las cuidadoras que entrevistamos y resume el problema mejor que nosotros.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 55 s · Jorge.
Tres capas, y el orden importa. La capa 1 es el producto: convierte lo que sabe quien cuida en algo escrito y transferible, que se comparte con un relevo por un enlace con vencimiento y auditoría. La capa 2 es el diferenciador computable: del mismo plan se declara el consumo, y el sistema anticipa la fecha de quiebre y arma la lista de reposición. La capa 3 es despacho, y es un servicio, no la razón de existir: está desacoplada por diseño, sin convenio la familia exporta su lista y compra donde quiera. El orden importa porque la predicción existe gracias al plan: nadie que no conozca a la persona cuidada sabe que usa cuatro pañales al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VALIDACIÓN · 60 s · Jorge.
Hicimos diez entrevistas, que es la meta que fijaba nuestro protocolo. Lo importante no es el número sino que los umbrales estaban escritos antes de entrevistar: para cada una de las siete hipótesis dejamos por escrito qué resultado la validaba y cuál la refutaba.
Tres quedaron validadas: el relevo es real y frecuente, y seis de cada nueve relevos relatados fallaron por conocimiento tácito. El quiebre de stock ocurre y cuesta. Y hay disposición a pagar, seis de diez ya pagan hoy por algún servicio de cuidado.
Una quedó refutada, y es la que más nos sirvió.
Y tres cayeron entre umbrales, en lo que el protocolo llama zona intermedia. Esa regla nos obliga a cuatro entrevistas más en la semana 9, reclutadas solo por canal concentrado, que es justamente lo que una de esas hipótesis mide.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 45 s · Jorge.
La hipótesis refutada era que una cuidadora completaría el plan mínimo en cinco minutos. Solo tres de diez lo lograron y el criterio pedía siete. No discutimos el resultado: aplicamos la consecuencia que ya estaba escrita.
Activamos la decisión de arquitectura 023. La versión mínima de la capa 1 deja de ser ocho secciones y pasa a ser una ficha de relevo de tres campos, que es lo que la gente sí completa. Las ocho secciones quedan como ampliación opcional, y agregamos llenado asistido por un tercero. El modelo de datos no cambió.
Y con la evidencia de otras dos hipótesis, más la ventana real de construcción, sacamos 160 horas del semestre.
Esto es lo que queremos mostrar de la fase 1: el criterio estaba escrito antes de entrevistar, y por eso el resultado corrigió el producto y no la interpretación del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 60 s · Martín.
Cuatro decisiones sostienen el diseño. Primera, el aislamiento: Row Level Security forzado sobre tres ejes, de modo que una consulta sin contexto devuelve cero filas en vez de devolver todo. Segunda, el dato sensible va cifrado por sobre, con una clave por persona cuidada, lo que permite eliminación efectiva y nos alinea con la Ley 21.719. Tercera, el pago: el monto exacto solo se conoce al preparar el pedido, así que autorizamos diferido y capturamos el monto real, con aritmética entera y nota de crédito por la diferencia. Cuarta, el despacho es desacoplable, y hay una prueba automatizada que verifica que el sistema arranca y sirve sin esa capa.
Todo esto está documentado: 42 requisitos trazados a módulo, 13 diagramas y 24 decisiones de arquitectura con las alternativas que descartamos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METODOLOGÍA · 40 s · Martín.
Trabajamos con Scrum en sprints de una semana. El reparto es por eje vertical y no por capa: el error clásico en un equipo de dos es que uno haga todo el backend y el otro todo el frontend, con lo cual el segundo siempre espera un endpoint. Cada uno es responsable de sus módulos de punta a punta.
Y la capacidad la declaramos y la cuidamos. La ventana real de construcción son nueve semanas: 270 horas entre los dos. El alcance estimado sumaba 414, así que hicimos dos recortes y comprometimos 213, con 21% de holgura. La holgura es deliberada, porque en nueve semanas un atraso no se recupera.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DE TRABAJO · 45 s · Martín.
Dieciocho semanas en tres fases. La primera es la que cerramos hoy: producto, arquitectura y la validación con diez cuidadoras. Nos tomó seis semanas, no cuatro, y eso es lo que redefinió el resto del plan.
La fase 2 son nueve semanas, de la 7 a la 15: un sprint 0 de preparación técnica y ocho sprints de una semana, en el orden capa 1, capa 2, capa 3. En la semana 9 van las cuatro entrevistas de la ampliación.
La fase 3 es endurecimiento, informe final y defensa.
Lo que queremos subrayar es que el diferenciador se demuestra en el sprint 3, semana 10, que es justamente la semana del informe de avance. Hay algo funcionando que mostrar a un tercio del semestre, no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OBJETIVOS Y VIABILIDAD · 40 s · Martín.
El objetivo general es desarrollar una plataforma que convierta el plan de cuidado en una predicción de quiebre de insumos y coordine su reposición y pago, operativa en un entorno de demostración al cierre del semestre. Los siete objetivos específicos tienen métrica y sprint de cierre, para que se puedan verificar y no solo declarar.
Y del lado de viabilidad: con la canasta que medimos en terreno, 70 mil pesos mensuales, el punto de equilibrio del modelo de suscripción más despacho queda en 84 familias. La cifra que teníamos antes de las entrevistas estaba mal calculada, eran 126, y la corregimos con los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35 s · Martín, y Jorge cierra.
Estas son las cuatro evidencias con las que vamos a dar cuenta del proyecto.
Y queremos decir con todas sus letras lo que todavía no tenemos: ningún comercio con convenio firmado, la pasarela sin probar contra el ambiente de integración, y las cuatro entrevistas de ampliación pendientes. Los tres se cierran en el sprint 0 y en la semana 9, y por eso van primero en el plan.
Jorge: vengo de nueve años de clínica y quiero dedicarme al diseño de productos de software para salud y cuidado, donde el requisito lo define el uso real y no la intuición.
Martín: me interesa la ingeniería de plataformas donde cruzan el dinero y el dato sensible, y ese es el eje que tomé en este proyecto.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34"/>
        </a:solidFill>
      </p:bgPr>
    </p:bg>
    <p:spTree>
      <p:nvGrpSpPr>
        <p:cNvPr id="1" name=""/>
        <p:cNvGrpSpPr/>
        <p:nvPr/>
      </p:nvGrpSpPr>
      <p:grpSpPr>
        <a:xfrm>
          <a:off x="0" y="0"/>
          <a:ext cx="0" cy="0"/>
          <a:chOff x="0" y="0"/>
          <a:chExt cx="0" cy="0"/>
        </a:xfrm>
      </p:grpSpPr>
      <p:sp>
        <p:nvSpPr>
          <p:cNvPr id="2" name="Text 0"/>
          <p:cNvSpPr txBox="1"/>
          <p:nvPr/>
        </p:nvSpPr>
        <p:spPr>
          <a:xfrm>
            <a:off x="822960" y="1783080"/>
            <a:ext cx="6949440" cy="1371600"/>
          </a:xfrm>
          <a:prstGeom prst="rect">
            <a:avLst/>
          </a:prstGeom>
          <a:noFill/>
          <a:ln/>
        </p:spPr>
        <p:txBody>
          <a:bodyPr wrap="square" lIns="0" tIns="0" rIns="0" bIns="0" rtlCol="0" anchor="ctr"/>
          <a:lstStyle/>
          <a:p>
            <a:pPr indent="0" marL="0">
              <a:buNone/>
            </a:pPr>
            <a:r>
              <a:rPr lang="en-US" sz="8800" b="1" dirty="0">
                <a:solidFill>
                  <a:srgbClr val="FFFFFF"/>
                </a:solidFill>
                <a:latin typeface="Cambria" pitchFamily="34" charset="0"/>
                <a:ea typeface="Cambria" pitchFamily="34" charset="-122"/>
                <a:cs typeface="Cambria" pitchFamily="34" charset="-120"/>
              </a:rPr>
              <a:t>MATU</a:t>
            </a:r>
            <a:endParaRPr lang="en-US" sz="8800" dirty="0"/>
          </a:p>
        </p:txBody>
      </p:sp>
      <p:sp>
        <p:nvSpPr>
          <p:cNvPr id="3" name="Text 1"/>
          <p:cNvSpPr txBox="1"/>
          <p:nvPr/>
        </p:nvSpPr>
        <p:spPr>
          <a:xfrm>
            <a:off x="868680" y="3246120"/>
            <a:ext cx="6675120" cy="960120"/>
          </a:xfrm>
          <a:prstGeom prst="rect">
            <a:avLst/>
          </a:prstGeom>
          <a:noFill/>
          <a:ln/>
        </p:spPr>
        <p:txBody>
          <a:bodyPr wrap="square" lIns="0" tIns="0" rIns="0" bIns="0" rtlCol="0" anchor="ctr"/>
          <a:lstStyle/>
          <a:p>
            <a:pPr indent="0" marL="0">
              <a:lnSpc>
                <a:spcPts val="2800"/>
              </a:lnSpc>
              <a:buNone/>
            </a:pPr>
            <a:r>
              <a:rPr lang="en-US" sz="1900" dirty="0">
                <a:solidFill>
                  <a:srgbClr val="8FB3A6"/>
                </a:solidFill>
                <a:latin typeface="Calibri" pitchFamily="34" charset="0"/>
                <a:ea typeface="Calibri" pitchFamily="34" charset="-122"/>
                <a:cs typeface="Calibri" pitchFamily="34" charset="-120"/>
              </a:rPr>
              <a:t>Sistema de continuidad del cuidado</a:t>
            </a:r>
            <a:endParaRPr lang="en-US" sz="1900" dirty="0"/>
          </a:p>
          <a:p>
            <a:pPr indent="0" marL="0">
              <a:lnSpc>
                <a:spcPts val="2800"/>
              </a:lnSpc>
              <a:buNone/>
            </a:pPr>
            <a:r>
              <a:rPr lang="en-US" sz="1900" dirty="0">
                <a:solidFill>
                  <a:srgbClr val="8FB3A6"/>
                </a:solidFill>
                <a:latin typeface="Calibri" pitchFamily="34" charset="0"/>
                <a:ea typeface="Calibri" pitchFamily="34" charset="-122"/>
                <a:cs typeface="Calibri" pitchFamily="34" charset="-120"/>
              </a:rPr>
              <a:t>para personas mayores con dependencia</a:t>
            </a:r>
            <a:endParaRPr lang="en-US" sz="1900" dirty="0"/>
          </a:p>
        </p:txBody>
      </p:sp>
      <p:sp>
        <p:nvSpPr>
          <p:cNvPr id="4" name="Text 2"/>
          <p:cNvSpPr txBox="1"/>
          <p:nvPr/>
        </p:nvSpPr>
        <p:spPr>
          <a:xfrm>
            <a:off x="868680" y="4617720"/>
            <a:ext cx="6675120" cy="274320"/>
          </a:xfrm>
          <a:prstGeom prst="rect">
            <a:avLst/>
          </a:prstGeom>
          <a:noFill/>
          <a:ln/>
        </p:spPr>
        <p:txBody>
          <a:bodyPr wrap="square" lIns="0" tIns="0" rIns="0" bIns="0" rtlCol="0" anchor="ctr"/>
          <a:lstStyle/>
          <a:p>
            <a:pPr indent="0" marL="0">
              <a:buNone/>
            </a:pPr>
            <a:r>
              <a:rPr lang="en-US" sz="1300" b="1" dirty="0">
                <a:solidFill>
                  <a:srgbClr val="E89B6C"/>
                </a:solidFill>
                <a:latin typeface="Calibri" pitchFamily="34" charset="0"/>
                <a:ea typeface="Calibri" pitchFamily="34" charset="-122"/>
                <a:cs typeface="Calibri" pitchFamily="34" charset="-120"/>
              </a:rPr>
              <a:t>Definición de Proyecto APT  ·  Fase 1</a:t>
            </a:r>
            <a:endParaRPr lang="en-US" sz="1300" dirty="0"/>
          </a:p>
        </p:txBody>
      </p:sp>
      <p:sp>
        <p:nvSpPr>
          <p:cNvPr id="5" name="Text 3"/>
          <p:cNvSpPr txBox="1"/>
          <p:nvPr/>
        </p:nvSpPr>
        <p:spPr>
          <a:xfrm>
            <a:off x="868680" y="4983480"/>
            <a:ext cx="667512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Jorge Espinoza  ·  Martín Henríquez</a:t>
            </a:r>
            <a:endParaRPr lang="en-US" sz="1300" dirty="0"/>
          </a:p>
        </p:txBody>
      </p:sp>
      <p:sp>
        <p:nvSpPr>
          <p:cNvPr id="6" name="Text 4"/>
          <p:cNvSpPr txBox="1"/>
          <p:nvPr/>
        </p:nvSpPr>
        <p:spPr>
          <a:xfrm>
            <a:off x="868680" y="5321808"/>
            <a:ext cx="6675120" cy="274320"/>
          </a:xfrm>
          <a:prstGeom prst="rect">
            <a:avLst/>
          </a:prstGeom>
          <a:noFill/>
          <a:ln/>
        </p:spPr>
        <p:txBody>
          <a:bodyPr wrap="square" lIns="0" tIns="0" rIns="0" bIns="0" rtlCol="0" anchor="ctr"/>
          <a:lstStyle/>
          <a:p>
            <a:pPr indent="0" marL="0">
              <a:buNone/>
            </a:pPr>
            <a:r>
              <a:rPr lang="en-US" sz="1100" dirty="0">
                <a:solidFill>
                  <a:srgbClr val="6E9C8C"/>
                </a:solidFill>
                <a:latin typeface="Calibri" pitchFamily="34" charset="0"/>
                <a:ea typeface="Calibri" pitchFamily="34" charset="-122"/>
                <a:cs typeface="Calibri" pitchFamily="34" charset="-120"/>
              </a:rPr>
              <a:t>Ingeniería en Informática  ·  Duoc UC, sede San Joaquín  ·  Capstone 2026-2</a:t>
            </a:r>
            <a:endParaRPr lang="en-US" sz="1100" dirty="0"/>
          </a:p>
        </p:txBody>
      </p:sp>
      <p:sp>
        <p:nvSpPr>
          <p:cNvPr id="7" name="Shape 5"/>
          <p:cNvSpPr/>
          <p:nvPr/>
        </p:nvSpPr>
        <p:spPr>
          <a:xfrm>
            <a:off x="8001000" y="2148840"/>
            <a:ext cx="3520440" cy="713232"/>
          </a:xfrm>
          <a:prstGeom prst="roundRect">
            <a:avLst>
              <a:gd name="adj" fmla="val 10256"/>
            </a:avLst>
          </a:prstGeom>
          <a:solidFill>
            <a:srgbClr val="C75B2B"/>
          </a:solidFill>
          <a:ln w="12700">
            <a:solidFill>
              <a:srgbClr val="C75B2B"/>
            </a:solidFill>
            <a:prstDash val="solid"/>
          </a:ln>
        </p:spPr>
      </p:sp>
      <p:sp>
        <p:nvSpPr>
          <p:cNvPr id="8" name="Text 6"/>
          <p:cNvSpPr txBox="1"/>
          <p:nvPr/>
        </p:nvSpPr>
        <p:spPr>
          <a:xfrm>
            <a:off x="8275320" y="2148840"/>
            <a:ext cx="3108960"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Capa 1   </a:t>
            </a:r>
            <a:pPr indent="0" marL="0">
              <a:buNone/>
            </a:pPr>
            <a:r>
              <a:rPr lang="en-US" sz="1200" dirty="0">
                <a:solidFill>
                  <a:srgbClr val="FFFFFF"/>
                </a:solidFill>
                <a:latin typeface="Calibri" pitchFamily="34" charset="0"/>
                <a:ea typeface="Calibri" pitchFamily="34" charset="-122"/>
                <a:cs typeface="Calibri" pitchFamily="34" charset="-120"/>
              </a:rPr>
              <a:t>Plan de cuidado</a:t>
            </a:r>
            <a:endParaRPr lang="en-US" sz="1200" dirty="0"/>
          </a:p>
        </p:txBody>
      </p:sp>
      <p:sp>
        <p:nvSpPr>
          <p:cNvPr id="9" name="Shape 7"/>
          <p:cNvSpPr/>
          <p:nvPr/>
        </p:nvSpPr>
        <p:spPr>
          <a:xfrm>
            <a:off x="8001000" y="3063240"/>
            <a:ext cx="3520440" cy="713232"/>
          </a:xfrm>
          <a:prstGeom prst="roundRect">
            <a:avLst>
              <a:gd name="adj" fmla="val 10256"/>
            </a:avLst>
          </a:prstGeom>
          <a:solidFill>
            <a:srgbClr val="6E9C8C"/>
          </a:solidFill>
          <a:ln w="12700">
            <a:solidFill>
              <a:srgbClr val="6E9C8C"/>
            </a:solidFill>
            <a:prstDash val="solid"/>
          </a:ln>
        </p:spPr>
      </p:sp>
      <p:sp>
        <p:nvSpPr>
          <p:cNvPr id="10" name="Text 8"/>
          <p:cNvSpPr txBox="1"/>
          <p:nvPr/>
        </p:nvSpPr>
        <p:spPr>
          <a:xfrm>
            <a:off x="8275320" y="3063240"/>
            <a:ext cx="3108960" cy="713232"/>
          </a:xfrm>
          <a:prstGeom prst="rect">
            <a:avLst/>
          </a:prstGeom>
          <a:noFill/>
          <a:ln/>
        </p:spPr>
        <p:txBody>
          <a:bodyPr wrap="square" lIns="0" tIns="0" rIns="0" bIns="0" rtlCol="0" anchor="ctr"/>
          <a:lstStyle/>
          <a:p>
            <a:pPr indent="0" marL="0">
              <a:buNone/>
            </a:pPr>
            <a:r>
              <a:rPr lang="en-US" sz="1200" b="1" dirty="0">
                <a:solidFill>
                  <a:srgbClr val="16302B"/>
                </a:solidFill>
                <a:latin typeface="Calibri" pitchFamily="34" charset="0"/>
                <a:ea typeface="Calibri" pitchFamily="34" charset="-122"/>
                <a:cs typeface="Calibri" pitchFamily="34" charset="-120"/>
              </a:rPr>
              <a:t>Capa 2   </a:t>
            </a:r>
            <a:pPr indent="0" marL="0">
              <a:buNone/>
            </a:pPr>
            <a:r>
              <a:rPr lang="en-US" sz="1200" dirty="0">
                <a:solidFill>
                  <a:srgbClr val="16302B"/>
                </a:solidFill>
                <a:latin typeface="Calibri" pitchFamily="34" charset="0"/>
                <a:ea typeface="Calibri" pitchFamily="34" charset="-122"/>
                <a:cs typeface="Calibri" pitchFamily="34" charset="-120"/>
              </a:rPr>
              <a:t>Consumo y predicción</a:t>
            </a:r>
            <a:endParaRPr lang="en-US" sz="1200" dirty="0"/>
          </a:p>
        </p:txBody>
      </p:sp>
      <p:sp>
        <p:nvSpPr>
          <p:cNvPr id="11" name="Shape 9"/>
          <p:cNvSpPr/>
          <p:nvPr/>
        </p:nvSpPr>
        <p:spPr>
          <a:xfrm>
            <a:off x="8001000" y="3977640"/>
            <a:ext cx="3520440" cy="713232"/>
          </a:xfrm>
          <a:prstGeom prst="roundRect">
            <a:avLst>
              <a:gd name="adj" fmla="val 10256"/>
            </a:avLst>
          </a:prstGeom>
          <a:solidFill>
            <a:srgbClr val="16302B"/>
          </a:solidFill>
          <a:ln w="12700">
            <a:solidFill>
              <a:srgbClr val="6E9C8C"/>
            </a:solidFill>
            <a:prstDash val="solid"/>
          </a:ln>
        </p:spPr>
      </p:sp>
      <p:sp>
        <p:nvSpPr>
          <p:cNvPr id="12" name="Text 10"/>
          <p:cNvSpPr txBox="1"/>
          <p:nvPr/>
        </p:nvSpPr>
        <p:spPr>
          <a:xfrm>
            <a:off x="8275320" y="3977640"/>
            <a:ext cx="3108960" cy="713232"/>
          </a:xfrm>
          <a:prstGeom prst="rect">
            <a:avLst/>
          </a:prstGeom>
          <a:noFill/>
          <a:ln/>
        </p:spPr>
        <p:txBody>
          <a:bodyPr wrap="square" lIns="0" tIns="0" rIns="0" bIns="0" rtlCol="0" anchor="ctr"/>
          <a:lstStyle/>
          <a:p>
            <a:pPr indent="0" marL="0">
              <a:buNone/>
            </a:pPr>
            <a:r>
              <a:rPr lang="en-US" sz="1200" b="1" dirty="0">
                <a:solidFill>
                  <a:srgbClr val="8FB3A6"/>
                </a:solidFill>
                <a:latin typeface="Calibri" pitchFamily="34" charset="0"/>
                <a:ea typeface="Calibri" pitchFamily="34" charset="-122"/>
                <a:cs typeface="Calibri" pitchFamily="34" charset="-120"/>
              </a:rPr>
              <a:t>Capa 3   </a:t>
            </a:r>
            <a:pPr indent="0" marL="0">
              <a:buNone/>
            </a:pPr>
            <a:r>
              <a:rPr lang="en-US" sz="1200" dirty="0">
                <a:solidFill>
                  <a:srgbClr val="8FB3A6"/>
                </a:solidFill>
                <a:latin typeface="Calibri" pitchFamily="34" charset="0"/>
                <a:ea typeface="Calibri" pitchFamily="34" charset="-122"/>
                <a:cs typeface="Calibri" pitchFamily="34" charset="-120"/>
              </a:rPr>
              <a:t>Despacho</a:t>
            </a:r>
            <a:endParaRPr lang="en-US" sz="1200" dirty="0"/>
          </a:p>
        </p:txBody>
      </p:sp>
      <p:sp>
        <p:nvSpPr>
          <p:cNvPr id="13" name="Text 11"/>
          <p:cNvSpPr txBox="1"/>
          <p:nvPr/>
        </p:nvSpPr>
        <p:spPr>
          <a:xfrm>
            <a:off x="8001000" y="4828032"/>
            <a:ext cx="3520440" cy="274320"/>
          </a:xfrm>
          <a:prstGeom prst="rect">
            <a:avLst/>
          </a:prstGeom>
          <a:noFill/>
          <a:ln/>
        </p:spPr>
        <p:txBody>
          <a:bodyPr wrap="square" lIns="0" tIns="0" rIns="0" bIns="0" rtlCol="0" anchor="ctr"/>
          <a:lstStyle/>
          <a:p>
            <a:pPr algn="r" indent="0" marL="0">
              <a:buNone/>
            </a:pPr>
            <a:r>
              <a:rPr lang="en-US" sz="1000" i="1" dirty="0">
                <a:solidFill>
                  <a:srgbClr val="6E9C8C"/>
                </a:solidFill>
                <a:latin typeface="Calibri" pitchFamily="34" charset="0"/>
                <a:ea typeface="Calibri" pitchFamily="34" charset="-122"/>
                <a:cs typeface="Calibri" pitchFamily="34" charset="-120"/>
              </a:rPr>
              <a:t>Las dependencias apuntan solo hacia abajo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EL PROBLEMA</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El cuidado lo sostienen familias, sin pago y sin herramientas</a:t>
            </a:r>
            <a:endParaRPr lang="en-US" sz="2900" dirty="0"/>
          </a:p>
        </p:txBody>
      </p:sp>
      <p:sp>
        <p:nvSpPr>
          <p:cNvPr id="4" name="Shape 2"/>
          <p:cNvSpPr/>
          <p:nvPr/>
        </p:nvSpPr>
        <p:spPr>
          <a:xfrm>
            <a:off x="731520" y="1874520"/>
            <a:ext cx="2468880" cy="2743200"/>
          </a:xfrm>
          <a:prstGeom prst="roundRect">
            <a:avLst>
              <a:gd name="adj" fmla="val 2222"/>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5" name="Text 3"/>
          <p:cNvSpPr txBox="1"/>
          <p:nvPr/>
        </p:nvSpPr>
        <p:spPr>
          <a:xfrm>
            <a:off x="987552" y="2121408"/>
            <a:ext cx="1956816" cy="566928"/>
          </a:xfrm>
          <a:prstGeom prst="rect">
            <a:avLst/>
          </a:prstGeom>
          <a:noFill/>
          <a:ln/>
        </p:spPr>
        <p:txBody>
          <a:bodyPr wrap="square" lIns="0" tIns="0" rIns="0" bIns="0" rtlCol="0" anchor="ctr"/>
          <a:lstStyle/>
          <a:p>
            <a:pPr indent="0" marL="0">
              <a:buNone/>
            </a:pPr>
            <a:r>
              <a:rPr lang="en-US" sz="2600" b="1" dirty="0">
                <a:solidFill>
                  <a:srgbClr val="C75B2B"/>
                </a:solidFill>
                <a:latin typeface="Cambria" pitchFamily="34" charset="0"/>
                <a:ea typeface="Cambria" pitchFamily="34" charset="-122"/>
                <a:cs typeface="Cambria" pitchFamily="34" charset="-120"/>
              </a:rPr>
              <a:t>1.498.977</a:t>
            </a:r>
            <a:endParaRPr lang="en-US" sz="2600" dirty="0"/>
          </a:p>
        </p:txBody>
      </p:sp>
      <p:sp>
        <p:nvSpPr>
          <p:cNvPr id="6" name="Text 4"/>
          <p:cNvSpPr txBox="1"/>
          <p:nvPr/>
        </p:nvSpPr>
        <p:spPr>
          <a:xfrm>
            <a:off x="987552" y="2743200"/>
            <a:ext cx="1956816" cy="1005840"/>
          </a:xfrm>
          <a:prstGeom prst="rect">
            <a:avLst/>
          </a:prstGeom>
          <a:noFill/>
          <a:ln/>
        </p:spPr>
        <p:txBody>
          <a:bodyPr wrap="square" lIns="0" tIns="0" rIns="0" bIns="0" rtlCol="0" anchor="t"/>
          <a:lstStyle/>
          <a:p>
            <a:pPr indent="0" marL="0">
              <a:lnSpc>
                <a:spcPts val="1700"/>
              </a:lnSpc>
              <a:buNone/>
            </a:pPr>
            <a:r>
              <a:rPr lang="en-US" sz="1300" dirty="0">
                <a:solidFill>
                  <a:srgbClr val="18211E"/>
                </a:solidFill>
                <a:latin typeface="Calibri" pitchFamily="34" charset="0"/>
                <a:ea typeface="Calibri" pitchFamily="34" charset="-122"/>
                <a:cs typeface="Calibri" pitchFamily="34" charset="-120"/>
              </a:rPr>
              <a:t>personas adultas viven en situación de dependencia</a:t>
            </a:r>
            <a:endParaRPr lang="en-US" sz="1300" dirty="0"/>
          </a:p>
        </p:txBody>
      </p:sp>
      <p:sp>
        <p:nvSpPr>
          <p:cNvPr id="7" name="Text 5"/>
          <p:cNvSpPr txBox="1"/>
          <p:nvPr/>
        </p:nvSpPr>
        <p:spPr>
          <a:xfrm>
            <a:off x="987552" y="3858768"/>
            <a:ext cx="1956816" cy="777240"/>
          </a:xfrm>
          <a:prstGeom prst="rect">
            <a:avLst/>
          </a:prstGeom>
          <a:noFill/>
          <a:ln/>
        </p:spPr>
        <p:txBody>
          <a:bodyPr wrap="square" lIns="0" tIns="0" rIns="0" bIns="0" rtlCol="0" anchor="t"/>
          <a:lstStyle/>
          <a:p>
            <a:pPr indent="0" marL="0">
              <a:lnSpc>
                <a:spcPts val="1400"/>
              </a:lnSpc>
              <a:buNone/>
            </a:pPr>
            <a:r>
              <a:rPr lang="en-US" sz="1050" dirty="0">
                <a:solidFill>
                  <a:srgbClr val="5A6661"/>
                </a:solidFill>
                <a:latin typeface="Calibri" pitchFamily="34" charset="0"/>
                <a:ea typeface="Calibri" pitchFamily="34" charset="-122"/>
                <a:cs typeface="Calibri" pitchFamily="34" charset="-120"/>
              </a:rPr>
              <a:t>9,8% de la población de 18 años y más</a:t>
            </a:r>
            <a:endParaRPr lang="en-US" sz="1050" dirty="0"/>
          </a:p>
        </p:txBody>
      </p:sp>
      <p:sp>
        <p:nvSpPr>
          <p:cNvPr id="8" name="Shape 6"/>
          <p:cNvSpPr/>
          <p:nvPr/>
        </p:nvSpPr>
        <p:spPr>
          <a:xfrm>
            <a:off x="3474720" y="1874520"/>
            <a:ext cx="2468880" cy="2743200"/>
          </a:xfrm>
          <a:prstGeom prst="roundRect">
            <a:avLst>
              <a:gd name="adj" fmla="val 2222"/>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9" name="Text 7"/>
          <p:cNvSpPr txBox="1"/>
          <p:nvPr/>
        </p:nvSpPr>
        <p:spPr>
          <a:xfrm>
            <a:off x="3730752" y="2121408"/>
            <a:ext cx="1956816" cy="566928"/>
          </a:xfrm>
          <a:prstGeom prst="rect">
            <a:avLst/>
          </a:prstGeom>
          <a:noFill/>
          <a:ln/>
        </p:spPr>
        <p:txBody>
          <a:bodyPr wrap="square" lIns="0" tIns="0" rIns="0" bIns="0" rtlCol="0" anchor="ctr"/>
          <a:lstStyle/>
          <a:p>
            <a:pPr indent="0" marL="0">
              <a:buNone/>
            </a:pPr>
            <a:r>
              <a:rPr lang="en-US" sz="3200" b="1" dirty="0">
                <a:solidFill>
                  <a:srgbClr val="C75B2B"/>
                </a:solidFill>
                <a:latin typeface="Cambria" pitchFamily="34" charset="0"/>
                <a:ea typeface="Cambria" pitchFamily="34" charset="-122"/>
                <a:cs typeface="Cambria" pitchFamily="34" charset="-120"/>
              </a:rPr>
              <a:t>96,4%</a:t>
            </a:r>
            <a:endParaRPr lang="en-US" sz="3200" dirty="0"/>
          </a:p>
        </p:txBody>
      </p:sp>
      <p:sp>
        <p:nvSpPr>
          <p:cNvPr id="10" name="Text 8"/>
          <p:cNvSpPr txBox="1"/>
          <p:nvPr/>
        </p:nvSpPr>
        <p:spPr>
          <a:xfrm>
            <a:off x="3730752" y="2743200"/>
            <a:ext cx="1956816" cy="1005840"/>
          </a:xfrm>
          <a:prstGeom prst="rect">
            <a:avLst/>
          </a:prstGeom>
          <a:noFill/>
          <a:ln/>
        </p:spPr>
        <p:txBody>
          <a:bodyPr wrap="square" lIns="0" tIns="0" rIns="0" bIns="0" rtlCol="0" anchor="t"/>
          <a:lstStyle/>
          <a:p>
            <a:pPr indent="0" marL="0">
              <a:lnSpc>
                <a:spcPts val="1700"/>
              </a:lnSpc>
              <a:buNone/>
            </a:pPr>
            <a:r>
              <a:rPr lang="en-US" sz="1300" dirty="0">
                <a:solidFill>
                  <a:srgbClr val="18211E"/>
                </a:solidFill>
                <a:latin typeface="Calibri" pitchFamily="34" charset="0"/>
                <a:ea typeface="Calibri" pitchFamily="34" charset="-122"/>
                <a:cs typeface="Calibri" pitchFamily="34" charset="-120"/>
              </a:rPr>
              <a:t>de los cuidadores del hogar no recibe remuneración</a:t>
            </a:r>
            <a:endParaRPr lang="en-US" sz="1300" dirty="0"/>
          </a:p>
        </p:txBody>
      </p:sp>
      <p:sp>
        <p:nvSpPr>
          <p:cNvPr id="11" name="Text 9"/>
          <p:cNvSpPr txBox="1"/>
          <p:nvPr/>
        </p:nvSpPr>
        <p:spPr>
          <a:xfrm>
            <a:off x="3730752" y="3858768"/>
            <a:ext cx="1956816" cy="777240"/>
          </a:xfrm>
          <a:prstGeom prst="rect">
            <a:avLst/>
          </a:prstGeom>
          <a:noFill/>
          <a:ln/>
        </p:spPr>
        <p:txBody>
          <a:bodyPr wrap="square" lIns="0" tIns="0" rIns="0" bIns="0" rtlCol="0" anchor="t"/>
          <a:lstStyle/>
          <a:p>
            <a:pPr indent="0" marL="0">
              <a:lnSpc>
                <a:spcPts val="1400"/>
              </a:lnSpc>
              <a:buNone/>
            </a:pPr>
            <a:r>
              <a:rPr lang="en-US" sz="1050" dirty="0">
                <a:solidFill>
                  <a:srgbClr val="5A6661"/>
                </a:solidFill>
                <a:latin typeface="Calibri" pitchFamily="34" charset="0"/>
                <a:ea typeface="Calibri" pitchFamily="34" charset="-122"/>
                <a:cs typeface="Calibri" pitchFamily="34" charset="-120"/>
              </a:rPr>
              <a:t>el 69,9% son mujeres</a:t>
            </a:r>
            <a:endParaRPr lang="en-US" sz="1050" dirty="0"/>
          </a:p>
        </p:txBody>
      </p:sp>
      <p:sp>
        <p:nvSpPr>
          <p:cNvPr id="12" name="Shape 10"/>
          <p:cNvSpPr/>
          <p:nvPr/>
        </p:nvSpPr>
        <p:spPr>
          <a:xfrm>
            <a:off x="6217920" y="1874520"/>
            <a:ext cx="2468880" cy="2743200"/>
          </a:xfrm>
          <a:prstGeom prst="roundRect">
            <a:avLst>
              <a:gd name="adj" fmla="val 2222"/>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3" name="Text 11"/>
          <p:cNvSpPr txBox="1"/>
          <p:nvPr/>
        </p:nvSpPr>
        <p:spPr>
          <a:xfrm>
            <a:off x="6473952" y="2121408"/>
            <a:ext cx="1956816" cy="566928"/>
          </a:xfrm>
          <a:prstGeom prst="rect">
            <a:avLst/>
          </a:prstGeom>
          <a:noFill/>
          <a:ln/>
        </p:spPr>
        <p:txBody>
          <a:bodyPr wrap="square" lIns="0" tIns="0" rIns="0" bIns="0" rtlCol="0" anchor="ctr"/>
          <a:lstStyle/>
          <a:p>
            <a:pPr indent="0" marL="0">
              <a:buNone/>
            </a:pPr>
            <a:r>
              <a:rPr lang="en-US" sz="3200" b="1" dirty="0">
                <a:solidFill>
                  <a:srgbClr val="C75B2B"/>
                </a:solidFill>
                <a:latin typeface="Cambria" pitchFamily="34" charset="0"/>
                <a:ea typeface="Cambria" pitchFamily="34" charset="-122"/>
                <a:cs typeface="Cambria" pitchFamily="34" charset="-120"/>
              </a:rPr>
              <a:t>41,3%</a:t>
            </a:r>
            <a:endParaRPr lang="en-US" sz="3200" dirty="0"/>
          </a:p>
        </p:txBody>
      </p:sp>
      <p:sp>
        <p:nvSpPr>
          <p:cNvPr id="14" name="Text 12"/>
          <p:cNvSpPr txBox="1"/>
          <p:nvPr/>
        </p:nvSpPr>
        <p:spPr>
          <a:xfrm>
            <a:off x="6473952" y="2743200"/>
            <a:ext cx="1956816" cy="1005840"/>
          </a:xfrm>
          <a:prstGeom prst="rect">
            <a:avLst/>
          </a:prstGeom>
          <a:noFill/>
          <a:ln/>
        </p:spPr>
        <p:txBody>
          <a:bodyPr wrap="square" lIns="0" tIns="0" rIns="0" bIns="0" rtlCol="0" anchor="t"/>
          <a:lstStyle/>
          <a:p>
            <a:pPr indent="0" marL="0">
              <a:lnSpc>
                <a:spcPts val="1700"/>
              </a:lnSpc>
              <a:buNone/>
            </a:pPr>
            <a:r>
              <a:rPr lang="en-US" sz="1300" dirty="0">
                <a:solidFill>
                  <a:srgbClr val="18211E"/>
                </a:solidFill>
                <a:latin typeface="Calibri" pitchFamily="34" charset="0"/>
                <a:ea typeface="Calibri" pitchFamily="34" charset="-122"/>
                <a:cs typeface="Calibri" pitchFamily="34" charset="-120"/>
              </a:rPr>
              <a:t>de las personas dependientes no tiene cuidador formal</a:t>
            </a:r>
            <a:endParaRPr lang="en-US" sz="1300" dirty="0"/>
          </a:p>
        </p:txBody>
      </p:sp>
      <p:sp>
        <p:nvSpPr>
          <p:cNvPr id="15" name="Text 13"/>
          <p:cNvSpPr txBox="1"/>
          <p:nvPr/>
        </p:nvSpPr>
        <p:spPr>
          <a:xfrm>
            <a:off x="6473952" y="3858768"/>
            <a:ext cx="1956816" cy="777240"/>
          </a:xfrm>
          <a:prstGeom prst="rect">
            <a:avLst/>
          </a:prstGeom>
          <a:noFill/>
          <a:ln/>
        </p:spPr>
        <p:txBody>
          <a:bodyPr wrap="square" lIns="0" tIns="0" rIns="0" bIns="0" rtlCol="0" anchor="t"/>
          <a:lstStyle/>
          <a:p>
            <a:pPr indent="0" marL="0">
              <a:lnSpc>
                <a:spcPts val="1400"/>
              </a:lnSpc>
              <a:buNone/>
            </a:pPr>
            <a:r>
              <a:rPr lang="en-US" sz="1050" dirty="0">
                <a:solidFill>
                  <a:srgbClr val="5A6661"/>
                </a:solidFill>
                <a:latin typeface="Calibri" pitchFamily="34" charset="0"/>
                <a:ea typeface="Calibri" pitchFamily="34" charset="-122"/>
                <a:cs typeface="Calibri" pitchFamily="34" charset="-120"/>
              </a:rPr>
              <a:t>no falta gente, falta poder traspasar el cuidado</a:t>
            </a:r>
            <a:endParaRPr lang="en-US" sz="1050" dirty="0"/>
          </a:p>
        </p:txBody>
      </p:sp>
      <p:sp>
        <p:nvSpPr>
          <p:cNvPr id="16" name="Shape 14"/>
          <p:cNvSpPr/>
          <p:nvPr/>
        </p:nvSpPr>
        <p:spPr>
          <a:xfrm>
            <a:off x="8961120" y="1874520"/>
            <a:ext cx="2468880" cy="2743200"/>
          </a:xfrm>
          <a:prstGeom prst="roundRect">
            <a:avLst>
              <a:gd name="adj" fmla="val 2222"/>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7" name="Text 15"/>
          <p:cNvSpPr txBox="1"/>
          <p:nvPr/>
        </p:nvSpPr>
        <p:spPr>
          <a:xfrm>
            <a:off x="9217152" y="2121408"/>
            <a:ext cx="1956816" cy="566928"/>
          </a:xfrm>
          <a:prstGeom prst="rect">
            <a:avLst/>
          </a:prstGeom>
          <a:noFill/>
          <a:ln/>
        </p:spPr>
        <p:txBody>
          <a:bodyPr wrap="square" lIns="0" tIns="0" rIns="0" bIns="0" rtlCol="0" anchor="ctr"/>
          <a:lstStyle/>
          <a:p>
            <a:pPr indent="0" marL="0">
              <a:buNone/>
            </a:pPr>
            <a:r>
              <a:rPr lang="en-US" sz="3200" b="1" dirty="0">
                <a:solidFill>
                  <a:srgbClr val="C75B2B"/>
                </a:solidFill>
                <a:latin typeface="Cambria" pitchFamily="34" charset="0"/>
                <a:ea typeface="Cambria" pitchFamily="34" charset="-122"/>
                <a:cs typeface="Cambria" pitchFamily="34" charset="-120"/>
              </a:rPr>
              <a:t>200.000</a:t>
            </a:r>
            <a:endParaRPr lang="en-US" sz="3200" dirty="0"/>
          </a:p>
        </p:txBody>
      </p:sp>
      <p:sp>
        <p:nvSpPr>
          <p:cNvPr id="18" name="Text 16"/>
          <p:cNvSpPr txBox="1"/>
          <p:nvPr/>
        </p:nvSpPr>
        <p:spPr>
          <a:xfrm>
            <a:off x="9217152" y="2743200"/>
            <a:ext cx="1956816" cy="1005840"/>
          </a:xfrm>
          <a:prstGeom prst="rect">
            <a:avLst/>
          </a:prstGeom>
          <a:noFill/>
          <a:ln/>
        </p:spPr>
        <p:txBody>
          <a:bodyPr wrap="square" lIns="0" tIns="0" rIns="0" bIns="0" rtlCol="0" anchor="t"/>
          <a:lstStyle/>
          <a:p>
            <a:pPr indent="0" marL="0">
              <a:lnSpc>
                <a:spcPts val="1700"/>
              </a:lnSpc>
              <a:buNone/>
            </a:pPr>
            <a:r>
              <a:rPr lang="en-US" sz="1300" dirty="0">
                <a:solidFill>
                  <a:srgbClr val="18211E"/>
                </a:solidFill>
                <a:latin typeface="Calibri" pitchFamily="34" charset="0"/>
                <a:ea typeface="Calibri" pitchFamily="34" charset="-122"/>
                <a:cs typeface="Calibri" pitchFamily="34" charset="-120"/>
              </a:rPr>
              <a:t>personas con demencia en Chile</a:t>
            </a:r>
            <a:endParaRPr lang="en-US" sz="1300" dirty="0"/>
          </a:p>
        </p:txBody>
      </p:sp>
      <p:sp>
        <p:nvSpPr>
          <p:cNvPr id="19" name="Text 17"/>
          <p:cNvSpPr txBox="1"/>
          <p:nvPr/>
        </p:nvSpPr>
        <p:spPr>
          <a:xfrm>
            <a:off x="9217152" y="3858768"/>
            <a:ext cx="1956816" cy="777240"/>
          </a:xfrm>
          <a:prstGeom prst="rect">
            <a:avLst/>
          </a:prstGeom>
          <a:noFill/>
          <a:ln/>
        </p:spPr>
        <p:txBody>
          <a:bodyPr wrap="square" lIns="0" tIns="0" rIns="0" bIns="0" rtlCol="0" anchor="t"/>
          <a:lstStyle/>
          <a:p>
            <a:pPr indent="0" marL="0">
              <a:lnSpc>
                <a:spcPts val="1400"/>
              </a:lnSpc>
              <a:buNone/>
            </a:pPr>
            <a:r>
              <a:rPr lang="en-US" sz="1050" dirty="0">
                <a:solidFill>
                  <a:srgbClr val="5A6661"/>
                </a:solidFill>
                <a:latin typeface="Calibri" pitchFamily="34" charset="0"/>
                <a:ea typeface="Calibri" pitchFamily="34" charset="-122"/>
                <a:cs typeface="Calibri" pitchFamily="34" charset="-120"/>
              </a:rPr>
              <a:t>cuarta causa de muerte en 2024</a:t>
            </a:r>
            <a:endParaRPr lang="en-US" sz="1050" dirty="0"/>
          </a:p>
        </p:txBody>
      </p:sp>
      <p:sp>
        <p:nvSpPr>
          <p:cNvPr id="20" name="Text 18"/>
          <p:cNvSpPr txBox="1"/>
          <p:nvPr/>
        </p:nvSpPr>
        <p:spPr>
          <a:xfrm>
            <a:off x="731520" y="489204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ENDIDE 2022, Ministerio de Desarrollo Social y Familia  ·  Plan Nacional de Demencia 2025-2035, Ministerio de Salud</a:t>
            </a:r>
            <a:endParaRPr lang="en-US" sz="1000" dirty="0"/>
          </a:p>
        </p:txBody>
      </p:sp>
      <p:sp>
        <p:nvSpPr>
          <p:cNvPr id="21" name="Text 19"/>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Jorge  ·  45 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EL DIAGNÓSTICO</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Dos problemas que parecen distintos y son el mismo</a:t>
            </a:r>
            <a:endParaRPr lang="en-US" sz="2900" dirty="0"/>
          </a:p>
        </p:txBody>
      </p:sp>
      <p:sp>
        <p:nvSpPr>
          <p:cNvPr id="4" name="Shape 2"/>
          <p:cNvSpPr/>
          <p:nvPr/>
        </p:nvSpPr>
        <p:spPr>
          <a:xfrm>
            <a:off x="731520" y="1828800"/>
            <a:ext cx="5120640" cy="2697480"/>
          </a:xfrm>
          <a:prstGeom prst="roundRect">
            <a:avLst>
              <a:gd name="adj" fmla="val 2034"/>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5" name="Shape 3"/>
          <p:cNvSpPr/>
          <p:nvPr/>
        </p:nvSpPr>
        <p:spPr>
          <a:xfrm>
            <a:off x="1051560" y="2103120"/>
            <a:ext cx="402336" cy="402336"/>
          </a:xfrm>
          <a:prstGeom prst="ellipse">
            <a:avLst/>
          </a:prstGeom>
          <a:solidFill>
            <a:srgbClr val="C75B2B"/>
          </a:solidFill>
          <a:ln w="12700">
            <a:solidFill>
              <a:srgbClr val="C75B2B"/>
            </a:solidFill>
            <a:prstDash val="solid"/>
          </a:ln>
        </p:spPr>
      </p:sp>
      <p:sp>
        <p:nvSpPr>
          <p:cNvPr id="6" name="Text 4"/>
          <p:cNvSpPr txBox="1"/>
          <p:nvPr/>
        </p:nvSpPr>
        <p:spPr>
          <a:xfrm>
            <a:off x="1051560" y="21031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600200" y="2121408"/>
            <a:ext cx="4023360" cy="365760"/>
          </a:xfrm>
          <a:prstGeom prst="rect">
            <a:avLst/>
          </a:prstGeom>
          <a:noFill/>
          <a:ln/>
        </p:spPr>
        <p:txBody>
          <a:bodyPr wrap="square" lIns="0" tIns="0" rIns="0" bIns="0" rtlCol="0" anchor="ctr"/>
          <a:lstStyle/>
          <a:p>
            <a:pPr indent="0" marL="0">
              <a:buNone/>
            </a:pPr>
            <a:r>
              <a:rPr lang="en-US" sz="1700" b="1" dirty="0">
                <a:solidFill>
                  <a:srgbClr val="18211E"/>
                </a:solidFill>
                <a:latin typeface="Cambria" pitchFamily="34" charset="0"/>
                <a:ea typeface="Cambria" pitchFamily="34" charset="-122"/>
                <a:cs typeface="Cambria" pitchFamily="34" charset="-120"/>
              </a:rPr>
              <a:t>Continuidad</a:t>
            </a:r>
            <a:endParaRPr lang="en-US" sz="1700" dirty="0"/>
          </a:p>
        </p:txBody>
      </p:sp>
      <p:sp>
        <p:nvSpPr>
          <p:cNvPr id="8" name="Text 6"/>
          <p:cNvSpPr txBox="1"/>
          <p:nvPr/>
        </p:nvSpPr>
        <p:spPr>
          <a:xfrm>
            <a:off x="1051560" y="2670048"/>
            <a:ext cx="4526280" cy="658368"/>
          </a:xfrm>
          <a:prstGeom prst="rect">
            <a:avLst/>
          </a:prstGeom>
          <a:noFill/>
          <a:ln/>
        </p:spPr>
        <p:txBody>
          <a:bodyPr wrap="square" lIns="0" tIns="0" rIns="0" bIns="0" rtlCol="0" anchor="ctr"/>
          <a:lstStyle/>
          <a:p>
            <a:pPr indent="0" marL="0">
              <a:lnSpc>
                <a:spcPts val="1800"/>
              </a:lnSpc>
              <a:buNone/>
            </a:pPr>
            <a:r>
              <a:rPr lang="en-US" sz="1350" b="1" dirty="0">
                <a:solidFill>
                  <a:srgbClr val="18211E"/>
                </a:solidFill>
                <a:latin typeface="Calibri" pitchFamily="34" charset="0"/>
                <a:ea typeface="Calibri" pitchFamily="34" charset="-122"/>
                <a:cs typeface="Calibri" pitchFamily="34" charset="-120"/>
              </a:rPr>
              <a:t>Cómo se cuida a alguien no está escrito en ninguna parte, vive en una sola cabeza.</a:t>
            </a:r>
            <a:endParaRPr lang="en-US" sz="1350" dirty="0"/>
          </a:p>
        </p:txBody>
      </p:sp>
      <p:sp>
        <p:nvSpPr>
          <p:cNvPr id="9" name="Text 7"/>
          <p:cNvSpPr txBox="1"/>
          <p:nvPr/>
        </p:nvSpPr>
        <p:spPr>
          <a:xfrm>
            <a:off x="1051560" y="3401568"/>
            <a:ext cx="4526280" cy="960120"/>
          </a:xfrm>
          <a:prstGeom prst="rect">
            <a:avLst/>
          </a:prstGeom>
          <a:noFill/>
          <a:ln/>
        </p:spPr>
        <p:txBody>
          <a:bodyPr wrap="square" lIns="0" tIns="0" rIns="0" bIns="0" rtlCol="0" anchor="ctr"/>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Traspasarlo a un hermano o a quien cubra un fin de semana cuesta horas de explicación. En la práctica no se traspasa, y el cuidador principal no puede ausentarse.</a:t>
            </a:r>
            <a:endParaRPr lang="en-US" sz="1250" dirty="0"/>
          </a:p>
        </p:txBody>
      </p:sp>
      <p:sp>
        <p:nvSpPr>
          <p:cNvPr id="10" name="Shape 8"/>
          <p:cNvSpPr/>
          <p:nvPr/>
        </p:nvSpPr>
        <p:spPr>
          <a:xfrm>
            <a:off x="6309360" y="1828800"/>
            <a:ext cx="5120640" cy="2697480"/>
          </a:xfrm>
          <a:prstGeom prst="roundRect">
            <a:avLst>
              <a:gd name="adj" fmla="val 2034"/>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1" name="Shape 9"/>
          <p:cNvSpPr/>
          <p:nvPr/>
        </p:nvSpPr>
        <p:spPr>
          <a:xfrm>
            <a:off x="6629400" y="2103120"/>
            <a:ext cx="402336" cy="402336"/>
          </a:xfrm>
          <a:prstGeom prst="ellipse">
            <a:avLst/>
          </a:prstGeom>
          <a:solidFill>
            <a:srgbClr val="C75B2B"/>
          </a:solidFill>
          <a:ln w="12700">
            <a:solidFill>
              <a:srgbClr val="C75B2B"/>
            </a:solidFill>
            <a:prstDash val="solid"/>
          </a:ln>
        </p:spPr>
      </p:sp>
      <p:sp>
        <p:nvSpPr>
          <p:cNvPr id="12" name="Text 10"/>
          <p:cNvSpPr txBox="1"/>
          <p:nvPr/>
        </p:nvSpPr>
        <p:spPr>
          <a:xfrm>
            <a:off x="6629400" y="21031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7178040" y="2121408"/>
            <a:ext cx="4023360" cy="365760"/>
          </a:xfrm>
          <a:prstGeom prst="rect">
            <a:avLst/>
          </a:prstGeom>
          <a:noFill/>
          <a:ln/>
        </p:spPr>
        <p:txBody>
          <a:bodyPr wrap="square" lIns="0" tIns="0" rIns="0" bIns="0" rtlCol="0" anchor="ctr"/>
          <a:lstStyle/>
          <a:p>
            <a:pPr indent="0" marL="0">
              <a:buNone/>
            </a:pPr>
            <a:r>
              <a:rPr lang="en-US" sz="1700" b="1" dirty="0">
                <a:solidFill>
                  <a:srgbClr val="18211E"/>
                </a:solidFill>
                <a:latin typeface="Cambria" pitchFamily="34" charset="0"/>
                <a:ea typeface="Cambria" pitchFamily="34" charset="-122"/>
                <a:cs typeface="Cambria" pitchFamily="34" charset="-120"/>
              </a:rPr>
              <a:t>Abastecimiento</a:t>
            </a:r>
            <a:endParaRPr lang="en-US" sz="1700" dirty="0"/>
          </a:p>
        </p:txBody>
      </p:sp>
      <p:sp>
        <p:nvSpPr>
          <p:cNvPr id="14" name="Text 12"/>
          <p:cNvSpPr txBox="1"/>
          <p:nvPr/>
        </p:nvSpPr>
        <p:spPr>
          <a:xfrm>
            <a:off x="6629400" y="2670048"/>
            <a:ext cx="4526280" cy="658368"/>
          </a:xfrm>
          <a:prstGeom prst="rect">
            <a:avLst/>
          </a:prstGeom>
          <a:noFill/>
          <a:ln/>
        </p:spPr>
        <p:txBody>
          <a:bodyPr wrap="square" lIns="0" tIns="0" rIns="0" bIns="0" rtlCol="0" anchor="ctr"/>
          <a:lstStyle/>
          <a:p>
            <a:pPr indent="0" marL="0">
              <a:lnSpc>
                <a:spcPts val="1800"/>
              </a:lnSpc>
              <a:buNone/>
            </a:pPr>
            <a:r>
              <a:rPr lang="en-US" sz="1350" b="1" dirty="0">
                <a:solidFill>
                  <a:srgbClr val="18211E"/>
                </a:solidFill>
                <a:latin typeface="Calibri" pitchFamily="34" charset="0"/>
                <a:ea typeface="Calibri" pitchFamily="34" charset="-122"/>
                <a:cs typeface="Calibri" pitchFamily="34" charset="-120"/>
              </a:rPr>
              <a:t>El consumo de insumos se lleva de memoria y cambia con el estado de la persona.</a:t>
            </a:r>
            <a:endParaRPr lang="en-US" sz="1350" dirty="0"/>
          </a:p>
        </p:txBody>
      </p:sp>
      <p:sp>
        <p:nvSpPr>
          <p:cNvPr id="15" name="Text 13"/>
          <p:cNvSpPr txBox="1"/>
          <p:nvPr/>
        </p:nvSpPr>
        <p:spPr>
          <a:xfrm>
            <a:off x="6629400" y="3401568"/>
            <a:ext cx="4526280" cy="960120"/>
          </a:xfrm>
          <a:prstGeom prst="rect">
            <a:avLst/>
          </a:prstGeom>
          <a:noFill/>
          <a:ln/>
        </p:spPr>
        <p:txBody>
          <a:bodyPr wrap="square" lIns="0" tIns="0" rIns="0" bIns="0" rtlCol="0" anchor="ctr"/>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Se compra cuando alguien nota que se está acabando. La salida de urgencia recae siempre en el mismo familiar, y el gasto se reparte de manera informal.</a:t>
            </a:r>
            <a:endParaRPr lang="en-US" sz="1250" dirty="0"/>
          </a:p>
        </p:txBody>
      </p:sp>
      <p:sp>
        <p:nvSpPr>
          <p:cNvPr id="16" name="Shape 14"/>
          <p:cNvSpPr/>
          <p:nvPr/>
        </p:nvSpPr>
        <p:spPr>
          <a:xfrm>
            <a:off x="731520" y="4800600"/>
            <a:ext cx="10698480" cy="1188720"/>
          </a:xfrm>
          <a:prstGeom prst="roundRect">
            <a:avLst>
              <a:gd name="adj" fmla="val 3846"/>
            </a:avLst>
          </a:prstGeom>
          <a:solidFill>
            <a:srgbClr val="1F3A34"/>
          </a:solidFill>
          <a:ln w="12700">
            <a:solidFill>
              <a:srgbClr val="1F3A34"/>
            </a:solidFill>
            <a:prstDash val="solid"/>
          </a:ln>
        </p:spPr>
      </p:sp>
      <p:sp>
        <p:nvSpPr>
          <p:cNvPr id="17" name="Text 15"/>
          <p:cNvSpPr txBox="1"/>
          <p:nvPr/>
        </p:nvSpPr>
        <p:spPr>
          <a:xfrm>
            <a:off x="1051560" y="4983480"/>
            <a:ext cx="100584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El cuidado depende de una sola persona que no puede delegar ni ausentarse.</a:t>
            </a:r>
            <a:endParaRPr lang="en-US" sz="1700" dirty="0"/>
          </a:p>
        </p:txBody>
      </p:sp>
      <p:sp>
        <p:nvSpPr>
          <p:cNvPr id="18" name="Text 16"/>
          <p:cNvSpPr txBox="1"/>
          <p:nvPr/>
        </p:nvSpPr>
        <p:spPr>
          <a:xfrm>
            <a:off x="1051560" y="5413248"/>
            <a:ext cx="10058400" cy="320040"/>
          </a:xfrm>
          <a:prstGeom prst="rect">
            <a:avLst/>
          </a:prstGeom>
          <a:noFill/>
          <a:ln/>
        </p:spPr>
        <p:txBody>
          <a:bodyPr wrap="square" lIns="0" tIns="0" rIns="0" bIns="0" rtlCol="0" anchor="ctr"/>
          <a:lstStyle/>
          <a:p>
            <a:pPr indent="0" marL="0">
              <a:buNone/>
            </a:pPr>
            <a:r>
              <a:rPr lang="en-US" sz="1250" i="1" dirty="0">
                <a:solidFill>
                  <a:srgbClr val="8FB3A6"/>
                </a:solidFill>
                <a:latin typeface="Calibri" pitchFamily="34" charset="0"/>
                <a:ea typeface="Calibri" pitchFamily="34" charset="-122"/>
                <a:cs typeface="Calibri" pitchFamily="34" charset="-120"/>
              </a:rPr>
              <a:t>«Eso no estaba en la hoja porque yo lo sé, y se me olvidó que los demás no.»   —  E06, cuidadora, entrevista 6</a:t>
            </a:r>
            <a:endParaRPr lang="en-US" sz="1250" dirty="0"/>
          </a:p>
        </p:txBody>
      </p:sp>
      <p:sp>
        <p:nvSpPr>
          <p:cNvPr id="19" name="Text 17"/>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Jorge  ·  35 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LA SOLUCIÓN</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Tres capas, y el orden importa</a:t>
            </a:r>
            <a:endParaRPr lang="en-US" sz="2900" dirty="0"/>
          </a:p>
        </p:txBody>
      </p:sp>
      <p:sp>
        <p:nvSpPr>
          <p:cNvPr id="4" name="Shape 2"/>
          <p:cNvSpPr/>
          <p:nvPr/>
        </p:nvSpPr>
        <p:spPr>
          <a:xfrm>
            <a:off x="731520" y="1737360"/>
            <a:ext cx="10698480" cy="1152144"/>
          </a:xfrm>
          <a:prstGeom prst="roundRect">
            <a:avLst>
              <a:gd name="adj" fmla="val 4762"/>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5" name="Shape 3"/>
          <p:cNvSpPr/>
          <p:nvPr/>
        </p:nvSpPr>
        <p:spPr>
          <a:xfrm>
            <a:off x="1051560" y="2112264"/>
            <a:ext cx="402336" cy="402336"/>
          </a:xfrm>
          <a:prstGeom prst="ellipse">
            <a:avLst/>
          </a:prstGeom>
          <a:solidFill>
            <a:srgbClr val="C75B2B"/>
          </a:solidFill>
          <a:ln w="12700">
            <a:solidFill>
              <a:srgbClr val="C75B2B"/>
            </a:solidFill>
            <a:prstDash val="solid"/>
          </a:ln>
        </p:spPr>
      </p:sp>
      <p:sp>
        <p:nvSpPr>
          <p:cNvPr id="6" name="Text 4"/>
          <p:cNvSpPr txBox="1"/>
          <p:nvPr/>
        </p:nvSpPr>
        <p:spPr>
          <a:xfrm>
            <a:off x="1051560" y="21122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627632" y="1920240"/>
            <a:ext cx="3291840" cy="320040"/>
          </a:xfrm>
          <a:prstGeom prst="rect">
            <a:avLst/>
          </a:prstGeom>
          <a:noFill/>
          <a:ln/>
        </p:spPr>
        <p:txBody>
          <a:bodyPr wrap="square" lIns="0" tIns="0" rIns="0" bIns="0" rtlCol="0" anchor="ctr"/>
          <a:lstStyle/>
          <a:p>
            <a:pPr indent="0" marL="0">
              <a:buNone/>
            </a:pPr>
            <a:r>
              <a:rPr lang="en-US" sz="1500" b="1" dirty="0">
                <a:solidFill>
                  <a:srgbClr val="18211E"/>
                </a:solidFill>
                <a:latin typeface="Cambria" pitchFamily="34" charset="0"/>
                <a:ea typeface="Cambria" pitchFamily="34" charset="-122"/>
                <a:cs typeface="Cambria" pitchFamily="34" charset="-120"/>
              </a:rPr>
              <a:t>Capa 1 · Plan de cuidado</a:t>
            </a:r>
            <a:endParaRPr lang="en-US" sz="1500" dirty="0"/>
          </a:p>
        </p:txBody>
      </p:sp>
      <p:sp>
        <p:nvSpPr>
          <p:cNvPr id="8" name="Text 6"/>
          <p:cNvSpPr txBox="1"/>
          <p:nvPr/>
        </p:nvSpPr>
        <p:spPr>
          <a:xfrm>
            <a:off x="1627632" y="2286000"/>
            <a:ext cx="3291840" cy="274320"/>
          </a:xfrm>
          <a:prstGeom prst="rect">
            <a:avLst/>
          </a:prstGeom>
          <a:noFill/>
          <a:ln/>
        </p:spPr>
        <p:txBody>
          <a:bodyPr wrap="square" lIns="0" tIns="0" rIns="0" bIns="0" rtlCol="0" anchor="ctr"/>
          <a:lstStyle/>
          <a:p>
            <a:pPr indent="0" marL="0">
              <a:buNone/>
            </a:pPr>
            <a:r>
              <a:rPr lang="en-US" sz="1150" b="1" dirty="0">
                <a:solidFill>
                  <a:srgbClr val="C75B2B"/>
                </a:solidFill>
                <a:latin typeface="Calibri" pitchFamily="34" charset="0"/>
                <a:ea typeface="Calibri" pitchFamily="34" charset="-122"/>
                <a:cs typeface="Calibri" pitchFamily="34" charset="-120"/>
              </a:rPr>
              <a:t>Es el producto</a:t>
            </a:r>
            <a:endParaRPr lang="en-US" sz="1150" dirty="0"/>
          </a:p>
        </p:txBody>
      </p:sp>
      <p:sp>
        <p:nvSpPr>
          <p:cNvPr id="9" name="Text 7"/>
          <p:cNvSpPr txBox="1"/>
          <p:nvPr/>
        </p:nvSpPr>
        <p:spPr>
          <a:xfrm>
            <a:off x="5029200" y="1892808"/>
            <a:ext cx="6172200" cy="868680"/>
          </a:xfrm>
          <a:prstGeom prst="rect">
            <a:avLst/>
          </a:prstGeom>
          <a:noFill/>
          <a:ln/>
        </p:spPr>
        <p:txBody>
          <a:bodyPr wrap="square" lIns="0" tIns="0" rIns="0" bIns="0" rtlCol="0" anchor="ctr"/>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Convierte lo que sabe quien cuida —rutina, qué hacer en una crisis, a quién llamar— en algo escrito y transferible. Se comparte con un relevo por un enlace acotado, con vencimiento y auditoría.</a:t>
            </a:r>
            <a:endParaRPr lang="en-US" sz="1250" dirty="0"/>
          </a:p>
        </p:txBody>
      </p:sp>
      <p:sp>
        <p:nvSpPr>
          <p:cNvPr id="10" name="Shape 8"/>
          <p:cNvSpPr/>
          <p:nvPr/>
        </p:nvSpPr>
        <p:spPr>
          <a:xfrm>
            <a:off x="731520" y="3054096"/>
            <a:ext cx="10698480" cy="1152144"/>
          </a:xfrm>
          <a:prstGeom prst="roundRect">
            <a:avLst>
              <a:gd name="adj" fmla="val 4762"/>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1" name="Shape 9"/>
          <p:cNvSpPr/>
          <p:nvPr/>
        </p:nvSpPr>
        <p:spPr>
          <a:xfrm>
            <a:off x="1051560" y="3429000"/>
            <a:ext cx="402336" cy="402336"/>
          </a:xfrm>
          <a:prstGeom prst="ellipse">
            <a:avLst/>
          </a:prstGeom>
          <a:solidFill>
            <a:srgbClr val="6E9C8C"/>
          </a:solidFill>
          <a:ln w="12700">
            <a:solidFill>
              <a:srgbClr val="6E9C8C"/>
            </a:solidFill>
            <a:prstDash val="solid"/>
          </a:ln>
        </p:spPr>
      </p:sp>
      <p:sp>
        <p:nvSpPr>
          <p:cNvPr id="12" name="Text 10"/>
          <p:cNvSpPr txBox="1"/>
          <p:nvPr/>
        </p:nvSpPr>
        <p:spPr>
          <a:xfrm>
            <a:off x="1051560" y="34290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627632" y="3236976"/>
            <a:ext cx="3291840" cy="320040"/>
          </a:xfrm>
          <a:prstGeom prst="rect">
            <a:avLst/>
          </a:prstGeom>
          <a:noFill/>
          <a:ln/>
        </p:spPr>
        <p:txBody>
          <a:bodyPr wrap="square" lIns="0" tIns="0" rIns="0" bIns="0" rtlCol="0" anchor="ctr"/>
          <a:lstStyle/>
          <a:p>
            <a:pPr indent="0" marL="0">
              <a:buNone/>
            </a:pPr>
            <a:r>
              <a:rPr lang="en-US" sz="1500" b="1" dirty="0">
                <a:solidFill>
                  <a:srgbClr val="18211E"/>
                </a:solidFill>
                <a:latin typeface="Cambria" pitchFamily="34" charset="0"/>
                <a:ea typeface="Cambria" pitchFamily="34" charset="-122"/>
                <a:cs typeface="Cambria" pitchFamily="34" charset="-120"/>
              </a:rPr>
              <a:t>Capa 2 · Consumo y predicción</a:t>
            </a:r>
            <a:endParaRPr lang="en-US" sz="1500" dirty="0"/>
          </a:p>
        </p:txBody>
      </p:sp>
      <p:sp>
        <p:nvSpPr>
          <p:cNvPr id="14" name="Text 12"/>
          <p:cNvSpPr txBox="1"/>
          <p:nvPr/>
        </p:nvSpPr>
        <p:spPr>
          <a:xfrm>
            <a:off x="1627632" y="3602736"/>
            <a:ext cx="3291840" cy="274320"/>
          </a:xfrm>
          <a:prstGeom prst="rect">
            <a:avLst/>
          </a:prstGeom>
          <a:noFill/>
          <a:ln/>
        </p:spPr>
        <p:txBody>
          <a:bodyPr wrap="square" lIns="0" tIns="0" rIns="0" bIns="0" rtlCol="0" anchor="ctr"/>
          <a:lstStyle/>
          <a:p>
            <a:pPr indent="0" marL="0">
              <a:buNone/>
            </a:pPr>
            <a:r>
              <a:rPr lang="en-US" sz="1150" b="1" dirty="0">
                <a:solidFill>
                  <a:srgbClr val="6E9C8C"/>
                </a:solidFill>
                <a:latin typeface="Calibri" pitchFamily="34" charset="0"/>
                <a:ea typeface="Calibri" pitchFamily="34" charset="-122"/>
                <a:cs typeface="Calibri" pitchFamily="34" charset="-120"/>
              </a:rPr>
              <a:t>Es el diferenciador computable</a:t>
            </a:r>
            <a:endParaRPr lang="en-US" sz="1150" dirty="0"/>
          </a:p>
        </p:txBody>
      </p:sp>
      <p:sp>
        <p:nvSpPr>
          <p:cNvPr id="15" name="Text 13"/>
          <p:cNvSpPr txBox="1"/>
          <p:nvPr/>
        </p:nvSpPr>
        <p:spPr>
          <a:xfrm>
            <a:off x="5029200" y="3209544"/>
            <a:ext cx="6172200" cy="868680"/>
          </a:xfrm>
          <a:prstGeom prst="rect">
            <a:avLst/>
          </a:prstGeom>
          <a:noFill/>
          <a:ln/>
        </p:spPr>
        <p:txBody>
          <a:bodyPr wrap="square" lIns="0" tIns="0" rIns="0" bIns="0" rtlCol="0" anchor="ctr"/>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Del mismo plan se declara el consumo de cada insumo. El sistema anticipa la fecha de quiebre y arma la lista de reposición antes de que algo se acabe.</a:t>
            </a:r>
            <a:endParaRPr lang="en-US" sz="1250" dirty="0"/>
          </a:p>
        </p:txBody>
      </p:sp>
      <p:sp>
        <p:nvSpPr>
          <p:cNvPr id="16" name="Shape 14"/>
          <p:cNvSpPr/>
          <p:nvPr/>
        </p:nvSpPr>
        <p:spPr>
          <a:xfrm>
            <a:off x="731520" y="4370832"/>
            <a:ext cx="10698480" cy="1152144"/>
          </a:xfrm>
          <a:prstGeom prst="roundRect">
            <a:avLst>
              <a:gd name="adj" fmla="val 4762"/>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7" name="Shape 15"/>
          <p:cNvSpPr/>
          <p:nvPr/>
        </p:nvSpPr>
        <p:spPr>
          <a:xfrm>
            <a:off x="1051560" y="4745736"/>
            <a:ext cx="402336" cy="402336"/>
          </a:xfrm>
          <a:prstGeom prst="ellipse">
            <a:avLst/>
          </a:prstGeom>
          <a:solidFill>
            <a:srgbClr val="16302B"/>
          </a:solidFill>
          <a:ln w="12700">
            <a:solidFill>
              <a:srgbClr val="16302B"/>
            </a:solidFill>
            <a:prstDash val="solid"/>
          </a:ln>
        </p:spPr>
      </p:sp>
      <p:sp>
        <p:nvSpPr>
          <p:cNvPr id="18" name="Text 16"/>
          <p:cNvSpPr txBox="1"/>
          <p:nvPr/>
        </p:nvSpPr>
        <p:spPr>
          <a:xfrm>
            <a:off x="1051560" y="47457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627632" y="4553712"/>
            <a:ext cx="3291840" cy="320040"/>
          </a:xfrm>
          <a:prstGeom prst="rect">
            <a:avLst/>
          </a:prstGeom>
          <a:noFill/>
          <a:ln/>
        </p:spPr>
        <p:txBody>
          <a:bodyPr wrap="square" lIns="0" tIns="0" rIns="0" bIns="0" rtlCol="0" anchor="ctr"/>
          <a:lstStyle/>
          <a:p>
            <a:pPr indent="0" marL="0">
              <a:buNone/>
            </a:pPr>
            <a:r>
              <a:rPr lang="en-US" sz="1500" b="1" dirty="0">
                <a:solidFill>
                  <a:srgbClr val="18211E"/>
                </a:solidFill>
                <a:latin typeface="Cambria" pitchFamily="34" charset="0"/>
                <a:ea typeface="Cambria" pitchFamily="34" charset="-122"/>
                <a:cs typeface="Cambria" pitchFamily="34" charset="-120"/>
              </a:rPr>
              <a:t>Capa 3 · Despacho</a:t>
            </a:r>
            <a:endParaRPr lang="en-US" sz="1500" dirty="0"/>
          </a:p>
        </p:txBody>
      </p:sp>
      <p:sp>
        <p:nvSpPr>
          <p:cNvPr id="20" name="Text 18"/>
          <p:cNvSpPr txBox="1"/>
          <p:nvPr/>
        </p:nvSpPr>
        <p:spPr>
          <a:xfrm>
            <a:off x="1627632" y="4919472"/>
            <a:ext cx="3291840" cy="274320"/>
          </a:xfrm>
          <a:prstGeom prst="rect">
            <a:avLst/>
          </a:prstGeom>
          <a:noFill/>
          <a:ln/>
        </p:spPr>
        <p:txBody>
          <a:bodyPr wrap="square" lIns="0" tIns="0" rIns="0" bIns="0" rtlCol="0" anchor="ctr"/>
          <a:lstStyle/>
          <a:p>
            <a:pPr indent="0" marL="0">
              <a:buNone/>
            </a:pPr>
            <a:r>
              <a:rPr lang="en-US" sz="1150" b="1" dirty="0">
                <a:solidFill>
                  <a:srgbClr val="5A6661"/>
                </a:solidFill>
                <a:latin typeface="Calibri" pitchFamily="34" charset="0"/>
                <a:ea typeface="Calibri" pitchFamily="34" charset="-122"/>
                <a:cs typeface="Calibri" pitchFamily="34" charset="-120"/>
              </a:rPr>
              <a:t>Es un servicio, no la razón de existir</a:t>
            </a:r>
            <a:endParaRPr lang="en-US" sz="1150" dirty="0"/>
          </a:p>
        </p:txBody>
      </p:sp>
      <p:sp>
        <p:nvSpPr>
          <p:cNvPr id="21" name="Text 19"/>
          <p:cNvSpPr txBox="1"/>
          <p:nvPr/>
        </p:nvSpPr>
        <p:spPr>
          <a:xfrm>
            <a:off x="5029200" y="4526280"/>
            <a:ext cx="6172200" cy="868680"/>
          </a:xfrm>
          <a:prstGeom prst="rect">
            <a:avLst/>
          </a:prstGeom>
          <a:noFill/>
          <a:ln/>
        </p:spPr>
        <p:txBody>
          <a:bodyPr wrap="square" lIns="0" tIns="0" rIns="0" bIns="0" rtlCol="0" anchor="ctr"/>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Catálogo, pedido, pago y entrega. Desacoplada por diseño: sin convenio comercial la familia exporta su lista y compra donde quiera, y el sistema sigue entregando su valor central.</a:t>
            </a:r>
            <a:endParaRPr lang="en-US" sz="1250" dirty="0"/>
          </a:p>
        </p:txBody>
      </p:sp>
      <p:sp>
        <p:nvSpPr>
          <p:cNvPr id="22" name="Text 20"/>
          <p:cNvSpPr txBox="1"/>
          <p:nvPr/>
        </p:nvSpPr>
        <p:spPr>
          <a:xfrm>
            <a:off x="731520" y="5760720"/>
            <a:ext cx="10698480" cy="365760"/>
          </a:xfrm>
          <a:prstGeom prst="rect">
            <a:avLst/>
          </a:prstGeom>
          <a:noFill/>
          <a:ln/>
        </p:spPr>
        <p:txBody>
          <a:bodyPr wrap="square" lIns="0" tIns="0" rIns="0" bIns="0" rtlCol="0" anchor="ctr"/>
          <a:lstStyle/>
          <a:p>
            <a:pPr indent="0" marL="0">
              <a:buNone/>
            </a:pPr>
            <a:r>
              <a:rPr lang="en-US" sz="1500" b="1" dirty="0">
                <a:solidFill>
                  <a:srgbClr val="C75B2B"/>
                </a:solidFill>
                <a:latin typeface="Cambria" pitchFamily="34" charset="0"/>
                <a:ea typeface="Cambria" pitchFamily="34" charset="-122"/>
                <a:cs typeface="Cambria" pitchFamily="34" charset="-120"/>
              </a:rPr>
              <a:t>La predicción existe porque existe el plan. Nadie que no conozca a la persona cuidada sabe que usa cuatro pañales al día.</a:t>
            </a:r>
            <a:endParaRPr lang="en-US" sz="1500" dirty="0"/>
          </a:p>
        </p:txBody>
      </p:sp>
      <p:sp>
        <p:nvSpPr>
          <p:cNvPr id="23" name="Text 21"/>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Jorge  ·  55 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LA VALIDACIÓN</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Diez entrevistas contra criterios escritos de antemano</a:t>
            </a:r>
            <a:endParaRPr lang="en-US" sz="2900" dirty="0"/>
          </a:p>
        </p:txBody>
      </p:sp>
      <p:sp>
        <p:nvSpPr>
          <p:cNvPr id="4" name="Shape 2"/>
          <p:cNvSpPr/>
          <p:nvPr/>
        </p:nvSpPr>
        <p:spPr>
          <a:xfrm>
            <a:off x="731520" y="1737360"/>
            <a:ext cx="3931920" cy="3246120"/>
          </a:xfrm>
          <a:prstGeom prst="roundRect">
            <a:avLst>
              <a:gd name="adj" fmla="val 1690"/>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5" name="Text 3"/>
          <p:cNvSpPr txBox="1"/>
          <p:nvPr/>
        </p:nvSpPr>
        <p:spPr>
          <a:xfrm>
            <a:off x="1005840" y="1965960"/>
            <a:ext cx="3383280" cy="320040"/>
          </a:xfrm>
          <a:prstGeom prst="rect">
            <a:avLst/>
          </a:prstGeom>
          <a:noFill/>
          <a:ln/>
        </p:spPr>
        <p:txBody>
          <a:bodyPr wrap="square" lIns="0" tIns="0" rIns="0" bIns="0" rtlCol="0" anchor="ctr"/>
          <a:lstStyle/>
          <a:p>
            <a:pPr indent="0" marL="0">
              <a:buNone/>
            </a:pPr>
            <a:r>
              <a:rPr lang="en-US" sz="1600" b="1" dirty="0">
                <a:solidFill>
                  <a:srgbClr val="18211E"/>
                </a:solidFill>
                <a:latin typeface="Cambria" pitchFamily="34" charset="0"/>
                <a:ea typeface="Cambria" pitchFamily="34" charset="-122"/>
                <a:cs typeface="Cambria" pitchFamily="34" charset="-120"/>
              </a:rPr>
              <a:t>El método</a:t>
            </a:r>
            <a:endParaRPr lang="en-US" sz="1600" dirty="0"/>
          </a:p>
        </p:txBody>
      </p:sp>
      <p:sp>
        <p:nvSpPr>
          <p:cNvPr id="6" name="Text 4"/>
          <p:cNvSpPr txBox="1"/>
          <p:nvPr/>
        </p:nvSpPr>
        <p:spPr>
          <a:xfrm>
            <a:off x="1005840" y="2377440"/>
            <a:ext cx="3383280" cy="246888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00" dirty="0">
                <a:solidFill>
                  <a:srgbClr val="5A6661"/>
                </a:solidFill>
                <a:latin typeface="Calibri" pitchFamily="34" charset="0"/>
                <a:ea typeface="Calibri" pitchFamily="34" charset="-122"/>
                <a:cs typeface="Calibri" pitchFamily="34" charset="-120"/>
              </a:rPr>
              <a:t>Diez entrevistas, la meta íntegra del protocolo. El mínimo viable para decidir era seis.</a:t>
            </a:r>
            <a:endParaRPr lang="en-US" sz="1200" dirty="0"/>
          </a:p>
          <a:p>
            <a:pPr marL="342900" indent="-342900">
              <a:lnSpc>
                <a:spcPts val="1600"/>
              </a:lnSpc>
              <a:spcAft>
                <a:spcPts val="900"/>
              </a:spcAft>
              <a:buSzPct val="100000"/>
              <a:buChar char="•"/>
            </a:pPr>
            <a:r>
              <a:rPr lang="en-US" sz="1200" dirty="0">
                <a:solidFill>
                  <a:srgbClr val="5A6661"/>
                </a:solidFill>
                <a:latin typeface="Calibri" pitchFamily="34" charset="0"/>
                <a:ea typeface="Calibri" pitchFamily="34" charset="-122"/>
                <a:cs typeface="Calibri" pitchFamily="34" charset="-120"/>
              </a:rPr>
              <a:t>Cuidadoras de 38 a 71 años, mediana de 36 meses en cuidado.</a:t>
            </a:r>
            <a:endParaRPr lang="en-US" sz="1200" dirty="0"/>
          </a:p>
          <a:p>
            <a:pPr marL="342900" indent="-342900">
              <a:lnSpc>
                <a:spcPts val="1600"/>
              </a:lnSpc>
              <a:spcAft>
                <a:spcPts val="900"/>
              </a:spcAft>
              <a:buSzPct val="100000"/>
              <a:buChar char="•"/>
            </a:pPr>
            <a:r>
              <a:rPr lang="en-US" sz="1200" dirty="0">
                <a:solidFill>
                  <a:srgbClr val="5A6661"/>
                </a:solidFill>
                <a:latin typeface="Calibri" pitchFamily="34" charset="0"/>
                <a:ea typeface="Calibri" pitchFamily="34" charset="-122"/>
                <a:cs typeface="Calibri" pitchFamily="34" charset="-120"/>
              </a:rPr>
              <a:t>Siete hipótesis con umbral de validación y de refutación fijados antes de la primera entrevista.</a:t>
            </a:r>
            <a:endParaRPr lang="en-US" sz="1200" dirty="0"/>
          </a:p>
          <a:p>
            <a:pPr marL="342900" indent="-342900">
              <a:lnSpc>
                <a:spcPts val="1600"/>
              </a:lnSpc>
              <a:spcAft>
                <a:spcPts val="900"/>
              </a:spcAft>
              <a:buSzPct val="100000"/>
              <a:buChar char="•"/>
            </a:pPr>
            <a:r>
              <a:rPr lang="en-US" sz="1200" dirty="0">
                <a:solidFill>
                  <a:srgbClr val="5A6661"/>
                </a:solidFill>
                <a:latin typeface="Calibri" pitchFamily="34" charset="0"/>
                <a:ea typeface="Calibri" pitchFamily="34" charset="-122"/>
                <a:cs typeface="Calibri" pitchFamily="34" charset="-120"/>
              </a:rPr>
              <a:t>Tres mediciones de campo: canasta mensual, frecuencia de compra y gasto ya desembolsado.</a:t>
            </a:r>
            <a:endParaRPr lang="en-US" sz="1200" dirty="0"/>
          </a:p>
        </p:txBody>
      </p:sp>
      <p:sp>
        <p:nvSpPr>
          <p:cNvPr id="7" name="Shape 5"/>
          <p:cNvSpPr/>
          <p:nvPr/>
        </p:nvSpPr>
        <p:spPr>
          <a:xfrm>
            <a:off x="5029200" y="1737360"/>
            <a:ext cx="6400800" cy="987552"/>
          </a:xfrm>
          <a:prstGeom prst="roundRect">
            <a:avLst>
              <a:gd name="adj" fmla="val 5556"/>
            </a:avLst>
          </a:prstGeom>
          <a:solidFill>
            <a:srgbClr val="F7F9F8"/>
          </a:solidFill>
          <a:ln w="12700">
            <a:solidFill>
              <a:srgbClr val="F7F9F8"/>
            </a:solidFill>
            <a:prstDash val="solid"/>
          </a:ln>
          <a:effectLst>
            <a:outerShdw sx="100000" sy="100000" kx="0" ky="0" algn="bl" rotWithShape="0" blurRad="127000" dist="25400" dir="5400000">
              <a:srgbClr val="1F3A34">
                <a:alpha val="10000"/>
              </a:srgbClr>
            </a:outerShdw>
          </a:effectLst>
        </p:spPr>
      </p:sp>
      <p:sp>
        <p:nvSpPr>
          <p:cNvPr id="8" name="Shape 6"/>
          <p:cNvSpPr/>
          <p:nvPr/>
        </p:nvSpPr>
        <p:spPr>
          <a:xfrm>
            <a:off x="5029200" y="1737360"/>
            <a:ext cx="713232" cy="987552"/>
          </a:xfrm>
          <a:prstGeom prst="roundRect">
            <a:avLst>
              <a:gd name="adj" fmla="val 7692"/>
            </a:avLst>
          </a:prstGeom>
          <a:solidFill>
            <a:srgbClr val="6E9C8C"/>
          </a:solidFill>
          <a:ln w="12700">
            <a:solidFill>
              <a:srgbClr val="6E9C8C"/>
            </a:solidFill>
            <a:prstDash val="solid"/>
          </a:ln>
        </p:spPr>
      </p:sp>
      <p:sp>
        <p:nvSpPr>
          <p:cNvPr id="9" name="Text 7"/>
          <p:cNvSpPr txBox="1"/>
          <p:nvPr/>
        </p:nvSpPr>
        <p:spPr>
          <a:xfrm>
            <a:off x="5029200" y="1737360"/>
            <a:ext cx="713232" cy="987552"/>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0" name="Text 8"/>
          <p:cNvSpPr txBox="1"/>
          <p:nvPr/>
        </p:nvSpPr>
        <p:spPr>
          <a:xfrm>
            <a:off x="5989320" y="1892808"/>
            <a:ext cx="5212080" cy="274320"/>
          </a:xfrm>
          <a:prstGeom prst="rect">
            <a:avLst/>
          </a:prstGeom>
          <a:noFill/>
          <a:ln/>
        </p:spPr>
        <p:txBody>
          <a:bodyPr wrap="square" lIns="0" tIns="0" rIns="0" bIns="0" rtlCol="0" anchor="ctr"/>
          <a:lstStyle/>
          <a:p>
            <a:pPr indent="0" marL="0">
              <a:buNone/>
            </a:pPr>
            <a:r>
              <a:rPr lang="en-US" sz="1100" b="1" spc="160" kern="0" dirty="0">
                <a:solidFill>
                  <a:srgbClr val="6E9C8C"/>
                </a:solidFill>
                <a:latin typeface="Calibri" pitchFamily="34" charset="0"/>
                <a:ea typeface="Calibri" pitchFamily="34" charset="-122"/>
                <a:cs typeface="Calibri" pitchFamily="34" charset="-120"/>
              </a:rPr>
              <a:t>VALIDADAS</a:t>
            </a:r>
            <a:endParaRPr lang="en-US" sz="1100" dirty="0"/>
          </a:p>
        </p:txBody>
      </p:sp>
      <p:sp>
        <p:nvSpPr>
          <p:cNvPr id="11" name="Text 9"/>
          <p:cNvSpPr txBox="1"/>
          <p:nvPr/>
        </p:nvSpPr>
        <p:spPr>
          <a:xfrm>
            <a:off x="5989320" y="2194560"/>
            <a:ext cx="5212080" cy="457200"/>
          </a:xfrm>
          <a:prstGeom prst="rect">
            <a:avLst/>
          </a:prstGeom>
          <a:noFill/>
          <a:ln/>
        </p:spPr>
        <p:txBody>
          <a:bodyPr wrap="square" lIns="0" tIns="0" rIns="0" bIns="0" rtlCol="0" anchor="ctr"/>
          <a:lstStyle/>
          <a:p>
            <a:pPr indent="0" marL="0">
              <a:lnSpc>
                <a:spcPts val="1500"/>
              </a:lnSpc>
              <a:buNone/>
            </a:pPr>
            <a:r>
              <a:rPr lang="en-US" sz="1200" dirty="0">
                <a:solidFill>
                  <a:srgbClr val="18211E"/>
                </a:solidFill>
                <a:latin typeface="Calibri" pitchFamily="34" charset="0"/>
                <a:ea typeface="Calibri" pitchFamily="34" charset="-122"/>
                <a:cs typeface="Calibri" pitchFamily="34" charset="-120"/>
              </a:rPr>
              <a:t>El relevo es real y frecuente  ·  El quiebre de stock ocurre y cuesta  ·  Hay disposición a pagar $5.990</a:t>
            </a:r>
            <a:endParaRPr lang="en-US" sz="1200" dirty="0"/>
          </a:p>
        </p:txBody>
      </p:sp>
      <p:sp>
        <p:nvSpPr>
          <p:cNvPr id="12" name="Shape 10"/>
          <p:cNvSpPr/>
          <p:nvPr/>
        </p:nvSpPr>
        <p:spPr>
          <a:xfrm>
            <a:off x="5029200" y="2852928"/>
            <a:ext cx="6400800" cy="987552"/>
          </a:xfrm>
          <a:prstGeom prst="roundRect">
            <a:avLst>
              <a:gd name="adj" fmla="val 5556"/>
            </a:avLst>
          </a:prstGeom>
          <a:solidFill>
            <a:srgbClr val="F7F9F8"/>
          </a:solidFill>
          <a:ln w="12700">
            <a:solidFill>
              <a:srgbClr val="F7F9F8"/>
            </a:solidFill>
            <a:prstDash val="solid"/>
          </a:ln>
          <a:effectLst>
            <a:outerShdw sx="100000" sy="100000" kx="0" ky="0" algn="bl" rotWithShape="0" blurRad="127000" dist="25400" dir="5400000">
              <a:srgbClr val="1F3A34">
                <a:alpha val="10000"/>
              </a:srgbClr>
            </a:outerShdw>
          </a:effectLst>
        </p:spPr>
      </p:sp>
      <p:sp>
        <p:nvSpPr>
          <p:cNvPr id="13" name="Shape 11"/>
          <p:cNvSpPr/>
          <p:nvPr/>
        </p:nvSpPr>
        <p:spPr>
          <a:xfrm>
            <a:off x="5029200" y="2852928"/>
            <a:ext cx="713232" cy="987552"/>
          </a:xfrm>
          <a:prstGeom prst="roundRect">
            <a:avLst>
              <a:gd name="adj" fmla="val 7692"/>
            </a:avLst>
          </a:prstGeom>
          <a:solidFill>
            <a:srgbClr val="C75B2B"/>
          </a:solidFill>
          <a:ln w="12700">
            <a:solidFill>
              <a:srgbClr val="C75B2B"/>
            </a:solidFill>
            <a:prstDash val="solid"/>
          </a:ln>
        </p:spPr>
      </p:sp>
      <p:sp>
        <p:nvSpPr>
          <p:cNvPr id="14" name="Text 12"/>
          <p:cNvSpPr txBox="1"/>
          <p:nvPr/>
        </p:nvSpPr>
        <p:spPr>
          <a:xfrm>
            <a:off x="5029200" y="2852928"/>
            <a:ext cx="713232" cy="987552"/>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5" name="Text 13"/>
          <p:cNvSpPr txBox="1"/>
          <p:nvPr/>
        </p:nvSpPr>
        <p:spPr>
          <a:xfrm>
            <a:off x="5989320" y="3008376"/>
            <a:ext cx="5212080" cy="274320"/>
          </a:xfrm>
          <a:prstGeom prst="rect">
            <a:avLst/>
          </a:prstGeom>
          <a:noFill/>
          <a:ln/>
        </p:spPr>
        <p:txBody>
          <a:bodyPr wrap="square" lIns="0" tIns="0" rIns="0" bIns="0" rtlCol="0" anchor="ctr"/>
          <a:lstStyle/>
          <a:p>
            <a:pPr indent="0" marL="0">
              <a:buNone/>
            </a:pPr>
            <a:r>
              <a:rPr lang="en-US" sz="1100" b="1" spc="160" kern="0" dirty="0">
                <a:solidFill>
                  <a:srgbClr val="C75B2B"/>
                </a:solidFill>
                <a:latin typeface="Calibri" pitchFamily="34" charset="0"/>
                <a:ea typeface="Calibri" pitchFamily="34" charset="-122"/>
                <a:cs typeface="Calibri" pitchFamily="34" charset="-120"/>
              </a:rPr>
              <a:t>REFUTADA</a:t>
            </a:r>
            <a:endParaRPr lang="en-US" sz="1100" dirty="0"/>
          </a:p>
        </p:txBody>
      </p:sp>
      <p:sp>
        <p:nvSpPr>
          <p:cNvPr id="16" name="Text 14"/>
          <p:cNvSpPr txBox="1"/>
          <p:nvPr/>
        </p:nvSpPr>
        <p:spPr>
          <a:xfrm>
            <a:off x="5989320" y="3310128"/>
            <a:ext cx="5212080" cy="457200"/>
          </a:xfrm>
          <a:prstGeom prst="rect">
            <a:avLst/>
          </a:prstGeom>
          <a:noFill/>
          <a:ln/>
        </p:spPr>
        <p:txBody>
          <a:bodyPr wrap="square" lIns="0" tIns="0" rIns="0" bIns="0" rtlCol="0" anchor="ctr"/>
          <a:lstStyle/>
          <a:p>
            <a:pPr indent="0" marL="0">
              <a:lnSpc>
                <a:spcPts val="1500"/>
              </a:lnSpc>
              <a:buNone/>
            </a:pPr>
            <a:r>
              <a:rPr lang="en-US" sz="1200" dirty="0">
                <a:solidFill>
                  <a:srgbClr val="18211E"/>
                </a:solidFill>
                <a:latin typeface="Calibri" pitchFamily="34" charset="0"/>
                <a:ea typeface="Calibri" pitchFamily="34" charset="-122"/>
                <a:cs typeface="Calibri" pitchFamily="34" charset="-120"/>
              </a:rPr>
              <a:t>Completar el plan de cuidado en cinco minutos. Solo 3 de 10 lo lograron, el criterio pedía 7</a:t>
            </a:r>
            <a:endParaRPr lang="en-US" sz="1200" dirty="0"/>
          </a:p>
        </p:txBody>
      </p:sp>
      <p:sp>
        <p:nvSpPr>
          <p:cNvPr id="17" name="Shape 15"/>
          <p:cNvSpPr/>
          <p:nvPr/>
        </p:nvSpPr>
        <p:spPr>
          <a:xfrm>
            <a:off x="5029200" y="3968496"/>
            <a:ext cx="6400800" cy="987552"/>
          </a:xfrm>
          <a:prstGeom prst="roundRect">
            <a:avLst>
              <a:gd name="adj" fmla="val 5556"/>
            </a:avLst>
          </a:prstGeom>
          <a:solidFill>
            <a:srgbClr val="F7F9F8"/>
          </a:solidFill>
          <a:ln w="12700">
            <a:solidFill>
              <a:srgbClr val="F7F9F8"/>
            </a:solidFill>
            <a:prstDash val="solid"/>
          </a:ln>
          <a:effectLst>
            <a:outerShdw sx="100000" sy="100000" kx="0" ky="0" algn="bl" rotWithShape="0" blurRad="127000" dist="25400" dir="5400000">
              <a:srgbClr val="1F3A34">
                <a:alpha val="10000"/>
              </a:srgbClr>
            </a:outerShdw>
          </a:effectLst>
        </p:spPr>
      </p:sp>
      <p:sp>
        <p:nvSpPr>
          <p:cNvPr id="18" name="Shape 16"/>
          <p:cNvSpPr/>
          <p:nvPr/>
        </p:nvSpPr>
        <p:spPr>
          <a:xfrm>
            <a:off x="5029200" y="3968496"/>
            <a:ext cx="713232" cy="987552"/>
          </a:xfrm>
          <a:prstGeom prst="roundRect">
            <a:avLst>
              <a:gd name="adj" fmla="val 7692"/>
            </a:avLst>
          </a:prstGeom>
          <a:solidFill>
            <a:srgbClr val="1F3A34"/>
          </a:solidFill>
          <a:ln w="12700">
            <a:solidFill>
              <a:srgbClr val="1F3A34"/>
            </a:solidFill>
            <a:prstDash val="solid"/>
          </a:ln>
        </p:spPr>
      </p:sp>
      <p:sp>
        <p:nvSpPr>
          <p:cNvPr id="19" name="Text 17"/>
          <p:cNvSpPr txBox="1"/>
          <p:nvPr/>
        </p:nvSpPr>
        <p:spPr>
          <a:xfrm>
            <a:off x="5029200" y="3968496"/>
            <a:ext cx="713232" cy="987552"/>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0" name="Text 18"/>
          <p:cNvSpPr txBox="1"/>
          <p:nvPr/>
        </p:nvSpPr>
        <p:spPr>
          <a:xfrm>
            <a:off x="5989320" y="4123944"/>
            <a:ext cx="5212080" cy="274320"/>
          </a:xfrm>
          <a:prstGeom prst="rect">
            <a:avLst/>
          </a:prstGeom>
          <a:noFill/>
          <a:ln/>
        </p:spPr>
        <p:txBody>
          <a:bodyPr wrap="square" lIns="0" tIns="0" rIns="0" bIns="0" rtlCol="0" anchor="ctr"/>
          <a:lstStyle/>
          <a:p>
            <a:pPr indent="0" marL="0">
              <a:buNone/>
            </a:pPr>
            <a:r>
              <a:rPr lang="en-US" sz="1100" b="1" spc="160" kern="0" dirty="0">
                <a:solidFill>
                  <a:srgbClr val="1F3A34"/>
                </a:solidFill>
                <a:latin typeface="Calibri" pitchFamily="34" charset="0"/>
                <a:ea typeface="Calibri" pitchFamily="34" charset="-122"/>
                <a:cs typeface="Calibri" pitchFamily="34" charset="-120"/>
              </a:rPr>
              <a:t>ZONA INTERMEDIA</a:t>
            </a:r>
            <a:endParaRPr lang="en-US" sz="1100" dirty="0"/>
          </a:p>
        </p:txBody>
      </p:sp>
      <p:sp>
        <p:nvSpPr>
          <p:cNvPr id="21" name="Text 19"/>
          <p:cNvSpPr txBox="1"/>
          <p:nvPr/>
        </p:nvSpPr>
        <p:spPr>
          <a:xfrm>
            <a:off x="5989320" y="4425696"/>
            <a:ext cx="5212080" cy="457200"/>
          </a:xfrm>
          <a:prstGeom prst="rect">
            <a:avLst/>
          </a:prstGeom>
          <a:noFill/>
          <a:ln/>
        </p:spPr>
        <p:txBody>
          <a:bodyPr wrap="square" lIns="0" tIns="0" rIns="0" bIns="0" rtlCol="0" anchor="ctr"/>
          <a:lstStyle/>
          <a:p>
            <a:pPr indent="0" marL="0">
              <a:lnSpc>
                <a:spcPts val="1500"/>
              </a:lnSpc>
              <a:buNone/>
            </a:pPr>
            <a:r>
              <a:rPr lang="en-US" sz="1200" dirty="0">
                <a:solidFill>
                  <a:srgbClr val="18211E"/>
                </a:solidFill>
                <a:latin typeface="Calibri" pitchFamily="34" charset="0"/>
                <a:ea typeface="Calibri" pitchFamily="34" charset="-122"/>
                <a:cs typeface="Calibri" pitchFamily="34" charset="-120"/>
              </a:rPr>
              <a:t>Reparto del gasto  ·  Quién paga frente a quién cuida  ·  Canal de captación concentrado</a:t>
            </a:r>
            <a:endParaRPr lang="en-US" sz="1200" dirty="0"/>
          </a:p>
        </p:txBody>
      </p:sp>
      <p:sp>
        <p:nvSpPr>
          <p:cNvPr id="22" name="Shape 20"/>
          <p:cNvSpPr/>
          <p:nvPr/>
        </p:nvSpPr>
        <p:spPr>
          <a:xfrm>
            <a:off x="731520" y="5230368"/>
            <a:ext cx="10698480" cy="804672"/>
          </a:xfrm>
          <a:prstGeom prst="roundRect">
            <a:avLst>
              <a:gd name="adj" fmla="val 5682"/>
            </a:avLst>
          </a:prstGeom>
          <a:solidFill>
            <a:srgbClr val="1F3A34"/>
          </a:solidFill>
          <a:ln w="12700">
            <a:solidFill>
              <a:srgbClr val="1F3A34"/>
            </a:solidFill>
            <a:prstDash val="solid"/>
          </a:ln>
        </p:spPr>
      </p:sp>
      <p:sp>
        <p:nvSpPr>
          <p:cNvPr id="23" name="Text 21"/>
          <p:cNvSpPr txBox="1"/>
          <p:nvPr/>
        </p:nvSpPr>
        <p:spPr>
          <a:xfrm>
            <a:off x="1051560" y="5349240"/>
            <a:ext cx="10058400" cy="566928"/>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La zona intermedia no es un resultado fallido: es la regla de decisión del propio protocolo, que obliga a cuatro entrevistas más en la semana 9, reclutadas solo por canal concentrado.</a:t>
            </a:r>
            <a:endParaRPr lang="en-US" sz="1300" dirty="0"/>
          </a:p>
        </p:txBody>
      </p:sp>
      <p:sp>
        <p:nvSpPr>
          <p:cNvPr id="24" name="Text 22"/>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Jorge  ·  60 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LA DECISIÓN</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Un criterio escrito antes cambió el producto</a:t>
            </a:r>
            <a:endParaRPr lang="en-US" sz="2900" dirty="0"/>
          </a:p>
        </p:txBody>
      </p:sp>
      <p:sp>
        <p:nvSpPr>
          <p:cNvPr id="4" name="Shape 2"/>
          <p:cNvSpPr/>
          <p:nvPr/>
        </p:nvSpPr>
        <p:spPr>
          <a:xfrm>
            <a:off x="731520" y="1737360"/>
            <a:ext cx="3200400" cy="3246120"/>
          </a:xfrm>
          <a:prstGeom prst="roundRect">
            <a:avLst>
              <a:gd name="adj" fmla="val 1714"/>
            </a:avLst>
          </a:prstGeom>
          <a:solidFill>
            <a:srgbClr val="1F3A34"/>
          </a:solidFill>
          <a:ln w="12700">
            <a:solidFill>
              <a:srgbClr val="1F3A34"/>
            </a:solidFill>
            <a:prstDash val="solid"/>
          </a:ln>
          <a:effectLst>
            <a:outerShdw sx="100000" sy="100000" kx="0" ky="0" algn="bl" rotWithShape="0" blurRad="127000" dist="25400" dir="5400000">
              <a:srgbClr val="1F3A34">
                <a:alpha val="10000"/>
              </a:srgbClr>
            </a:outerShdw>
          </a:effectLst>
        </p:spPr>
      </p:sp>
      <p:sp>
        <p:nvSpPr>
          <p:cNvPr id="5" name="Text 3"/>
          <p:cNvSpPr txBox="1"/>
          <p:nvPr/>
        </p:nvSpPr>
        <p:spPr>
          <a:xfrm>
            <a:off x="1005840" y="1965960"/>
            <a:ext cx="2651760" cy="274320"/>
          </a:xfrm>
          <a:prstGeom prst="rect">
            <a:avLst/>
          </a:prstGeom>
          <a:noFill/>
          <a:ln/>
        </p:spPr>
        <p:txBody>
          <a:bodyPr wrap="square" lIns="0" tIns="0" rIns="0" bIns="0" rtlCol="0" anchor="ctr"/>
          <a:lstStyle/>
          <a:p>
            <a:pPr indent="0" marL="0">
              <a:buNone/>
            </a:pPr>
            <a:r>
              <a:rPr lang="en-US" sz="1100" b="1" spc="180" kern="0" dirty="0">
                <a:solidFill>
                  <a:srgbClr val="E89B6C"/>
                </a:solidFill>
                <a:latin typeface="Calibri" pitchFamily="34" charset="0"/>
                <a:ea typeface="Calibri" pitchFamily="34" charset="-122"/>
                <a:cs typeface="Calibri" pitchFamily="34" charset="-120"/>
              </a:rPr>
              <a:t>H1 REFUTADA</a:t>
            </a:r>
            <a:endParaRPr lang="en-US" sz="1100" dirty="0"/>
          </a:p>
        </p:txBody>
      </p:sp>
      <p:sp>
        <p:nvSpPr>
          <p:cNvPr id="6" name="Text 4"/>
          <p:cNvSpPr txBox="1"/>
          <p:nvPr/>
        </p:nvSpPr>
        <p:spPr>
          <a:xfrm>
            <a:off x="1005840" y="2377440"/>
            <a:ext cx="26517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3 de 10</a:t>
            </a:r>
            <a:endParaRPr lang="en-US" sz="4400" dirty="0"/>
          </a:p>
        </p:txBody>
      </p:sp>
      <p:sp>
        <p:nvSpPr>
          <p:cNvPr id="7" name="Text 5"/>
          <p:cNvSpPr txBox="1"/>
          <p:nvPr/>
        </p:nvSpPr>
        <p:spPr>
          <a:xfrm>
            <a:off x="1005840" y="3310128"/>
            <a:ext cx="2651760" cy="1463040"/>
          </a:xfrm>
          <a:prstGeom prst="rect">
            <a:avLst/>
          </a:prstGeom>
          <a:noFill/>
          <a:ln/>
        </p:spPr>
        <p:txBody>
          <a:bodyPr wrap="square" lIns="0" tIns="0" rIns="0" bIns="0" rtlCol="0" anchor="ctr"/>
          <a:lstStyle/>
          <a:p>
            <a:pPr indent="0" marL="0">
              <a:lnSpc>
                <a:spcPts val="1600"/>
              </a:lnSpc>
              <a:buNone/>
            </a:pPr>
            <a:r>
              <a:rPr lang="en-US" sz="1200" dirty="0">
                <a:solidFill>
                  <a:srgbClr val="8FB3A6"/>
                </a:solidFill>
                <a:latin typeface="Calibri" pitchFamily="34" charset="0"/>
                <a:ea typeface="Calibri" pitchFamily="34" charset="-122"/>
                <a:cs typeface="Calibri" pitchFamily="34" charset="-120"/>
              </a:rPr>
              <a:t>completaron el plan de cuidado en menos de cinco minutos.</a:t>
            </a:r>
            <a:endParaRPr lang="en-US" sz="1200" dirty="0"/>
          </a:p>
          <a:p>
            <a:pPr indent="0" marL="0">
              <a:lnSpc>
                <a:spcPts val="1600"/>
              </a:lnSpc>
              <a:buNone/>
            </a:pPr>
            <a:endParaRPr lang="en-US" sz="1200" dirty="0"/>
          </a:p>
          <a:p>
            <a:pPr indent="0" marL="0">
              <a:lnSpc>
                <a:spcPts val="1600"/>
              </a:lnSpc>
              <a:buNone/>
            </a:pPr>
            <a:r>
              <a:rPr lang="en-US" sz="1200" dirty="0">
                <a:solidFill>
                  <a:srgbClr val="8FB3A6"/>
                </a:solidFill>
                <a:latin typeface="Calibri" pitchFamily="34" charset="0"/>
                <a:ea typeface="Calibri" pitchFamily="34" charset="-122"/>
                <a:cs typeface="Calibri" pitchFamily="34" charset="-120"/>
              </a:rPr>
              <a:t>El criterio de validación pedía siete, y el de refutación era cuatro o menos.</a:t>
            </a:r>
            <a:endParaRPr lang="en-US" sz="1200" dirty="0"/>
          </a:p>
        </p:txBody>
      </p:sp>
      <p:sp>
        <p:nvSpPr>
          <p:cNvPr id="8" name="Shape 6"/>
          <p:cNvSpPr/>
          <p:nvPr/>
        </p:nvSpPr>
        <p:spPr>
          <a:xfrm>
            <a:off x="4206240" y="1737360"/>
            <a:ext cx="7223760" cy="1527048"/>
          </a:xfrm>
          <a:prstGeom prst="roundRect">
            <a:avLst>
              <a:gd name="adj" fmla="val 3593"/>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9" name="Shape 7"/>
          <p:cNvSpPr/>
          <p:nvPr/>
        </p:nvSpPr>
        <p:spPr>
          <a:xfrm>
            <a:off x="4526280" y="1993392"/>
            <a:ext cx="146304" cy="146304"/>
          </a:xfrm>
          <a:prstGeom prst="ellipse">
            <a:avLst/>
          </a:prstGeom>
          <a:solidFill>
            <a:srgbClr val="C75B2B"/>
          </a:solidFill>
          <a:ln w="12700">
            <a:solidFill>
              <a:srgbClr val="C75B2B"/>
            </a:solidFill>
            <a:prstDash val="solid"/>
          </a:ln>
        </p:spPr>
      </p:sp>
      <p:sp>
        <p:nvSpPr>
          <p:cNvPr id="10" name="Text 8"/>
          <p:cNvSpPr txBox="1"/>
          <p:nvPr/>
        </p:nvSpPr>
        <p:spPr>
          <a:xfrm>
            <a:off x="4800600" y="1892808"/>
            <a:ext cx="6309360" cy="320040"/>
          </a:xfrm>
          <a:prstGeom prst="rect">
            <a:avLst/>
          </a:prstGeom>
          <a:noFill/>
          <a:ln/>
        </p:spPr>
        <p:txBody>
          <a:bodyPr wrap="square" lIns="0" tIns="0" rIns="0" bIns="0" rtlCol="0" anchor="ctr"/>
          <a:lstStyle/>
          <a:p>
            <a:pPr indent="0" marL="0">
              <a:buNone/>
            </a:pPr>
            <a:r>
              <a:rPr lang="en-US" sz="1500" b="1" dirty="0">
                <a:solidFill>
                  <a:srgbClr val="18211E"/>
                </a:solidFill>
                <a:latin typeface="Cambria" pitchFamily="34" charset="0"/>
                <a:ea typeface="Cambria" pitchFamily="34" charset="-122"/>
                <a:cs typeface="Cambria" pitchFamily="34" charset="-120"/>
              </a:rPr>
              <a:t>ADR-023 activado  ·  el producto cambió</a:t>
            </a:r>
            <a:endParaRPr lang="en-US" sz="1500" dirty="0"/>
          </a:p>
        </p:txBody>
      </p:sp>
      <p:sp>
        <p:nvSpPr>
          <p:cNvPr id="11" name="Text 9"/>
          <p:cNvSpPr txBox="1"/>
          <p:nvPr/>
        </p:nvSpPr>
        <p:spPr>
          <a:xfrm>
            <a:off x="4526280" y="2286000"/>
            <a:ext cx="6583680" cy="868680"/>
          </a:xfrm>
          <a:prstGeom prst="rect">
            <a:avLst/>
          </a:prstGeom>
          <a:noFill/>
          <a:ln/>
        </p:spPr>
        <p:txBody>
          <a:bodyPr wrap="square" lIns="0" tIns="0" rIns="0" bIns="0" rtlCol="0" anchor="ctr"/>
          <a:lstStyle/>
          <a:p>
            <a:pPr indent="0" marL="0">
              <a:lnSpc>
                <a:spcPts val="1600"/>
              </a:lnSpc>
              <a:buNone/>
            </a:pPr>
            <a:r>
              <a:rPr lang="en-US" sz="1200" dirty="0">
                <a:solidFill>
                  <a:srgbClr val="5A6661"/>
                </a:solidFill>
                <a:latin typeface="Calibri" pitchFamily="34" charset="0"/>
                <a:ea typeface="Calibri" pitchFamily="34" charset="-122"/>
                <a:cs typeface="Calibri" pitchFamily="34" charset="-120"/>
              </a:rPr>
              <a:t>La versión mínima de la capa 1 pasa a ser una ficha de relevo de tres campos: la rutina en una línea, qué hacer si la persona se altera y a quién llamar. Las ocho secciones quedan como ampliación opcional y se agrega llenado asistido por un tercero. El modelo de datos no cambia.</a:t>
            </a:r>
            <a:endParaRPr lang="en-US" sz="1200" dirty="0"/>
          </a:p>
        </p:txBody>
      </p:sp>
      <p:sp>
        <p:nvSpPr>
          <p:cNvPr id="12" name="Shape 10"/>
          <p:cNvSpPr/>
          <p:nvPr/>
        </p:nvSpPr>
        <p:spPr>
          <a:xfrm>
            <a:off x="4206240" y="3456432"/>
            <a:ext cx="7223760" cy="1527048"/>
          </a:xfrm>
          <a:prstGeom prst="roundRect">
            <a:avLst>
              <a:gd name="adj" fmla="val 3593"/>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3" name="Shape 11"/>
          <p:cNvSpPr/>
          <p:nvPr/>
        </p:nvSpPr>
        <p:spPr>
          <a:xfrm>
            <a:off x="4526280" y="3712464"/>
            <a:ext cx="146304" cy="146304"/>
          </a:xfrm>
          <a:prstGeom prst="ellipse">
            <a:avLst/>
          </a:prstGeom>
          <a:solidFill>
            <a:srgbClr val="6E9C8C"/>
          </a:solidFill>
          <a:ln w="12700">
            <a:solidFill>
              <a:srgbClr val="6E9C8C"/>
            </a:solidFill>
            <a:prstDash val="solid"/>
          </a:ln>
        </p:spPr>
      </p:sp>
      <p:sp>
        <p:nvSpPr>
          <p:cNvPr id="14" name="Text 12"/>
          <p:cNvSpPr txBox="1"/>
          <p:nvPr/>
        </p:nvSpPr>
        <p:spPr>
          <a:xfrm>
            <a:off x="4800600" y="3611880"/>
            <a:ext cx="6309360" cy="320040"/>
          </a:xfrm>
          <a:prstGeom prst="rect">
            <a:avLst/>
          </a:prstGeom>
          <a:noFill/>
          <a:ln/>
        </p:spPr>
        <p:txBody>
          <a:bodyPr wrap="square" lIns="0" tIns="0" rIns="0" bIns="0" rtlCol="0" anchor="ctr"/>
          <a:lstStyle/>
          <a:p>
            <a:pPr indent="0" marL="0">
              <a:buNone/>
            </a:pPr>
            <a:r>
              <a:rPr lang="en-US" sz="1500" b="1" dirty="0">
                <a:solidFill>
                  <a:srgbClr val="18211E"/>
                </a:solidFill>
                <a:latin typeface="Cambria" pitchFamily="34" charset="0"/>
                <a:ea typeface="Cambria" pitchFamily="34" charset="-122"/>
                <a:cs typeface="Cambria" pitchFamily="34" charset="-120"/>
              </a:rPr>
              <a:t>Segundo recorte de alcance  ·  160 horas</a:t>
            </a:r>
            <a:endParaRPr lang="en-US" sz="1500" dirty="0"/>
          </a:p>
        </p:txBody>
      </p:sp>
      <p:sp>
        <p:nvSpPr>
          <p:cNvPr id="15" name="Text 13"/>
          <p:cNvSpPr txBox="1"/>
          <p:nvPr/>
        </p:nvSpPr>
        <p:spPr>
          <a:xfrm>
            <a:off x="4526280" y="4005072"/>
            <a:ext cx="6583680" cy="868680"/>
          </a:xfrm>
          <a:prstGeom prst="rect">
            <a:avLst/>
          </a:prstGeom>
          <a:noFill/>
          <a:ln/>
        </p:spPr>
        <p:txBody>
          <a:bodyPr wrap="square" lIns="0" tIns="0" rIns="0" bIns="0" rtlCol="0" anchor="ctr"/>
          <a:lstStyle/>
          <a:p>
            <a:pPr indent="0" marL="0">
              <a:lnSpc>
                <a:spcPts val="1600"/>
              </a:lnSpc>
              <a:buNone/>
            </a:pPr>
            <a:r>
              <a:rPr lang="en-US" sz="1200" dirty="0">
                <a:solidFill>
                  <a:srgbClr val="5A6661"/>
                </a:solidFill>
                <a:latin typeface="Calibri" pitchFamily="34" charset="0"/>
                <a:ea typeface="Calibri" pitchFamily="34" charset="-122"/>
                <a:cs typeface="Calibri" pitchFamily="34" charset="-120"/>
              </a:rPr>
              <a:t>Salen del semestre el reparto del gasto entre varios pagadores, 100 horas, y la reposición programada, 64 horas. Pesan dos razones que se refuerzan: la evidencia no sostiene la hipótesis que los justificaba, y la ventana real de construcción quedó en nueve semanas.</a:t>
            </a:r>
            <a:endParaRPr lang="en-US" sz="1200" dirty="0"/>
          </a:p>
        </p:txBody>
      </p:sp>
      <p:sp>
        <p:nvSpPr>
          <p:cNvPr id="16" name="Text 14"/>
          <p:cNvSpPr txBox="1"/>
          <p:nvPr/>
        </p:nvSpPr>
        <p:spPr>
          <a:xfrm>
            <a:off x="731520" y="5257800"/>
            <a:ext cx="10698480" cy="411480"/>
          </a:xfrm>
          <a:prstGeom prst="rect">
            <a:avLst/>
          </a:prstGeom>
          <a:noFill/>
          <a:ln/>
        </p:spPr>
        <p:txBody>
          <a:bodyPr wrap="square" lIns="0" tIns="0" rIns="0" bIns="0" rtlCol="0" anchor="ctr"/>
          <a:lstStyle/>
          <a:p>
            <a:pPr indent="0" marL="0">
              <a:buNone/>
            </a:pPr>
            <a:r>
              <a:rPr lang="en-US" sz="1500" b="1" dirty="0">
                <a:solidFill>
                  <a:srgbClr val="C75B2B"/>
                </a:solidFill>
                <a:latin typeface="Cambria" pitchFamily="34" charset="0"/>
                <a:ea typeface="Cambria" pitchFamily="34" charset="-122"/>
                <a:cs typeface="Cambria" pitchFamily="34" charset="-120"/>
              </a:rPr>
              <a:t>El criterio escrito antes es lo que permite que un resultado adverso corrija el producto, y no su lectura.</a:t>
            </a:r>
            <a:endParaRPr lang="en-US" sz="1500" dirty="0"/>
          </a:p>
        </p:txBody>
      </p:sp>
      <p:sp>
        <p:nvSpPr>
          <p:cNvPr id="17" name="Text 15"/>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Jorge  ·  45 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ARQUITECTURA</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Cuatro decisiones que sostienen el diseño</a:t>
            </a:r>
            <a:endParaRPr lang="en-US" sz="2900" dirty="0"/>
          </a:p>
        </p:txBody>
      </p:sp>
      <p:sp>
        <p:nvSpPr>
          <p:cNvPr id="4" name="Shape 2"/>
          <p:cNvSpPr/>
          <p:nvPr/>
        </p:nvSpPr>
        <p:spPr>
          <a:xfrm>
            <a:off x="731520" y="1737360"/>
            <a:ext cx="5120640" cy="1664208"/>
          </a:xfrm>
          <a:prstGeom prst="roundRect">
            <a:avLst>
              <a:gd name="adj" fmla="val 3297"/>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5" name="Shape 3"/>
          <p:cNvSpPr/>
          <p:nvPr/>
        </p:nvSpPr>
        <p:spPr>
          <a:xfrm>
            <a:off x="1051560" y="1993392"/>
            <a:ext cx="402336" cy="402336"/>
          </a:xfrm>
          <a:prstGeom prst="ellipse">
            <a:avLst/>
          </a:prstGeom>
          <a:solidFill>
            <a:srgbClr val="C75B2B"/>
          </a:solidFill>
          <a:ln w="12700">
            <a:solidFill>
              <a:srgbClr val="C75B2B"/>
            </a:solidFill>
            <a:prstDash val="solid"/>
          </a:ln>
        </p:spPr>
      </p:sp>
      <p:sp>
        <p:nvSpPr>
          <p:cNvPr id="6" name="Text 4"/>
          <p:cNvSpPr txBox="1"/>
          <p:nvPr/>
        </p:nvSpPr>
        <p:spPr>
          <a:xfrm>
            <a:off x="1051560" y="19933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600200" y="2011680"/>
            <a:ext cx="4023360" cy="365760"/>
          </a:xfrm>
          <a:prstGeom prst="rect">
            <a:avLst/>
          </a:prstGeom>
          <a:noFill/>
          <a:ln/>
        </p:spPr>
        <p:txBody>
          <a:bodyPr wrap="square" lIns="0" tIns="0" rIns="0" bIns="0" rtlCol="0" anchor="ctr"/>
          <a:lstStyle/>
          <a:p>
            <a:pPr indent="0" marL="0">
              <a:buNone/>
            </a:pPr>
            <a:r>
              <a:rPr lang="en-US" sz="1600" b="1" dirty="0">
                <a:solidFill>
                  <a:srgbClr val="18211E"/>
                </a:solidFill>
                <a:latin typeface="Cambria" pitchFamily="34" charset="0"/>
                <a:ea typeface="Cambria" pitchFamily="34" charset="-122"/>
                <a:cs typeface="Cambria" pitchFamily="34" charset="-120"/>
              </a:rPr>
              <a:t>Aislamiento verificable</a:t>
            </a:r>
            <a:endParaRPr lang="en-US" sz="1600" dirty="0"/>
          </a:p>
        </p:txBody>
      </p:sp>
      <p:sp>
        <p:nvSpPr>
          <p:cNvPr id="8" name="Text 6"/>
          <p:cNvSpPr txBox="1"/>
          <p:nvPr/>
        </p:nvSpPr>
        <p:spPr>
          <a:xfrm>
            <a:off x="1051560" y="2523744"/>
            <a:ext cx="4526280" cy="786384"/>
          </a:xfrm>
          <a:prstGeom prst="rect">
            <a:avLst/>
          </a:prstGeom>
          <a:noFill/>
          <a:ln/>
        </p:spPr>
        <p:txBody>
          <a:bodyPr wrap="square" lIns="0" tIns="0" rIns="0" bIns="0" rtlCol="0" anchor="t"/>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Row Level Security forzado en PostgreSQL sobre tres ejes de acceso: familia, comercio y operación. Una consulta sin contexto no devuelve todo, devuelve nada.</a:t>
            </a:r>
            <a:endParaRPr lang="en-US" sz="1250" dirty="0"/>
          </a:p>
        </p:txBody>
      </p:sp>
      <p:sp>
        <p:nvSpPr>
          <p:cNvPr id="9" name="Shape 7"/>
          <p:cNvSpPr/>
          <p:nvPr/>
        </p:nvSpPr>
        <p:spPr>
          <a:xfrm>
            <a:off x="6309360" y="1737360"/>
            <a:ext cx="5120640" cy="1664208"/>
          </a:xfrm>
          <a:prstGeom prst="roundRect">
            <a:avLst>
              <a:gd name="adj" fmla="val 3297"/>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0" name="Shape 8"/>
          <p:cNvSpPr/>
          <p:nvPr/>
        </p:nvSpPr>
        <p:spPr>
          <a:xfrm>
            <a:off x="6629400" y="1993392"/>
            <a:ext cx="402336" cy="402336"/>
          </a:xfrm>
          <a:prstGeom prst="ellipse">
            <a:avLst/>
          </a:prstGeom>
          <a:solidFill>
            <a:srgbClr val="C75B2B"/>
          </a:solidFill>
          <a:ln w="12700">
            <a:solidFill>
              <a:srgbClr val="C75B2B"/>
            </a:solidFill>
            <a:prstDash val="solid"/>
          </a:ln>
        </p:spPr>
      </p:sp>
      <p:sp>
        <p:nvSpPr>
          <p:cNvPr id="11" name="Text 9"/>
          <p:cNvSpPr txBox="1"/>
          <p:nvPr/>
        </p:nvSpPr>
        <p:spPr>
          <a:xfrm>
            <a:off x="6629400" y="19933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178040" y="2011680"/>
            <a:ext cx="4023360" cy="365760"/>
          </a:xfrm>
          <a:prstGeom prst="rect">
            <a:avLst/>
          </a:prstGeom>
          <a:noFill/>
          <a:ln/>
        </p:spPr>
        <p:txBody>
          <a:bodyPr wrap="square" lIns="0" tIns="0" rIns="0" bIns="0" rtlCol="0" anchor="ctr"/>
          <a:lstStyle/>
          <a:p>
            <a:pPr indent="0" marL="0">
              <a:buNone/>
            </a:pPr>
            <a:r>
              <a:rPr lang="en-US" sz="1600" b="1" dirty="0">
                <a:solidFill>
                  <a:srgbClr val="18211E"/>
                </a:solidFill>
                <a:latin typeface="Cambria" pitchFamily="34" charset="0"/>
                <a:ea typeface="Cambria" pitchFamily="34" charset="-122"/>
                <a:cs typeface="Cambria" pitchFamily="34" charset="-120"/>
              </a:rPr>
              <a:t>Dato sensible cifrado</a:t>
            </a:r>
            <a:endParaRPr lang="en-US" sz="1600" dirty="0"/>
          </a:p>
        </p:txBody>
      </p:sp>
      <p:sp>
        <p:nvSpPr>
          <p:cNvPr id="13" name="Text 11"/>
          <p:cNvSpPr txBox="1"/>
          <p:nvPr/>
        </p:nvSpPr>
        <p:spPr>
          <a:xfrm>
            <a:off x="6629400" y="2523744"/>
            <a:ext cx="4526280" cy="786384"/>
          </a:xfrm>
          <a:prstGeom prst="rect">
            <a:avLst/>
          </a:prstGeom>
          <a:noFill/>
          <a:ln/>
        </p:spPr>
        <p:txBody>
          <a:bodyPr wrap="square" lIns="0" tIns="0" rIns="0" bIns="0" rtlCol="0" anchor="t"/>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Cifrado por sobre con una clave por persona cuidada, lo que permite eliminación efectiva. Alineado con la Ley 21.719, en vigencia plena desde diciembre de 2026.</a:t>
            </a:r>
            <a:endParaRPr lang="en-US" sz="1250" dirty="0"/>
          </a:p>
        </p:txBody>
      </p:sp>
      <p:sp>
        <p:nvSpPr>
          <p:cNvPr id="14" name="Shape 12"/>
          <p:cNvSpPr/>
          <p:nvPr/>
        </p:nvSpPr>
        <p:spPr>
          <a:xfrm>
            <a:off x="731520" y="3566160"/>
            <a:ext cx="5120640" cy="1664208"/>
          </a:xfrm>
          <a:prstGeom prst="roundRect">
            <a:avLst>
              <a:gd name="adj" fmla="val 3297"/>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5" name="Shape 13"/>
          <p:cNvSpPr/>
          <p:nvPr/>
        </p:nvSpPr>
        <p:spPr>
          <a:xfrm>
            <a:off x="1051560" y="3822192"/>
            <a:ext cx="402336" cy="402336"/>
          </a:xfrm>
          <a:prstGeom prst="ellipse">
            <a:avLst/>
          </a:prstGeom>
          <a:solidFill>
            <a:srgbClr val="C75B2B"/>
          </a:solidFill>
          <a:ln w="12700">
            <a:solidFill>
              <a:srgbClr val="C75B2B"/>
            </a:solidFill>
            <a:prstDash val="solid"/>
          </a:ln>
        </p:spPr>
      </p:sp>
      <p:sp>
        <p:nvSpPr>
          <p:cNvPr id="16" name="Text 14"/>
          <p:cNvSpPr txBox="1"/>
          <p:nvPr/>
        </p:nvSpPr>
        <p:spPr>
          <a:xfrm>
            <a:off x="1051560" y="3822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600200" y="3840480"/>
            <a:ext cx="4023360" cy="365760"/>
          </a:xfrm>
          <a:prstGeom prst="rect">
            <a:avLst/>
          </a:prstGeom>
          <a:noFill/>
          <a:ln/>
        </p:spPr>
        <p:txBody>
          <a:bodyPr wrap="square" lIns="0" tIns="0" rIns="0" bIns="0" rtlCol="0" anchor="ctr"/>
          <a:lstStyle/>
          <a:p>
            <a:pPr indent="0" marL="0">
              <a:buNone/>
            </a:pPr>
            <a:r>
              <a:rPr lang="en-US" sz="1600" b="1" dirty="0">
                <a:solidFill>
                  <a:srgbClr val="18211E"/>
                </a:solidFill>
                <a:latin typeface="Cambria" pitchFamily="34" charset="0"/>
                <a:ea typeface="Cambria" pitchFamily="34" charset="-122"/>
                <a:cs typeface="Cambria" pitchFamily="34" charset="-120"/>
              </a:rPr>
              <a:t>Pago por el monto real</a:t>
            </a:r>
            <a:endParaRPr lang="en-US" sz="1600" dirty="0"/>
          </a:p>
        </p:txBody>
      </p:sp>
      <p:sp>
        <p:nvSpPr>
          <p:cNvPr id="18" name="Text 16"/>
          <p:cNvSpPr txBox="1"/>
          <p:nvPr/>
        </p:nvSpPr>
        <p:spPr>
          <a:xfrm>
            <a:off x="1051560" y="4352544"/>
            <a:ext cx="4526280" cy="786384"/>
          </a:xfrm>
          <a:prstGeom prst="rect">
            <a:avLst/>
          </a:prstGeom>
          <a:noFill/>
          <a:ln/>
        </p:spPr>
        <p:txBody>
          <a:bodyPr wrap="square" lIns="0" tIns="0" rIns="0" bIns="0" rtlCol="0" anchor="t"/>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El monto exacto se conoce al preparar el pedido. Autorización diferida y captura del monto real con Transbank, con aritmética entera y nota de crédito por la diferencia.</a:t>
            </a:r>
            <a:endParaRPr lang="en-US" sz="1250" dirty="0"/>
          </a:p>
        </p:txBody>
      </p:sp>
      <p:sp>
        <p:nvSpPr>
          <p:cNvPr id="19" name="Shape 17"/>
          <p:cNvSpPr/>
          <p:nvPr/>
        </p:nvSpPr>
        <p:spPr>
          <a:xfrm>
            <a:off x="6309360" y="3566160"/>
            <a:ext cx="5120640" cy="1664208"/>
          </a:xfrm>
          <a:prstGeom prst="roundRect">
            <a:avLst>
              <a:gd name="adj" fmla="val 3297"/>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20" name="Shape 18"/>
          <p:cNvSpPr/>
          <p:nvPr/>
        </p:nvSpPr>
        <p:spPr>
          <a:xfrm>
            <a:off x="6629400" y="3822192"/>
            <a:ext cx="402336" cy="402336"/>
          </a:xfrm>
          <a:prstGeom prst="ellipse">
            <a:avLst/>
          </a:prstGeom>
          <a:solidFill>
            <a:srgbClr val="C75B2B"/>
          </a:solidFill>
          <a:ln w="12700">
            <a:solidFill>
              <a:srgbClr val="C75B2B"/>
            </a:solidFill>
            <a:prstDash val="solid"/>
          </a:ln>
        </p:spPr>
      </p:sp>
      <p:sp>
        <p:nvSpPr>
          <p:cNvPr id="21" name="Text 19"/>
          <p:cNvSpPr txBox="1"/>
          <p:nvPr/>
        </p:nvSpPr>
        <p:spPr>
          <a:xfrm>
            <a:off x="6629400" y="3822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178040" y="3840480"/>
            <a:ext cx="4023360" cy="365760"/>
          </a:xfrm>
          <a:prstGeom prst="rect">
            <a:avLst/>
          </a:prstGeom>
          <a:noFill/>
          <a:ln/>
        </p:spPr>
        <p:txBody>
          <a:bodyPr wrap="square" lIns="0" tIns="0" rIns="0" bIns="0" rtlCol="0" anchor="ctr"/>
          <a:lstStyle/>
          <a:p>
            <a:pPr indent="0" marL="0">
              <a:buNone/>
            </a:pPr>
            <a:r>
              <a:rPr lang="en-US" sz="1600" b="1" dirty="0">
                <a:solidFill>
                  <a:srgbClr val="18211E"/>
                </a:solidFill>
                <a:latin typeface="Cambria" pitchFamily="34" charset="0"/>
                <a:ea typeface="Cambria" pitchFamily="34" charset="-122"/>
                <a:cs typeface="Cambria" pitchFamily="34" charset="-120"/>
              </a:rPr>
              <a:t>Despacho desacoplable</a:t>
            </a:r>
            <a:endParaRPr lang="en-US" sz="1600" dirty="0"/>
          </a:p>
        </p:txBody>
      </p:sp>
      <p:sp>
        <p:nvSpPr>
          <p:cNvPr id="23" name="Text 21"/>
          <p:cNvSpPr txBox="1"/>
          <p:nvPr/>
        </p:nvSpPr>
        <p:spPr>
          <a:xfrm>
            <a:off x="6629400" y="4352544"/>
            <a:ext cx="4526280" cy="786384"/>
          </a:xfrm>
          <a:prstGeom prst="rect">
            <a:avLst/>
          </a:prstGeom>
          <a:noFill/>
          <a:ln/>
        </p:spPr>
        <p:txBody>
          <a:bodyPr wrap="square" lIns="0" tIns="0" rIns="0" bIns="0" rtlCol="0" anchor="t"/>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Las dependencias apuntan solo hacia abajo. Una prueba automatizada verifica que el sistema arranca y sirve sin la capa de despacho.</a:t>
            </a:r>
            <a:endParaRPr lang="en-US" sz="1250" dirty="0"/>
          </a:p>
        </p:txBody>
      </p:sp>
      <p:sp>
        <p:nvSpPr>
          <p:cNvPr id="24" name="Shape 22"/>
          <p:cNvSpPr/>
          <p:nvPr/>
        </p:nvSpPr>
        <p:spPr>
          <a:xfrm>
            <a:off x="731520" y="5532120"/>
            <a:ext cx="10698480" cy="502920"/>
          </a:xfrm>
          <a:prstGeom prst="roundRect">
            <a:avLst>
              <a:gd name="adj" fmla="val 9091"/>
            </a:avLst>
          </a:prstGeom>
          <a:solidFill>
            <a:srgbClr val="1F3A34"/>
          </a:solidFill>
          <a:ln w="12700">
            <a:solidFill>
              <a:srgbClr val="1F3A34"/>
            </a:solidFill>
            <a:prstDash val="solid"/>
          </a:ln>
        </p:spPr>
      </p:sp>
      <p:sp>
        <p:nvSpPr>
          <p:cNvPr id="25" name="Text 23"/>
          <p:cNvSpPr txBox="1"/>
          <p:nvPr/>
        </p:nvSpPr>
        <p:spPr>
          <a:xfrm>
            <a:off x="1051560" y="5532120"/>
            <a:ext cx="3474720" cy="502920"/>
          </a:xfrm>
          <a:prstGeom prst="rect">
            <a:avLst/>
          </a:prstGeom>
          <a:noFill/>
          <a:ln/>
        </p:spPr>
        <p:txBody>
          <a:bodyPr wrap="square" lIns="0" tIns="0" rIns="0" bIns="0" rtlCol="0" anchor="ctr"/>
          <a:lstStyle/>
          <a:p>
            <a:pPr indent="0" marL="0">
              <a:buNone/>
            </a:pPr>
            <a:r>
              <a:rPr lang="en-US" sz="1700" b="1" dirty="0">
                <a:solidFill>
                  <a:srgbClr val="E89B6C"/>
                </a:solidFill>
                <a:latin typeface="Cambria" pitchFamily="34" charset="0"/>
                <a:ea typeface="Cambria" pitchFamily="34" charset="-122"/>
                <a:cs typeface="Cambria" pitchFamily="34" charset="-120"/>
              </a:rPr>
              <a:t>42  </a:t>
            </a:r>
            <a:pPr indent="0" marL="0">
              <a:buNone/>
            </a:pPr>
            <a:r>
              <a:rPr lang="en-US" sz="1200" dirty="0">
                <a:solidFill>
                  <a:srgbClr val="FFFFFF"/>
                </a:solidFill>
                <a:latin typeface="Calibri" pitchFamily="34" charset="0"/>
                <a:ea typeface="Calibri" pitchFamily="34" charset="-122"/>
                <a:cs typeface="Calibri" pitchFamily="34" charset="-120"/>
              </a:rPr>
              <a:t>requisitos trazados a módulo</a:t>
            </a:r>
            <a:endParaRPr lang="en-US" sz="1700" dirty="0"/>
          </a:p>
        </p:txBody>
      </p:sp>
      <p:sp>
        <p:nvSpPr>
          <p:cNvPr id="26" name="Text 24"/>
          <p:cNvSpPr txBox="1"/>
          <p:nvPr/>
        </p:nvSpPr>
        <p:spPr>
          <a:xfrm>
            <a:off x="4572000" y="5532120"/>
            <a:ext cx="3474720" cy="502920"/>
          </a:xfrm>
          <a:prstGeom prst="rect">
            <a:avLst/>
          </a:prstGeom>
          <a:noFill/>
          <a:ln/>
        </p:spPr>
        <p:txBody>
          <a:bodyPr wrap="square" lIns="0" tIns="0" rIns="0" bIns="0" rtlCol="0" anchor="ctr"/>
          <a:lstStyle/>
          <a:p>
            <a:pPr indent="0" marL="0">
              <a:buNone/>
            </a:pPr>
            <a:r>
              <a:rPr lang="en-US" sz="1700" b="1" dirty="0">
                <a:solidFill>
                  <a:srgbClr val="E89B6C"/>
                </a:solidFill>
                <a:latin typeface="Cambria" pitchFamily="34" charset="0"/>
                <a:ea typeface="Cambria" pitchFamily="34" charset="-122"/>
                <a:cs typeface="Cambria" pitchFamily="34" charset="-120"/>
              </a:rPr>
              <a:t>13  </a:t>
            </a:r>
            <a:pPr indent="0" marL="0">
              <a:buNone/>
            </a:pPr>
            <a:r>
              <a:rPr lang="en-US" sz="1200" dirty="0">
                <a:solidFill>
                  <a:srgbClr val="FFFFFF"/>
                </a:solidFill>
                <a:latin typeface="Calibri" pitchFamily="34" charset="0"/>
                <a:ea typeface="Calibri" pitchFamily="34" charset="-122"/>
                <a:cs typeface="Calibri" pitchFamily="34" charset="-120"/>
              </a:rPr>
              <a:t>diagramas</a:t>
            </a:r>
            <a:endParaRPr lang="en-US" sz="1700" dirty="0"/>
          </a:p>
        </p:txBody>
      </p:sp>
      <p:sp>
        <p:nvSpPr>
          <p:cNvPr id="27" name="Text 25"/>
          <p:cNvSpPr txBox="1"/>
          <p:nvPr/>
        </p:nvSpPr>
        <p:spPr>
          <a:xfrm>
            <a:off x="7315200" y="5532120"/>
            <a:ext cx="3474720" cy="502920"/>
          </a:xfrm>
          <a:prstGeom prst="rect">
            <a:avLst/>
          </a:prstGeom>
          <a:noFill/>
          <a:ln/>
        </p:spPr>
        <p:txBody>
          <a:bodyPr wrap="square" lIns="0" tIns="0" rIns="0" bIns="0" rtlCol="0" anchor="ctr"/>
          <a:lstStyle/>
          <a:p>
            <a:pPr indent="0" marL="0">
              <a:buNone/>
            </a:pPr>
            <a:r>
              <a:rPr lang="en-US" sz="1700" b="1" dirty="0">
                <a:solidFill>
                  <a:srgbClr val="E89B6C"/>
                </a:solidFill>
                <a:latin typeface="Cambria" pitchFamily="34" charset="0"/>
                <a:ea typeface="Cambria" pitchFamily="34" charset="-122"/>
                <a:cs typeface="Cambria" pitchFamily="34" charset="-120"/>
              </a:rPr>
              <a:t>24  </a:t>
            </a:r>
            <a:pPr indent="0" marL="0">
              <a:buNone/>
            </a:pPr>
            <a:r>
              <a:rPr lang="en-US" sz="1200" dirty="0">
                <a:solidFill>
                  <a:srgbClr val="FFFFFF"/>
                </a:solidFill>
                <a:latin typeface="Calibri" pitchFamily="34" charset="0"/>
                <a:ea typeface="Calibri" pitchFamily="34" charset="-122"/>
                <a:cs typeface="Calibri" pitchFamily="34" charset="-120"/>
              </a:rPr>
              <a:t>decisiones con alternativas descartadas</a:t>
            </a:r>
            <a:endParaRPr lang="en-US" sz="1700" dirty="0"/>
          </a:p>
        </p:txBody>
      </p:sp>
      <p:sp>
        <p:nvSpPr>
          <p:cNvPr id="28" name="Text 26"/>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Martín  ·  60 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METODOLOGÍA</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Sprints de una semana y reparto por ejes verticales</a:t>
            </a:r>
            <a:endParaRPr lang="en-US" sz="2900" dirty="0"/>
          </a:p>
        </p:txBody>
      </p:sp>
      <p:sp>
        <p:nvSpPr>
          <p:cNvPr id="4" name="Shape 2"/>
          <p:cNvSpPr/>
          <p:nvPr/>
        </p:nvSpPr>
        <p:spPr>
          <a:xfrm>
            <a:off x="731520" y="1783080"/>
            <a:ext cx="5120640" cy="2880360"/>
          </a:xfrm>
          <a:prstGeom prst="roundRect">
            <a:avLst>
              <a:gd name="adj" fmla="val 1905"/>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5" name="Text 3"/>
          <p:cNvSpPr txBox="1"/>
          <p:nvPr/>
        </p:nvSpPr>
        <p:spPr>
          <a:xfrm>
            <a:off x="1051560" y="2011680"/>
            <a:ext cx="4526280" cy="347472"/>
          </a:xfrm>
          <a:prstGeom prst="rect">
            <a:avLst/>
          </a:prstGeom>
          <a:noFill/>
          <a:ln/>
        </p:spPr>
        <p:txBody>
          <a:bodyPr wrap="square" lIns="0" tIns="0" rIns="0" bIns="0" rtlCol="0" anchor="ctr"/>
          <a:lstStyle/>
          <a:p>
            <a:pPr indent="0" marL="0">
              <a:buNone/>
            </a:pPr>
            <a:r>
              <a:rPr lang="en-US" sz="1900" b="1" dirty="0">
                <a:solidFill>
                  <a:srgbClr val="18211E"/>
                </a:solidFill>
                <a:latin typeface="Cambria" pitchFamily="34" charset="0"/>
                <a:ea typeface="Cambria" pitchFamily="34" charset="-122"/>
                <a:cs typeface="Cambria" pitchFamily="34" charset="-120"/>
              </a:rPr>
              <a:t>Jorge Espinoza</a:t>
            </a:r>
            <a:endParaRPr lang="en-US" sz="1900" dirty="0"/>
          </a:p>
        </p:txBody>
      </p:sp>
      <p:sp>
        <p:nvSpPr>
          <p:cNvPr id="6" name="Text 4"/>
          <p:cNvSpPr txBox="1"/>
          <p:nvPr/>
        </p:nvSpPr>
        <p:spPr>
          <a:xfrm>
            <a:off x="1051560" y="2423160"/>
            <a:ext cx="4526280" cy="274320"/>
          </a:xfrm>
          <a:prstGeom prst="rect">
            <a:avLst/>
          </a:prstGeom>
          <a:noFill/>
          <a:ln/>
        </p:spPr>
        <p:txBody>
          <a:bodyPr wrap="square" lIns="0" tIns="0" rIns="0" bIns="0" rtlCol="0" anchor="ctr"/>
          <a:lstStyle/>
          <a:p>
            <a:pPr indent="0" marL="0">
              <a:buNone/>
            </a:pPr>
            <a:r>
              <a:rPr lang="en-US" sz="1200" b="1" dirty="0">
                <a:solidFill>
                  <a:srgbClr val="C75B2B"/>
                </a:solidFill>
                <a:latin typeface="Calibri" pitchFamily="34" charset="0"/>
                <a:ea typeface="Calibri" pitchFamily="34" charset="-122"/>
                <a:cs typeface="Calibri" pitchFamily="34" charset="-120"/>
              </a:rPr>
              <a:t>Product Owner  ·  Eje A  ·  Cuidado y consumo</a:t>
            </a:r>
            <a:endParaRPr lang="en-US" sz="1200" dirty="0"/>
          </a:p>
        </p:txBody>
      </p:sp>
      <p:sp>
        <p:nvSpPr>
          <p:cNvPr id="7" name="Shape 5"/>
          <p:cNvSpPr/>
          <p:nvPr/>
        </p:nvSpPr>
        <p:spPr>
          <a:xfrm>
            <a:off x="1051560" y="2788920"/>
            <a:ext cx="4526280" cy="713232"/>
          </a:xfrm>
          <a:prstGeom prst="roundRect">
            <a:avLst>
              <a:gd name="adj" fmla="val 6410"/>
            </a:avLst>
          </a:prstGeom>
          <a:solidFill>
            <a:srgbClr val="FFFFFF"/>
          </a:solidFill>
          <a:ln w="12700">
            <a:solidFill>
              <a:srgbClr val="FFFFFF"/>
            </a:solidFill>
            <a:prstDash val="solid"/>
          </a:ln>
        </p:spPr>
      </p:sp>
      <p:sp>
        <p:nvSpPr>
          <p:cNvPr id="8" name="Text 6"/>
          <p:cNvSpPr txBox="1"/>
          <p:nvPr/>
        </p:nvSpPr>
        <p:spPr>
          <a:xfrm>
            <a:off x="1188720" y="2788920"/>
            <a:ext cx="4251960" cy="713232"/>
          </a:xfrm>
          <a:prstGeom prst="rect">
            <a:avLst/>
          </a:prstGeom>
          <a:noFill/>
          <a:ln/>
        </p:spPr>
        <p:txBody>
          <a:bodyPr wrap="square" lIns="0" tIns="0" rIns="0" bIns="0" rtlCol="0" anchor="ctr"/>
          <a:lstStyle/>
          <a:p>
            <a:pPr indent="0" marL="0">
              <a:lnSpc>
                <a:spcPts val="1500"/>
              </a:lnSpc>
              <a:buNone/>
            </a:pPr>
            <a:r>
              <a:rPr lang="en-US" sz="1100" dirty="0">
                <a:solidFill>
                  <a:srgbClr val="18211E"/>
                </a:solidFill>
                <a:latin typeface="Consolas" pitchFamily="34" charset="0"/>
                <a:ea typeface="Consolas" pitchFamily="34" charset="-122"/>
                <a:cs typeface="Consolas" pitchFamily="34" charset="-120"/>
              </a:rPr>
              <a:t>care_plan · consumption</a:t>
            </a:r>
            <a:endParaRPr lang="en-US" sz="1100" dirty="0"/>
          </a:p>
          <a:p>
            <a:pPr indent="0" marL="0">
              <a:lnSpc>
                <a:spcPts val="1500"/>
              </a:lnSpc>
              <a:buNone/>
            </a:pPr>
            <a:r>
              <a:rPr lang="en-US" sz="1100" dirty="0">
                <a:solidFill>
                  <a:srgbClr val="18211E"/>
                </a:solidFill>
                <a:latin typeface="Consolas" pitchFamily="34" charset="0"/>
                <a:ea typeface="Consolas" pitchFamily="34" charset="-122"/>
                <a:cs typeface="Consolas" pitchFamily="34" charset="-120"/>
              </a:rPr>
              <a:t>catalog · replenishment</a:t>
            </a:r>
            <a:endParaRPr lang="en-US" sz="1100" dirty="0"/>
          </a:p>
        </p:txBody>
      </p:sp>
      <p:sp>
        <p:nvSpPr>
          <p:cNvPr id="9" name="Text 7"/>
          <p:cNvSpPr txBox="1"/>
          <p:nvPr/>
        </p:nvSpPr>
        <p:spPr>
          <a:xfrm>
            <a:off x="1051560" y="3657600"/>
            <a:ext cx="4526280" cy="731520"/>
          </a:xfrm>
          <a:prstGeom prst="rect">
            <a:avLst/>
          </a:prstGeom>
          <a:noFill/>
          <a:ln/>
        </p:spPr>
        <p:txBody>
          <a:bodyPr wrap="square" lIns="0" tIns="0" rIns="0" bIns="0" rtlCol="0" anchor="ctr"/>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Backlog, protocolo de validación con cuidadoras, diseño de interacción y accesibilidad.</a:t>
            </a:r>
            <a:endParaRPr lang="en-US" sz="1250" dirty="0"/>
          </a:p>
        </p:txBody>
      </p:sp>
      <p:sp>
        <p:nvSpPr>
          <p:cNvPr id="10" name="Shape 8"/>
          <p:cNvSpPr/>
          <p:nvPr/>
        </p:nvSpPr>
        <p:spPr>
          <a:xfrm>
            <a:off x="6309360" y="1783080"/>
            <a:ext cx="5120640" cy="2880360"/>
          </a:xfrm>
          <a:prstGeom prst="roundRect">
            <a:avLst>
              <a:gd name="adj" fmla="val 1905"/>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1" name="Text 9"/>
          <p:cNvSpPr txBox="1"/>
          <p:nvPr/>
        </p:nvSpPr>
        <p:spPr>
          <a:xfrm>
            <a:off x="6629400" y="2011680"/>
            <a:ext cx="4526280" cy="347472"/>
          </a:xfrm>
          <a:prstGeom prst="rect">
            <a:avLst/>
          </a:prstGeom>
          <a:noFill/>
          <a:ln/>
        </p:spPr>
        <p:txBody>
          <a:bodyPr wrap="square" lIns="0" tIns="0" rIns="0" bIns="0" rtlCol="0" anchor="ctr"/>
          <a:lstStyle/>
          <a:p>
            <a:pPr indent="0" marL="0">
              <a:buNone/>
            </a:pPr>
            <a:r>
              <a:rPr lang="en-US" sz="1900" b="1" dirty="0">
                <a:solidFill>
                  <a:srgbClr val="18211E"/>
                </a:solidFill>
                <a:latin typeface="Cambria" pitchFamily="34" charset="0"/>
                <a:ea typeface="Cambria" pitchFamily="34" charset="-122"/>
                <a:cs typeface="Cambria" pitchFamily="34" charset="-120"/>
              </a:rPr>
              <a:t>Martín Henríquez</a:t>
            </a:r>
            <a:endParaRPr lang="en-US" sz="1900" dirty="0"/>
          </a:p>
        </p:txBody>
      </p:sp>
      <p:sp>
        <p:nvSpPr>
          <p:cNvPr id="12" name="Text 10"/>
          <p:cNvSpPr txBox="1"/>
          <p:nvPr/>
        </p:nvSpPr>
        <p:spPr>
          <a:xfrm>
            <a:off x="6629400" y="2423160"/>
            <a:ext cx="4526280" cy="274320"/>
          </a:xfrm>
          <a:prstGeom prst="rect">
            <a:avLst/>
          </a:prstGeom>
          <a:noFill/>
          <a:ln/>
        </p:spPr>
        <p:txBody>
          <a:bodyPr wrap="square" lIns="0" tIns="0" rIns="0" bIns="0" rtlCol="0" anchor="ctr"/>
          <a:lstStyle/>
          <a:p>
            <a:pPr indent="0" marL="0">
              <a:buNone/>
            </a:pPr>
            <a:r>
              <a:rPr lang="en-US" sz="1200" b="1" dirty="0">
                <a:solidFill>
                  <a:srgbClr val="C75B2B"/>
                </a:solidFill>
                <a:latin typeface="Calibri" pitchFamily="34" charset="0"/>
                <a:ea typeface="Calibri" pitchFamily="34" charset="-122"/>
                <a:cs typeface="Calibri" pitchFamily="34" charset="-120"/>
              </a:rPr>
              <a:t>Scrum Master  ·  Eje B  ·  Identidad, dinero y operación</a:t>
            </a:r>
            <a:endParaRPr lang="en-US" sz="1200" dirty="0"/>
          </a:p>
        </p:txBody>
      </p:sp>
      <p:sp>
        <p:nvSpPr>
          <p:cNvPr id="13" name="Shape 11"/>
          <p:cNvSpPr/>
          <p:nvPr/>
        </p:nvSpPr>
        <p:spPr>
          <a:xfrm>
            <a:off x="6629400" y="2788920"/>
            <a:ext cx="4526280" cy="713232"/>
          </a:xfrm>
          <a:prstGeom prst="roundRect">
            <a:avLst>
              <a:gd name="adj" fmla="val 6410"/>
            </a:avLst>
          </a:prstGeom>
          <a:solidFill>
            <a:srgbClr val="FFFFFF"/>
          </a:solidFill>
          <a:ln w="12700">
            <a:solidFill>
              <a:srgbClr val="FFFFFF"/>
            </a:solidFill>
            <a:prstDash val="solid"/>
          </a:ln>
        </p:spPr>
      </p:sp>
      <p:sp>
        <p:nvSpPr>
          <p:cNvPr id="14" name="Text 12"/>
          <p:cNvSpPr txBox="1"/>
          <p:nvPr/>
        </p:nvSpPr>
        <p:spPr>
          <a:xfrm>
            <a:off x="6766560" y="2788920"/>
            <a:ext cx="4251960" cy="713232"/>
          </a:xfrm>
          <a:prstGeom prst="rect">
            <a:avLst/>
          </a:prstGeom>
          <a:noFill/>
          <a:ln/>
        </p:spPr>
        <p:txBody>
          <a:bodyPr wrap="square" lIns="0" tIns="0" rIns="0" bIns="0" rtlCol="0" anchor="ctr"/>
          <a:lstStyle/>
          <a:p>
            <a:pPr indent="0" marL="0">
              <a:lnSpc>
                <a:spcPts val="1500"/>
              </a:lnSpc>
              <a:buNone/>
            </a:pPr>
            <a:r>
              <a:rPr lang="en-US" sz="1100" dirty="0">
                <a:solidFill>
                  <a:srgbClr val="18211E"/>
                </a:solidFill>
                <a:latin typeface="Consolas" pitchFamily="34" charset="0"/>
                <a:ea typeface="Consolas" pitchFamily="34" charset="-122"/>
                <a:cs typeface="Consolas" pitchFamily="34" charset="-120"/>
              </a:rPr>
              <a:t>iam · care_circle · ordering</a:t>
            </a:r>
            <a:endParaRPr lang="en-US" sz="1100" dirty="0"/>
          </a:p>
          <a:p>
            <a:pPr indent="0" marL="0">
              <a:lnSpc>
                <a:spcPts val="1500"/>
              </a:lnSpc>
              <a:buNone/>
            </a:pPr>
            <a:r>
              <a:rPr lang="en-US" sz="1100" dirty="0">
                <a:solidFill>
                  <a:srgbClr val="18211E"/>
                </a:solidFill>
                <a:latin typeface="Consolas" pitchFamily="34" charset="0"/>
                <a:ea typeface="Consolas" pitchFamily="34" charset="-122"/>
                <a:cs typeface="Consolas" pitchFamily="34" charset="-120"/>
              </a:rPr>
              <a:t>payments · settlement · backoffice</a:t>
            </a:r>
            <a:endParaRPr lang="en-US" sz="1100" dirty="0"/>
          </a:p>
        </p:txBody>
      </p:sp>
      <p:sp>
        <p:nvSpPr>
          <p:cNvPr id="15" name="Text 13"/>
          <p:cNvSpPr txBox="1"/>
          <p:nvPr/>
        </p:nvSpPr>
        <p:spPr>
          <a:xfrm>
            <a:off x="6629400" y="3657600"/>
            <a:ext cx="4526280" cy="731520"/>
          </a:xfrm>
          <a:prstGeom prst="rect">
            <a:avLst/>
          </a:prstGeom>
          <a:noFill/>
          <a:ln/>
        </p:spPr>
        <p:txBody>
          <a:bodyPr wrap="square" lIns="0" tIns="0" rIns="0" bIns="0" rtlCol="0" anchor="ctr"/>
          <a:lstStyle/>
          <a:p>
            <a:pPr indent="0" marL="0">
              <a:lnSpc>
                <a:spcPts val="1700"/>
              </a:lnSpc>
              <a:buNone/>
            </a:pPr>
            <a:r>
              <a:rPr lang="en-US" sz="1250" dirty="0">
                <a:solidFill>
                  <a:srgbClr val="5A6661"/>
                </a:solidFill>
                <a:latin typeface="Calibri" pitchFamily="34" charset="0"/>
                <a:ea typeface="Calibri" pitchFamily="34" charset="-122"/>
                <a:cs typeface="Calibri" pitchFamily="34" charset="-120"/>
              </a:rPr>
              <a:t>Integración con Transbank, pipeline de integración continua, ceremonias y tablero.</a:t>
            </a:r>
            <a:endParaRPr lang="en-US" sz="1250" dirty="0"/>
          </a:p>
        </p:txBody>
      </p:sp>
      <p:sp>
        <p:nvSpPr>
          <p:cNvPr id="16" name="Shape 14"/>
          <p:cNvSpPr/>
          <p:nvPr/>
        </p:nvSpPr>
        <p:spPr>
          <a:xfrm>
            <a:off x="731520" y="4956048"/>
            <a:ext cx="10698480" cy="1051560"/>
          </a:xfrm>
          <a:prstGeom prst="roundRect">
            <a:avLst>
              <a:gd name="adj" fmla="val 4348"/>
            </a:avLst>
          </a:prstGeom>
          <a:solidFill>
            <a:srgbClr val="1F3A34"/>
          </a:solidFill>
          <a:ln w="12700">
            <a:solidFill>
              <a:srgbClr val="1F3A34"/>
            </a:solidFill>
            <a:prstDash val="solid"/>
          </a:ln>
        </p:spPr>
      </p:sp>
      <p:sp>
        <p:nvSpPr>
          <p:cNvPr id="17" name="Text 15"/>
          <p:cNvSpPr txBox="1"/>
          <p:nvPr/>
        </p:nvSpPr>
        <p:spPr>
          <a:xfrm>
            <a:off x="1051560" y="4956048"/>
            <a:ext cx="10058400" cy="1051560"/>
          </a:xfrm>
          <a:prstGeom prst="rect">
            <a:avLst/>
          </a:prstGeom>
          <a:noFill/>
          <a:ln/>
        </p:spPr>
        <p:txBody>
          <a:bodyPr wrap="square" lIns="0" tIns="0" rIns="0" bIns="0" rtlCol="0" anchor="ctr"/>
          <a:lstStyle/>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La ventana de construcción son nueve semanas: 15 h por persona a la semana, 270 h de capacidad.  </a:t>
            </a:r>
            <a:pPr indent="0" marL="0">
              <a:lnSpc>
                <a:spcPts val="2000"/>
              </a:lnSpc>
              <a:buNone/>
            </a:pPr>
            <a:r>
              <a:rPr lang="en-US" sz="1350" dirty="0">
                <a:solidFill>
                  <a:srgbClr val="8FB3A6"/>
                </a:solidFill>
                <a:latin typeface="Calibri" pitchFamily="34" charset="0"/>
                <a:ea typeface="Calibri" pitchFamily="34" charset="-122"/>
                <a:cs typeface="Calibri" pitchFamily="34" charset="-120"/>
              </a:rPr>
              <a:t>El alcance estimado sumaba 414 h. Dos recortes, de 41 y de 160 h, lo dejaron en 213 h comprometidas, con 21% de holgura declarada.</a:t>
            </a:r>
            <a:endParaRPr lang="en-US" sz="1350" dirty="0"/>
          </a:p>
        </p:txBody>
      </p:sp>
      <p:sp>
        <p:nvSpPr>
          <p:cNvPr id="18" name="Text 16"/>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Martín  ·  40 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PLAN DE TRABAJO</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Dieciocho semanas, con producto demostrable en la semana 10</a:t>
            </a:r>
            <a:endParaRPr lang="en-US" sz="2900" dirty="0"/>
          </a:p>
        </p:txBody>
      </p:sp>
      <p:sp>
        <p:nvSpPr>
          <p:cNvPr id="4" name="Shape 2"/>
          <p:cNvSpPr/>
          <p:nvPr/>
        </p:nvSpPr>
        <p:spPr>
          <a:xfrm>
            <a:off x="731520" y="2057400"/>
            <a:ext cx="3355848" cy="2743200"/>
          </a:xfrm>
          <a:prstGeom prst="roundRect">
            <a:avLst>
              <a:gd name="adj" fmla="val 2000"/>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5" name="Shape 3"/>
          <p:cNvSpPr/>
          <p:nvPr/>
        </p:nvSpPr>
        <p:spPr>
          <a:xfrm>
            <a:off x="731520" y="1737360"/>
            <a:ext cx="3355848" cy="457200"/>
          </a:xfrm>
          <a:prstGeom prst="roundRect">
            <a:avLst>
              <a:gd name="adj" fmla="val 10000"/>
            </a:avLst>
          </a:prstGeom>
          <a:solidFill>
            <a:srgbClr val="C75B2B"/>
          </a:solidFill>
          <a:ln w="12700">
            <a:solidFill>
              <a:srgbClr val="C75B2B"/>
            </a:solidFill>
            <a:prstDash val="solid"/>
          </a:ln>
        </p:spPr>
      </p:sp>
      <p:sp>
        <p:nvSpPr>
          <p:cNvPr id="6" name="Text 4"/>
          <p:cNvSpPr txBox="1"/>
          <p:nvPr/>
        </p:nvSpPr>
        <p:spPr>
          <a:xfrm>
            <a:off x="731520" y="1737360"/>
            <a:ext cx="335584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Fase 1  ·  Semanas 1 a 6</a:t>
            </a:r>
            <a:endParaRPr lang="en-US" sz="1200" dirty="0"/>
          </a:p>
        </p:txBody>
      </p:sp>
      <p:sp>
        <p:nvSpPr>
          <p:cNvPr id="7" name="Text 5"/>
          <p:cNvSpPr txBox="1"/>
          <p:nvPr/>
        </p:nvSpPr>
        <p:spPr>
          <a:xfrm>
            <a:off x="1005840" y="2377440"/>
            <a:ext cx="2807208" cy="365760"/>
          </a:xfrm>
          <a:prstGeom prst="rect">
            <a:avLst/>
          </a:prstGeom>
          <a:noFill/>
          <a:ln/>
        </p:spPr>
        <p:txBody>
          <a:bodyPr wrap="square" lIns="0" tIns="0" rIns="0" bIns="0" rtlCol="0" anchor="ctr"/>
          <a:lstStyle/>
          <a:p>
            <a:pPr indent="0" marL="0">
              <a:buNone/>
            </a:pPr>
            <a:r>
              <a:rPr lang="en-US" sz="2000" b="1" dirty="0">
                <a:solidFill>
                  <a:srgbClr val="18211E"/>
                </a:solidFill>
                <a:latin typeface="Cambria" pitchFamily="34" charset="0"/>
                <a:ea typeface="Cambria" pitchFamily="34" charset="-122"/>
                <a:cs typeface="Cambria" pitchFamily="34" charset="-120"/>
              </a:rPr>
              <a:t>Definición</a:t>
            </a:r>
            <a:endParaRPr lang="en-US" sz="2000" dirty="0"/>
          </a:p>
        </p:txBody>
      </p:sp>
      <p:sp>
        <p:nvSpPr>
          <p:cNvPr id="8" name="Text 6"/>
          <p:cNvSpPr txBox="1"/>
          <p:nvPr/>
        </p:nvSpPr>
        <p:spPr>
          <a:xfrm>
            <a:off x="1005840" y="2834640"/>
            <a:ext cx="2807208" cy="1234440"/>
          </a:xfrm>
          <a:prstGeom prst="rect">
            <a:avLst/>
          </a:prstGeom>
          <a:noFill/>
          <a:ln/>
        </p:spPr>
        <p:txBody>
          <a:bodyPr wrap="square" lIns="0" tIns="0" rIns="0" bIns="0" rtlCol="0" anchor="t"/>
          <a:lstStyle/>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Definición del producto y arquitectura</a:t>
            </a:r>
            <a:endParaRPr lang="en-US" sz="1200" dirty="0"/>
          </a:p>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Validación con diez cuidadoras</a:t>
            </a:r>
            <a:endParaRPr lang="en-US" sz="1200" dirty="0"/>
          </a:p>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Presentación de fase 1 (hoy)</a:t>
            </a:r>
            <a:endParaRPr lang="en-US" sz="1200" dirty="0"/>
          </a:p>
        </p:txBody>
      </p:sp>
      <p:sp>
        <p:nvSpPr>
          <p:cNvPr id="9" name="Text 7"/>
          <p:cNvSpPr txBox="1"/>
          <p:nvPr/>
        </p:nvSpPr>
        <p:spPr>
          <a:xfrm>
            <a:off x="1005840" y="4114800"/>
            <a:ext cx="2807208" cy="228600"/>
          </a:xfrm>
          <a:prstGeom prst="rect">
            <a:avLst/>
          </a:prstGeom>
          <a:noFill/>
          <a:ln/>
        </p:spPr>
        <p:txBody>
          <a:bodyPr wrap="square" lIns="0" tIns="0" rIns="0" bIns="0" rtlCol="0" anchor="t"/>
          <a:lstStyle/>
          <a:p>
            <a:pPr indent="0" marL="0">
              <a:buNone/>
            </a:pPr>
            <a:r>
              <a:rPr lang="en-US" sz="900" b="1" spc="140" kern="0" dirty="0">
                <a:solidFill>
                  <a:srgbClr val="C75B2B"/>
                </a:solidFill>
                <a:latin typeface="Calibri" pitchFamily="34" charset="0"/>
                <a:ea typeface="Calibri" pitchFamily="34" charset="-122"/>
                <a:cs typeface="Calibri" pitchFamily="34" charset="-120"/>
              </a:rPr>
              <a:t>QUÉ SE ENTREGA</a:t>
            </a:r>
            <a:endParaRPr lang="en-US" sz="900" dirty="0"/>
          </a:p>
        </p:txBody>
      </p:sp>
      <p:sp>
        <p:nvSpPr>
          <p:cNvPr id="10" name="Text 8"/>
          <p:cNvSpPr txBox="1"/>
          <p:nvPr/>
        </p:nvSpPr>
        <p:spPr>
          <a:xfrm>
            <a:off x="1005840" y="4352544"/>
            <a:ext cx="2807208" cy="566928"/>
          </a:xfrm>
          <a:prstGeom prst="rect">
            <a:avLst/>
          </a:prstGeom>
          <a:noFill/>
          <a:ln/>
        </p:spPr>
        <p:txBody>
          <a:bodyPr wrap="square" lIns="0" tIns="0" rIns="0" bIns="0" rtlCol="0" anchor="t"/>
          <a:lstStyle/>
          <a:p>
            <a:pPr indent="0" marL="0">
              <a:lnSpc>
                <a:spcPts val="1500"/>
              </a:lnSpc>
              <a:buNone/>
            </a:pPr>
            <a:r>
              <a:rPr lang="en-US" sz="1100" dirty="0">
                <a:solidFill>
                  <a:srgbClr val="18211E"/>
                </a:solidFill>
                <a:latin typeface="Calibri" pitchFamily="34" charset="0"/>
                <a:ea typeface="Calibri" pitchFamily="34" charset="-122"/>
                <a:cs typeface="Calibri" pitchFamily="34" charset="-120"/>
              </a:rPr>
              <a:t>Informe formativo, guía del estudiante y documento de arquitectura</a:t>
            </a:r>
            <a:endParaRPr lang="en-US" sz="1100" dirty="0"/>
          </a:p>
        </p:txBody>
      </p:sp>
      <p:sp>
        <p:nvSpPr>
          <p:cNvPr id="11" name="Shape 9"/>
          <p:cNvSpPr/>
          <p:nvPr/>
        </p:nvSpPr>
        <p:spPr>
          <a:xfrm>
            <a:off x="4407408" y="2057400"/>
            <a:ext cx="3355848" cy="2743200"/>
          </a:xfrm>
          <a:prstGeom prst="roundRect">
            <a:avLst>
              <a:gd name="adj" fmla="val 2000"/>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2" name="Shape 10"/>
          <p:cNvSpPr/>
          <p:nvPr/>
        </p:nvSpPr>
        <p:spPr>
          <a:xfrm>
            <a:off x="4407408" y="1737360"/>
            <a:ext cx="3355848" cy="457200"/>
          </a:xfrm>
          <a:prstGeom prst="roundRect">
            <a:avLst>
              <a:gd name="adj" fmla="val 10000"/>
            </a:avLst>
          </a:prstGeom>
          <a:solidFill>
            <a:srgbClr val="6E9C8C"/>
          </a:solidFill>
          <a:ln w="12700">
            <a:solidFill>
              <a:srgbClr val="6E9C8C"/>
            </a:solidFill>
            <a:prstDash val="solid"/>
          </a:ln>
        </p:spPr>
      </p:sp>
      <p:sp>
        <p:nvSpPr>
          <p:cNvPr id="13" name="Text 11"/>
          <p:cNvSpPr txBox="1"/>
          <p:nvPr/>
        </p:nvSpPr>
        <p:spPr>
          <a:xfrm>
            <a:off x="4407408" y="1737360"/>
            <a:ext cx="335584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Fase 2  ·  Semanas 7 a 15</a:t>
            </a:r>
            <a:endParaRPr lang="en-US" sz="1200" dirty="0"/>
          </a:p>
        </p:txBody>
      </p:sp>
      <p:sp>
        <p:nvSpPr>
          <p:cNvPr id="14" name="Text 12"/>
          <p:cNvSpPr txBox="1"/>
          <p:nvPr/>
        </p:nvSpPr>
        <p:spPr>
          <a:xfrm>
            <a:off x="4681728" y="2377440"/>
            <a:ext cx="2807208" cy="365760"/>
          </a:xfrm>
          <a:prstGeom prst="rect">
            <a:avLst/>
          </a:prstGeom>
          <a:noFill/>
          <a:ln/>
        </p:spPr>
        <p:txBody>
          <a:bodyPr wrap="square" lIns="0" tIns="0" rIns="0" bIns="0" rtlCol="0" anchor="ctr"/>
          <a:lstStyle/>
          <a:p>
            <a:pPr indent="0" marL="0">
              <a:buNone/>
            </a:pPr>
            <a:r>
              <a:rPr lang="en-US" sz="2000" b="1" dirty="0">
                <a:solidFill>
                  <a:srgbClr val="18211E"/>
                </a:solidFill>
                <a:latin typeface="Cambria" pitchFamily="34" charset="0"/>
                <a:ea typeface="Cambria" pitchFamily="34" charset="-122"/>
                <a:cs typeface="Cambria" pitchFamily="34" charset="-120"/>
              </a:rPr>
              <a:t>Construcción</a:t>
            </a:r>
            <a:endParaRPr lang="en-US" sz="2000" dirty="0"/>
          </a:p>
        </p:txBody>
      </p:sp>
      <p:sp>
        <p:nvSpPr>
          <p:cNvPr id="15" name="Text 13"/>
          <p:cNvSpPr txBox="1"/>
          <p:nvPr/>
        </p:nvSpPr>
        <p:spPr>
          <a:xfrm>
            <a:off x="4681728" y="2834640"/>
            <a:ext cx="2807208" cy="1234440"/>
          </a:xfrm>
          <a:prstGeom prst="rect">
            <a:avLst/>
          </a:prstGeom>
          <a:noFill/>
          <a:ln/>
        </p:spPr>
        <p:txBody>
          <a:bodyPr wrap="square" lIns="0" tIns="0" rIns="0" bIns="0" rtlCol="0" anchor="t"/>
          <a:lstStyle/>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Sprint 0 y ocho sprints de una semana</a:t>
            </a:r>
            <a:endParaRPr lang="en-US" sz="1200" dirty="0"/>
          </a:p>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Modelo de datos y aislamiento</a:t>
            </a:r>
            <a:endParaRPr lang="en-US" sz="1200" dirty="0"/>
          </a:p>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Capa 1, capa 2 y capa 3</a:t>
            </a:r>
            <a:endParaRPr lang="en-US" sz="1200" dirty="0"/>
          </a:p>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Ampliación de la validación y usabilidad</a:t>
            </a:r>
            <a:endParaRPr lang="en-US" sz="1200" dirty="0"/>
          </a:p>
        </p:txBody>
      </p:sp>
      <p:sp>
        <p:nvSpPr>
          <p:cNvPr id="16" name="Text 14"/>
          <p:cNvSpPr txBox="1"/>
          <p:nvPr/>
        </p:nvSpPr>
        <p:spPr>
          <a:xfrm>
            <a:off x="4681728" y="4114800"/>
            <a:ext cx="2807208" cy="228600"/>
          </a:xfrm>
          <a:prstGeom prst="rect">
            <a:avLst/>
          </a:prstGeom>
          <a:noFill/>
          <a:ln/>
        </p:spPr>
        <p:txBody>
          <a:bodyPr wrap="square" lIns="0" tIns="0" rIns="0" bIns="0" rtlCol="0" anchor="t"/>
          <a:lstStyle/>
          <a:p>
            <a:pPr indent="0" marL="0">
              <a:buNone/>
            </a:pPr>
            <a:r>
              <a:rPr lang="en-US" sz="900" b="1" spc="140" kern="0" dirty="0">
                <a:solidFill>
                  <a:srgbClr val="6E9C8C"/>
                </a:solidFill>
                <a:latin typeface="Calibri" pitchFamily="34" charset="0"/>
                <a:ea typeface="Calibri" pitchFamily="34" charset="-122"/>
                <a:cs typeface="Calibri" pitchFamily="34" charset="-120"/>
              </a:rPr>
              <a:t>QUÉ SE ENTREGA</a:t>
            </a:r>
            <a:endParaRPr lang="en-US" sz="900" dirty="0"/>
          </a:p>
        </p:txBody>
      </p:sp>
      <p:sp>
        <p:nvSpPr>
          <p:cNvPr id="17" name="Text 15"/>
          <p:cNvSpPr txBox="1"/>
          <p:nvPr/>
        </p:nvSpPr>
        <p:spPr>
          <a:xfrm>
            <a:off x="4681728" y="4352544"/>
            <a:ext cx="2807208" cy="566928"/>
          </a:xfrm>
          <a:prstGeom prst="rect">
            <a:avLst/>
          </a:prstGeom>
          <a:noFill/>
          <a:ln/>
        </p:spPr>
        <p:txBody>
          <a:bodyPr wrap="square" lIns="0" tIns="0" rIns="0" bIns="0" rtlCol="0" anchor="t"/>
          <a:lstStyle/>
          <a:p>
            <a:pPr indent="0" marL="0">
              <a:lnSpc>
                <a:spcPts val="1500"/>
              </a:lnSpc>
              <a:buNone/>
            </a:pPr>
            <a:r>
              <a:rPr lang="en-US" sz="1100" dirty="0">
                <a:solidFill>
                  <a:srgbClr val="18211E"/>
                </a:solidFill>
                <a:latin typeface="Calibri" pitchFamily="34" charset="0"/>
                <a:ea typeface="Calibri" pitchFamily="34" charset="-122"/>
                <a:cs typeface="Calibri" pitchFamily="34" charset="-120"/>
              </a:rPr>
              <a:t>Informe de avance en la semana 10, con la capa 1 operativa</a:t>
            </a:r>
            <a:endParaRPr lang="en-US" sz="1100" dirty="0"/>
          </a:p>
        </p:txBody>
      </p:sp>
      <p:sp>
        <p:nvSpPr>
          <p:cNvPr id="18" name="Shape 16"/>
          <p:cNvSpPr/>
          <p:nvPr/>
        </p:nvSpPr>
        <p:spPr>
          <a:xfrm>
            <a:off x="8074152" y="2057400"/>
            <a:ext cx="3355848" cy="2743200"/>
          </a:xfrm>
          <a:prstGeom prst="roundRect">
            <a:avLst>
              <a:gd name="adj" fmla="val 2000"/>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19" name="Shape 17"/>
          <p:cNvSpPr/>
          <p:nvPr/>
        </p:nvSpPr>
        <p:spPr>
          <a:xfrm>
            <a:off x="8074152" y="1737360"/>
            <a:ext cx="3355848" cy="457200"/>
          </a:xfrm>
          <a:prstGeom prst="roundRect">
            <a:avLst>
              <a:gd name="adj" fmla="val 10000"/>
            </a:avLst>
          </a:prstGeom>
          <a:solidFill>
            <a:srgbClr val="1F3A34"/>
          </a:solidFill>
          <a:ln w="12700">
            <a:solidFill>
              <a:srgbClr val="1F3A34"/>
            </a:solidFill>
            <a:prstDash val="solid"/>
          </a:ln>
        </p:spPr>
      </p:sp>
      <p:sp>
        <p:nvSpPr>
          <p:cNvPr id="20" name="Text 18"/>
          <p:cNvSpPr txBox="1"/>
          <p:nvPr/>
        </p:nvSpPr>
        <p:spPr>
          <a:xfrm>
            <a:off x="8074152" y="1737360"/>
            <a:ext cx="335584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Fase 3  ·  Semanas 16 a 18</a:t>
            </a:r>
            <a:endParaRPr lang="en-US" sz="1200" dirty="0"/>
          </a:p>
        </p:txBody>
      </p:sp>
      <p:sp>
        <p:nvSpPr>
          <p:cNvPr id="21" name="Text 19"/>
          <p:cNvSpPr txBox="1"/>
          <p:nvPr/>
        </p:nvSpPr>
        <p:spPr>
          <a:xfrm>
            <a:off x="8348472" y="2377440"/>
            <a:ext cx="2807208" cy="365760"/>
          </a:xfrm>
          <a:prstGeom prst="rect">
            <a:avLst/>
          </a:prstGeom>
          <a:noFill/>
          <a:ln/>
        </p:spPr>
        <p:txBody>
          <a:bodyPr wrap="square" lIns="0" tIns="0" rIns="0" bIns="0" rtlCol="0" anchor="ctr"/>
          <a:lstStyle/>
          <a:p>
            <a:pPr indent="0" marL="0">
              <a:buNone/>
            </a:pPr>
            <a:r>
              <a:rPr lang="en-US" sz="2000" b="1" dirty="0">
                <a:solidFill>
                  <a:srgbClr val="18211E"/>
                </a:solidFill>
                <a:latin typeface="Cambria" pitchFamily="34" charset="0"/>
                <a:ea typeface="Cambria" pitchFamily="34" charset="-122"/>
                <a:cs typeface="Cambria" pitchFamily="34" charset="-120"/>
              </a:rPr>
              <a:t>Cierre</a:t>
            </a:r>
            <a:endParaRPr lang="en-US" sz="2000" dirty="0"/>
          </a:p>
        </p:txBody>
      </p:sp>
      <p:sp>
        <p:nvSpPr>
          <p:cNvPr id="22" name="Text 20"/>
          <p:cNvSpPr txBox="1"/>
          <p:nvPr/>
        </p:nvSpPr>
        <p:spPr>
          <a:xfrm>
            <a:off x="8348472" y="2834640"/>
            <a:ext cx="2807208" cy="1234440"/>
          </a:xfrm>
          <a:prstGeom prst="rect">
            <a:avLst/>
          </a:prstGeom>
          <a:noFill/>
          <a:ln/>
        </p:spPr>
        <p:txBody>
          <a:bodyPr wrap="square" lIns="0" tIns="0" rIns="0" bIns="0" rtlCol="0" anchor="t"/>
          <a:lstStyle/>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Endurecimiento y despliegue</a:t>
            </a:r>
            <a:endParaRPr lang="en-US" sz="1200" dirty="0"/>
          </a:p>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Informe final</a:t>
            </a:r>
            <a:endParaRPr lang="en-US" sz="1200" dirty="0"/>
          </a:p>
          <a:p>
            <a:pPr indent="0" marL="0">
              <a:lnSpc>
                <a:spcPts val="1900"/>
              </a:lnSpc>
              <a:buNone/>
            </a:pPr>
            <a:r>
              <a:rPr lang="en-US" sz="1200" dirty="0">
                <a:solidFill>
                  <a:srgbClr val="5A6661"/>
                </a:solidFill>
                <a:latin typeface="Calibri" pitchFamily="34" charset="0"/>
                <a:ea typeface="Calibri" pitchFamily="34" charset="-122"/>
                <a:cs typeface="Calibri" pitchFamily="34" charset="-120"/>
              </a:rPr>
              <a:t>Defensa</a:t>
            </a:r>
            <a:endParaRPr lang="en-US" sz="1200" dirty="0"/>
          </a:p>
        </p:txBody>
      </p:sp>
      <p:sp>
        <p:nvSpPr>
          <p:cNvPr id="23" name="Text 21"/>
          <p:cNvSpPr txBox="1"/>
          <p:nvPr/>
        </p:nvSpPr>
        <p:spPr>
          <a:xfrm>
            <a:off x="8348472" y="4114800"/>
            <a:ext cx="2807208" cy="228600"/>
          </a:xfrm>
          <a:prstGeom prst="rect">
            <a:avLst/>
          </a:prstGeom>
          <a:noFill/>
          <a:ln/>
        </p:spPr>
        <p:txBody>
          <a:bodyPr wrap="square" lIns="0" tIns="0" rIns="0" bIns="0" rtlCol="0" anchor="t"/>
          <a:lstStyle/>
          <a:p>
            <a:pPr indent="0" marL="0">
              <a:buNone/>
            </a:pPr>
            <a:r>
              <a:rPr lang="en-US" sz="900" b="1" spc="140" kern="0" dirty="0">
                <a:solidFill>
                  <a:srgbClr val="1F3A34"/>
                </a:solidFill>
                <a:latin typeface="Calibri" pitchFamily="34" charset="0"/>
                <a:ea typeface="Calibri" pitchFamily="34" charset="-122"/>
                <a:cs typeface="Calibri" pitchFamily="34" charset="-120"/>
              </a:rPr>
              <a:t>QUÉ SE ENTREGA</a:t>
            </a:r>
            <a:endParaRPr lang="en-US" sz="900" dirty="0"/>
          </a:p>
        </p:txBody>
      </p:sp>
      <p:sp>
        <p:nvSpPr>
          <p:cNvPr id="24" name="Text 22"/>
          <p:cNvSpPr txBox="1"/>
          <p:nvPr/>
        </p:nvSpPr>
        <p:spPr>
          <a:xfrm>
            <a:off x="8348472" y="4352544"/>
            <a:ext cx="2807208" cy="566928"/>
          </a:xfrm>
          <a:prstGeom prst="rect">
            <a:avLst/>
          </a:prstGeom>
          <a:noFill/>
          <a:ln/>
        </p:spPr>
        <p:txBody>
          <a:bodyPr wrap="square" lIns="0" tIns="0" rIns="0" bIns="0" rtlCol="0" anchor="t"/>
          <a:lstStyle/>
          <a:p>
            <a:pPr indent="0" marL="0">
              <a:lnSpc>
                <a:spcPts val="1500"/>
              </a:lnSpc>
              <a:buNone/>
            </a:pPr>
            <a:r>
              <a:rPr lang="en-US" sz="1100" dirty="0">
                <a:solidFill>
                  <a:srgbClr val="18211E"/>
                </a:solidFill>
                <a:latin typeface="Calibri" pitchFamily="34" charset="0"/>
                <a:ea typeface="Calibri" pitchFamily="34" charset="-122"/>
                <a:cs typeface="Calibri" pitchFamily="34" charset="-120"/>
              </a:rPr>
              <a:t>Informe final y defensa ante la comisión</a:t>
            </a:r>
            <a:endParaRPr lang="en-US" sz="1100" dirty="0"/>
          </a:p>
        </p:txBody>
      </p:sp>
      <p:sp>
        <p:nvSpPr>
          <p:cNvPr id="25" name="Text 23"/>
          <p:cNvSpPr txBox="1"/>
          <p:nvPr/>
        </p:nvSpPr>
        <p:spPr>
          <a:xfrm>
            <a:off x="731520" y="5074920"/>
            <a:ext cx="10698480" cy="457200"/>
          </a:xfrm>
          <a:prstGeom prst="rect">
            <a:avLst/>
          </a:prstGeom>
          <a:noFill/>
          <a:ln/>
        </p:spPr>
        <p:txBody>
          <a:bodyPr wrap="square" lIns="0" tIns="0" rIns="0" bIns="0" rtlCol="0" anchor="ctr"/>
          <a:lstStyle/>
          <a:p>
            <a:pPr indent="0" marL="0">
              <a:buNone/>
            </a:pPr>
            <a:r>
              <a:rPr lang="en-US" sz="1500" b="1" dirty="0">
                <a:solidFill>
                  <a:srgbClr val="C75B2B"/>
                </a:solidFill>
                <a:latin typeface="Cambria" pitchFamily="34" charset="0"/>
                <a:ea typeface="Cambria" pitchFamily="34" charset="-122"/>
                <a:cs typeface="Cambria" pitchFamily="34" charset="-120"/>
              </a:rPr>
              <a:t>El diferenciador se demuestra en el sprint 3, semana 10, que es la semana del informe de avance. No en el sprint 12.</a:t>
            </a:r>
            <a:endParaRPr lang="en-US" sz="1500" dirty="0"/>
          </a:p>
        </p:txBody>
      </p:sp>
      <p:sp>
        <p:nvSpPr>
          <p:cNvPr id="26" name="Text 24"/>
          <p:cNvSpPr txBox="1"/>
          <p:nvPr/>
        </p:nvSpPr>
        <p:spPr>
          <a:xfrm>
            <a:off x="731520" y="5532120"/>
            <a:ext cx="10698480" cy="320040"/>
          </a:xfrm>
          <a:prstGeom prst="rect">
            <a:avLst/>
          </a:prstGeom>
          <a:noFill/>
          <a:ln/>
        </p:spPr>
        <p:txBody>
          <a:bodyPr wrap="square" lIns="0" tIns="0" rIns="0" bIns="0" rtlCol="0" anchor="ctr"/>
          <a:lstStyle/>
          <a:p>
            <a:pPr indent="0" marL="0">
              <a:buNone/>
            </a:pPr>
            <a:r>
              <a:rPr lang="en-US" sz="1150" dirty="0">
                <a:solidFill>
                  <a:srgbClr val="5A6661"/>
                </a:solidFill>
                <a:latin typeface="Calibri" pitchFamily="34" charset="0"/>
                <a:ea typeface="Calibri" pitchFamily="34" charset="-122"/>
                <a:cs typeface="Calibri" pitchFamily="34" charset="-120"/>
              </a:rPr>
              <a:t>Sprint 0 ocupa la semana 7, y desde ahí el sprint N corresponde a la semana N más 7.</a:t>
            </a:r>
            <a:endParaRPr lang="en-US" sz="1150" dirty="0"/>
          </a:p>
        </p:txBody>
      </p:sp>
      <p:sp>
        <p:nvSpPr>
          <p:cNvPr id="27" name="Text 25"/>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Martín  ·  45 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C75B2B"/>
                </a:solidFill>
                <a:latin typeface="Calibri" pitchFamily="34" charset="0"/>
                <a:ea typeface="Calibri" pitchFamily="34" charset="-122"/>
                <a:cs typeface="Calibri" pitchFamily="34" charset="-120"/>
              </a:rPr>
              <a:t>OBJETIVOS Y VIABILIDAD</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18211E"/>
                </a:solidFill>
                <a:latin typeface="Cambria" pitchFamily="34" charset="0"/>
                <a:ea typeface="Cambria" pitchFamily="34" charset="-122"/>
                <a:cs typeface="Cambria" pitchFamily="34" charset="-120"/>
              </a:rPr>
              <a:t>Qué entregamos, y si el negocio se sostiene</a:t>
            </a:r>
            <a:endParaRPr lang="en-US" sz="2900" dirty="0"/>
          </a:p>
        </p:txBody>
      </p:sp>
      <p:sp>
        <p:nvSpPr>
          <p:cNvPr id="4" name="Shape 2"/>
          <p:cNvSpPr/>
          <p:nvPr/>
        </p:nvSpPr>
        <p:spPr>
          <a:xfrm>
            <a:off x="731520" y="1737360"/>
            <a:ext cx="6766560" cy="4160520"/>
          </a:xfrm>
          <a:prstGeom prst="roundRect">
            <a:avLst>
              <a:gd name="adj" fmla="val 1319"/>
            </a:avLst>
          </a:prstGeom>
          <a:solidFill>
            <a:srgbClr val="EEF3F1"/>
          </a:solidFill>
          <a:ln w="12700">
            <a:solidFill>
              <a:srgbClr val="EEF3F1"/>
            </a:solidFill>
            <a:prstDash val="solid"/>
          </a:ln>
          <a:effectLst>
            <a:outerShdw sx="100000" sy="100000" kx="0" ky="0" algn="bl" rotWithShape="0" blurRad="127000" dist="25400" dir="5400000">
              <a:srgbClr val="1F3A34">
                <a:alpha val="10000"/>
              </a:srgbClr>
            </a:outerShdw>
          </a:effectLst>
        </p:spPr>
      </p:sp>
      <p:sp>
        <p:nvSpPr>
          <p:cNvPr id="5" name="Text 3"/>
          <p:cNvSpPr txBox="1"/>
          <p:nvPr/>
        </p:nvSpPr>
        <p:spPr>
          <a:xfrm>
            <a:off x="1005840" y="1938528"/>
            <a:ext cx="6217920" cy="274320"/>
          </a:xfrm>
          <a:prstGeom prst="rect">
            <a:avLst/>
          </a:prstGeom>
          <a:noFill/>
          <a:ln/>
        </p:spPr>
        <p:txBody>
          <a:bodyPr wrap="square" lIns="0" tIns="0" rIns="0" bIns="0" rtlCol="0" anchor="ctr"/>
          <a:lstStyle/>
          <a:p>
            <a:pPr indent="0" marL="0">
              <a:buNone/>
            </a:pPr>
            <a:r>
              <a:rPr lang="en-US" sz="1100" b="1" dirty="0">
                <a:solidFill>
                  <a:srgbClr val="C75B2B"/>
                </a:solidFill>
                <a:latin typeface="Calibri" pitchFamily="34" charset="0"/>
                <a:ea typeface="Calibri" pitchFamily="34" charset="-122"/>
                <a:cs typeface="Calibri" pitchFamily="34" charset="-120"/>
              </a:rPr>
              <a:t>Objetivo general</a:t>
            </a:r>
            <a:endParaRPr lang="en-US" sz="1100" dirty="0"/>
          </a:p>
        </p:txBody>
      </p:sp>
      <p:sp>
        <p:nvSpPr>
          <p:cNvPr id="6" name="Text 4"/>
          <p:cNvSpPr txBox="1"/>
          <p:nvPr/>
        </p:nvSpPr>
        <p:spPr>
          <a:xfrm>
            <a:off x="1005840" y="2267712"/>
            <a:ext cx="6217920" cy="868680"/>
          </a:xfrm>
          <a:prstGeom prst="rect">
            <a:avLst/>
          </a:prstGeom>
          <a:noFill/>
          <a:ln/>
        </p:spPr>
        <p:txBody>
          <a:bodyPr wrap="square" lIns="0" tIns="0" rIns="0" bIns="0" rtlCol="0" anchor="t"/>
          <a:lstStyle/>
          <a:p>
            <a:pPr indent="0" marL="0">
              <a:lnSpc>
                <a:spcPts val="1700"/>
              </a:lnSpc>
              <a:buNone/>
            </a:pPr>
            <a:r>
              <a:rPr lang="en-US" sz="1250" dirty="0">
                <a:solidFill>
                  <a:srgbClr val="18211E"/>
                </a:solidFill>
                <a:latin typeface="Calibri" pitchFamily="34" charset="0"/>
                <a:ea typeface="Calibri" pitchFamily="34" charset="-122"/>
                <a:cs typeface="Calibri" pitchFamily="34" charset="-120"/>
              </a:rPr>
              <a:t>Desarrollar una plataforma de software que convierta el plan de cuidado de una persona mayor con dependencia en una predicción de quiebre de insumos y coordine su reposición y pago, desplegada y operativa en un entorno de demostración al cierre del semestre 2026-2.</a:t>
            </a:r>
            <a:endParaRPr lang="en-US" sz="1250" dirty="0"/>
          </a:p>
        </p:txBody>
      </p:sp>
      <p:sp>
        <p:nvSpPr>
          <p:cNvPr id="7" name="Text 5"/>
          <p:cNvSpPr txBox="1"/>
          <p:nvPr/>
        </p:nvSpPr>
        <p:spPr>
          <a:xfrm>
            <a:off x="1005840" y="3310128"/>
            <a:ext cx="6217920" cy="274320"/>
          </a:xfrm>
          <a:prstGeom prst="rect">
            <a:avLst/>
          </a:prstGeom>
          <a:noFill/>
          <a:ln/>
        </p:spPr>
        <p:txBody>
          <a:bodyPr wrap="square" lIns="0" tIns="0" rIns="0" bIns="0" rtlCol="0" anchor="ctr"/>
          <a:lstStyle/>
          <a:p>
            <a:pPr indent="0" marL="0">
              <a:buNone/>
            </a:pPr>
            <a:r>
              <a:rPr lang="en-US" sz="1100" b="1" dirty="0">
                <a:solidFill>
                  <a:srgbClr val="C75B2B"/>
                </a:solidFill>
                <a:latin typeface="Calibri" pitchFamily="34" charset="0"/>
                <a:ea typeface="Calibri" pitchFamily="34" charset="-122"/>
                <a:cs typeface="Calibri" pitchFamily="34" charset="-120"/>
              </a:rPr>
              <a:t>Objetivos específicos  ·  cada uno con métrica y sprint de cierre</a:t>
            </a:r>
            <a:endParaRPr lang="en-US" sz="1100" dirty="0"/>
          </a:p>
        </p:txBody>
      </p:sp>
      <p:sp>
        <p:nvSpPr>
          <p:cNvPr id="8" name="Text 6"/>
          <p:cNvSpPr txBox="1"/>
          <p:nvPr/>
        </p:nvSpPr>
        <p:spPr>
          <a:xfrm>
            <a:off x="1005840" y="3639312"/>
            <a:ext cx="6217920" cy="205740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A6661"/>
                </a:solidFill>
                <a:latin typeface="Calibri" pitchFamily="34" charset="0"/>
                <a:ea typeface="Calibri" pitchFamily="34" charset="-122"/>
                <a:cs typeface="Calibri" pitchFamily="34" charset="-120"/>
              </a:rPr>
              <a:t>Validar las siete hipótesis con criterios de falsación escritos  ·  semana 6</a:t>
            </a:r>
            <a:endParaRPr lang="en-US" sz="1150" dirty="0"/>
          </a:p>
          <a:p>
            <a:pPr marL="342900" indent="-342900">
              <a:lnSpc>
                <a:spcPts val="1500"/>
              </a:lnSpc>
              <a:spcAft>
                <a:spcPts val="500"/>
              </a:spcAft>
              <a:buSzPct val="100000"/>
              <a:buChar char="•"/>
            </a:pPr>
            <a:r>
              <a:rPr lang="en-US" sz="1150" dirty="0">
                <a:solidFill>
                  <a:srgbClr val="5A6661"/>
                </a:solidFill>
                <a:latin typeface="Calibri" pitchFamily="34" charset="0"/>
                <a:ea typeface="Calibri" pitchFamily="34" charset="-122"/>
                <a:cs typeface="Calibri" pitchFamily="34" charset="-120"/>
              </a:rPr>
              <a:t>Modelo de datos multi-inquilino con aislamiento probado  ·  sprint 1</a:t>
            </a:r>
            <a:endParaRPr lang="en-US" sz="1150" dirty="0"/>
          </a:p>
          <a:p>
            <a:pPr marL="342900" indent="-342900">
              <a:lnSpc>
                <a:spcPts val="1500"/>
              </a:lnSpc>
              <a:spcAft>
                <a:spcPts val="500"/>
              </a:spcAft>
              <a:buSzPct val="100000"/>
              <a:buChar char="•"/>
            </a:pPr>
            <a:r>
              <a:rPr lang="en-US" sz="1150" dirty="0">
                <a:solidFill>
                  <a:srgbClr val="5A6661"/>
                </a:solidFill>
                <a:latin typeface="Calibri" pitchFamily="34" charset="0"/>
                <a:ea typeface="Calibri" pitchFamily="34" charset="-122"/>
                <a:cs typeface="Calibri" pitchFamily="34" charset="-120"/>
              </a:rPr>
              <a:t>Plan de cuidado con relevo revocable y trazabilidad  ·  sprint 3</a:t>
            </a:r>
            <a:endParaRPr lang="en-US" sz="1150" dirty="0"/>
          </a:p>
          <a:p>
            <a:pPr marL="342900" indent="-342900">
              <a:lnSpc>
                <a:spcPts val="1500"/>
              </a:lnSpc>
              <a:spcAft>
                <a:spcPts val="500"/>
              </a:spcAft>
              <a:buSzPct val="100000"/>
              <a:buChar char="•"/>
            </a:pPr>
            <a:r>
              <a:rPr lang="en-US" sz="1150" dirty="0">
                <a:solidFill>
                  <a:srgbClr val="5A6661"/>
                </a:solidFill>
                <a:latin typeface="Calibri" pitchFamily="34" charset="0"/>
                <a:ea typeface="Calibri" pitchFamily="34" charset="-122"/>
                <a:cs typeface="Calibri" pitchFamily="34" charset="-120"/>
              </a:rPr>
              <a:t>Cálculo de fecha de quiebre y alerta anticipada por insumo  ·  sprint 5</a:t>
            </a:r>
            <a:endParaRPr lang="en-US" sz="1150" dirty="0"/>
          </a:p>
          <a:p>
            <a:pPr marL="342900" indent="-342900">
              <a:lnSpc>
                <a:spcPts val="1500"/>
              </a:lnSpc>
              <a:spcAft>
                <a:spcPts val="500"/>
              </a:spcAft>
              <a:buSzPct val="100000"/>
              <a:buChar char="•"/>
            </a:pPr>
            <a:r>
              <a:rPr lang="en-US" sz="1150" dirty="0">
                <a:solidFill>
                  <a:srgbClr val="5A6661"/>
                </a:solidFill>
                <a:latin typeface="Calibri" pitchFamily="34" charset="0"/>
                <a:ea typeface="Calibri" pitchFamily="34" charset="-122"/>
                <a:cs typeface="Calibri" pitchFamily="34" charset="-120"/>
              </a:rPr>
              <a:t>Lista de reposición exportable sin convenio comercial  ·  sprint 6</a:t>
            </a:r>
            <a:endParaRPr lang="en-US" sz="1150" dirty="0"/>
          </a:p>
          <a:p>
            <a:pPr marL="342900" indent="-342900">
              <a:lnSpc>
                <a:spcPts val="1500"/>
              </a:lnSpc>
              <a:spcAft>
                <a:spcPts val="500"/>
              </a:spcAft>
              <a:buSzPct val="100000"/>
              <a:buChar char="•"/>
            </a:pPr>
            <a:r>
              <a:rPr lang="en-US" sz="1150" dirty="0">
                <a:solidFill>
                  <a:srgbClr val="5A6661"/>
                </a:solidFill>
                <a:latin typeface="Calibri" pitchFamily="34" charset="0"/>
                <a:ea typeface="Calibri" pitchFamily="34" charset="-122"/>
                <a:cs typeface="Calibri" pitchFamily="34" charset="-120"/>
              </a:rPr>
              <a:t>Flujo de pedido con captura del monto real  ·  sprint 7</a:t>
            </a:r>
            <a:endParaRPr lang="en-US" sz="1150" dirty="0"/>
          </a:p>
          <a:p>
            <a:pPr marL="342900" indent="-342900">
              <a:lnSpc>
                <a:spcPts val="1500"/>
              </a:lnSpc>
              <a:spcAft>
                <a:spcPts val="500"/>
              </a:spcAft>
              <a:buSzPct val="100000"/>
              <a:buChar char="•"/>
            </a:pPr>
            <a:r>
              <a:rPr lang="en-US" sz="1150" dirty="0">
                <a:solidFill>
                  <a:srgbClr val="5A6661"/>
                </a:solidFill>
                <a:latin typeface="Calibri" pitchFamily="34" charset="0"/>
                <a:ea typeface="Calibri" pitchFamily="34" charset="-122"/>
                <a:cs typeface="Calibri" pitchFamily="34" charset="-120"/>
              </a:rPr>
              <a:t>Sistema desplegado con seis recorridos críticos operativos  ·  sprint 8</a:t>
            </a:r>
            <a:endParaRPr lang="en-US" sz="1150" dirty="0"/>
          </a:p>
        </p:txBody>
      </p:sp>
      <p:sp>
        <p:nvSpPr>
          <p:cNvPr id="9" name="Shape 7"/>
          <p:cNvSpPr/>
          <p:nvPr/>
        </p:nvSpPr>
        <p:spPr>
          <a:xfrm>
            <a:off x="7818120" y="1737360"/>
            <a:ext cx="3611880" cy="1280160"/>
          </a:xfrm>
          <a:prstGeom prst="roundRect">
            <a:avLst>
              <a:gd name="adj" fmla="val 4286"/>
            </a:avLst>
          </a:prstGeom>
          <a:solidFill>
            <a:srgbClr val="F7F9F8"/>
          </a:solidFill>
          <a:ln w="12700">
            <a:solidFill>
              <a:srgbClr val="F7F9F8"/>
            </a:solidFill>
            <a:prstDash val="solid"/>
          </a:ln>
          <a:effectLst>
            <a:outerShdw sx="100000" sy="100000" kx="0" ky="0" algn="bl" rotWithShape="0" blurRad="127000" dist="25400" dir="5400000">
              <a:srgbClr val="1F3A34">
                <a:alpha val="10000"/>
              </a:srgbClr>
            </a:outerShdw>
          </a:effectLst>
        </p:spPr>
      </p:sp>
      <p:sp>
        <p:nvSpPr>
          <p:cNvPr id="10" name="Text 8"/>
          <p:cNvSpPr txBox="1"/>
          <p:nvPr/>
        </p:nvSpPr>
        <p:spPr>
          <a:xfrm>
            <a:off x="8092440" y="1865376"/>
            <a:ext cx="3108960" cy="502920"/>
          </a:xfrm>
          <a:prstGeom prst="rect">
            <a:avLst/>
          </a:prstGeom>
          <a:noFill/>
          <a:ln/>
        </p:spPr>
        <p:txBody>
          <a:bodyPr wrap="square" lIns="0" tIns="0" rIns="0" bIns="0" rtlCol="0" anchor="ctr"/>
          <a:lstStyle/>
          <a:p>
            <a:pPr indent="0" marL="0">
              <a:buNone/>
            </a:pPr>
            <a:r>
              <a:rPr lang="en-US" sz="3200" b="1" dirty="0">
                <a:solidFill>
                  <a:srgbClr val="C75B2B"/>
                </a:solidFill>
                <a:latin typeface="Cambria" pitchFamily="34" charset="0"/>
                <a:ea typeface="Cambria" pitchFamily="34" charset="-122"/>
                <a:cs typeface="Cambria" pitchFamily="34" charset="-120"/>
              </a:rPr>
              <a:t>84</a:t>
            </a:r>
            <a:endParaRPr lang="en-US" sz="3200" dirty="0"/>
          </a:p>
        </p:txBody>
      </p:sp>
      <p:sp>
        <p:nvSpPr>
          <p:cNvPr id="11" name="Text 9"/>
          <p:cNvSpPr txBox="1"/>
          <p:nvPr/>
        </p:nvSpPr>
        <p:spPr>
          <a:xfrm>
            <a:off x="8092440" y="2377440"/>
            <a:ext cx="3108960" cy="548640"/>
          </a:xfrm>
          <a:prstGeom prst="rect">
            <a:avLst/>
          </a:prstGeom>
          <a:noFill/>
          <a:ln/>
        </p:spPr>
        <p:txBody>
          <a:bodyPr wrap="square" lIns="0" tIns="0" rIns="0" bIns="0" rtlCol="0" anchor="t"/>
          <a:lstStyle/>
          <a:p>
            <a:pPr indent="0" marL="0">
              <a:lnSpc>
                <a:spcPts val="1400"/>
              </a:lnSpc>
              <a:buNone/>
            </a:pPr>
            <a:r>
              <a:rPr lang="en-US" sz="1100" dirty="0">
                <a:solidFill>
                  <a:srgbClr val="5A6661"/>
                </a:solidFill>
                <a:latin typeface="Calibri" pitchFamily="34" charset="0"/>
                <a:ea typeface="Calibri" pitchFamily="34" charset="-122"/>
                <a:cs typeface="Calibri" pitchFamily="34" charset="-120"/>
              </a:rPr>
              <a:t>familias es el punto de equilibrio del modelo de suscripción más despacho</a:t>
            </a:r>
            <a:endParaRPr lang="en-US" sz="1100" dirty="0"/>
          </a:p>
        </p:txBody>
      </p:sp>
      <p:sp>
        <p:nvSpPr>
          <p:cNvPr id="12" name="Shape 10"/>
          <p:cNvSpPr/>
          <p:nvPr/>
        </p:nvSpPr>
        <p:spPr>
          <a:xfrm>
            <a:off x="7818120" y="3172968"/>
            <a:ext cx="3611880" cy="1280160"/>
          </a:xfrm>
          <a:prstGeom prst="roundRect">
            <a:avLst>
              <a:gd name="adj" fmla="val 4286"/>
            </a:avLst>
          </a:prstGeom>
          <a:solidFill>
            <a:srgbClr val="F7F9F8"/>
          </a:solidFill>
          <a:ln w="12700">
            <a:solidFill>
              <a:srgbClr val="F7F9F8"/>
            </a:solidFill>
            <a:prstDash val="solid"/>
          </a:ln>
          <a:effectLst>
            <a:outerShdw sx="100000" sy="100000" kx="0" ky="0" algn="bl" rotWithShape="0" blurRad="127000" dist="25400" dir="5400000">
              <a:srgbClr val="1F3A34">
                <a:alpha val="10000"/>
              </a:srgbClr>
            </a:outerShdw>
          </a:effectLst>
        </p:spPr>
      </p:sp>
      <p:sp>
        <p:nvSpPr>
          <p:cNvPr id="13" name="Text 11"/>
          <p:cNvSpPr txBox="1"/>
          <p:nvPr/>
        </p:nvSpPr>
        <p:spPr>
          <a:xfrm>
            <a:off x="8092440" y="3300984"/>
            <a:ext cx="3108960" cy="502920"/>
          </a:xfrm>
          <a:prstGeom prst="rect">
            <a:avLst/>
          </a:prstGeom>
          <a:noFill/>
          <a:ln/>
        </p:spPr>
        <p:txBody>
          <a:bodyPr wrap="square" lIns="0" tIns="0" rIns="0" bIns="0" rtlCol="0" anchor="ctr"/>
          <a:lstStyle/>
          <a:p>
            <a:pPr indent="0" marL="0">
              <a:buNone/>
            </a:pPr>
            <a:r>
              <a:rPr lang="en-US" sz="2600" b="1" dirty="0">
                <a:solidFill>
                  <a:srgbClr val="6E9C8C"/>
                </a:solidFill>
                <a:latin typeface="Cambria" pitchFamily="34" charset="0"/>
                <a:ea typeface="Cambria" pitchFamily="34" charset="-122"/>
                <a:cs typeface="Cambria" pitchFamily="34" charset="-120"/>
              </a:rPr>
              <a:t>$70.000</a:t>
            </a:r>
            <a:endParaRPr lang="en-US" sz="2600" dirty="0"/>
          </a:p>
        </p:txBody>
      </p:sp>
      <p:sp>
        <p:nvSpPr>
          <p:cNvPr id="14" name="Text 12"/>
          <p:cNvSpPr txBox="1"/>
          <p:nvPr/>
        </p:nvSpPr>
        <p:spPr>
          <a:xfrm>
            <a:off x="8092440" y="3813048"/>
            <a:ext cx="3108960" cy="548640"/>
          </a:xfrm>
          <a:prstGeom prst="rect">
            <a:avLst/>
          </a:prstGeom>
          <a:noFill/>
          <a:ln/>
        </p:spPr>
        <p:txBody>
          <a:bodyPr wrap="square" lIns="0" tIns="0" rIns="0" bIns="0" rtlCol="0" anchor="t"/>
          <a:lstStyle/>
          <a:p>
            <a:pPr indent="0" marL="0">
              <a:lnSpc>
                <a:spcPts val="1400"/>
              </a:lnSpc>
              <a:buNone/>
            </a:pPr>
            <a:r>
              <a:rPr lang="en-US" sz="1100" dirty="0">
                <a:solidFill>
                  <a:srgbClr val="5A6661"/>
                </a:solidFill>
                <a:latin typeface="Calibri" pitchFamily="34" charset="0"/>
                <a:ea typeface="Calibri" pitchFamily="34" charset="-122"/>
                <a:cs typeface="Calibri" pitchFamily="34" charset="-120"/>
              </a:rPr>
              <a:t>es la canasta mensual medida en terreno, mediana de nueve familias</a:t>
            </a:r>
            <a:endParaRPr lang="en-US" sz="1100" dirty="0"/>
          </a:p>
        </p:txBody>
      </p:sp>
      <p:sp>
        <p:nvSpPr>
          <p:cNvPr id="15" name="Shape 13"/>
          <p:cNvSpPr/>
          <p:nvPr/>
        </p:nvSpPr>
        <p:spPr>
          <a:xfrm>
            <a:off x="7818120" y="4608576"/>
            <a:ext cx="3611880" cy="1280160"/>
          </a:xfrm>
          <a:prstGeom prst="roundRect">
            <a:avLst>
              <a:gd name="adj" fmla="val 4286"/>
            </a:avLst>
          </a:prstGeom>
          <a:solidFill>
            <a:srgbClr val="F7F9F8"/>
          </a:solidFill>
          <a:ln w="12700">
            <a:solidFill>
              <a:srgbClr val="F7F9F8"/>
            </a:solidFill>
            <a:prstDash val="solid"/>
          </a:ln>
          <a:effectLst>
            <a:outerShdw sx="100000" sy="100000" kx="0" ky="0" algn="bl" rotWithShape="0" blurRad="127000" dist="25400" dir="5400000">
              <a:srgbClr val="1F3A34">
                <a:alpha val="10000"/>
              </a:srgbClr>
            </a:outerShdw>
          </a:effectLst>
        </p:spPr>
      </p:sp>
      <p:sp>
        <p:nvSpPr>
          <p:cNvPr id="16" name="Text 14"/>
          <p:cNvSpPr txBox="1"/>
          <p:nvPr/>
        </p:nvSpPr>
        <p:spPr>
          <a:xfrm>
            <a:off x="8092440" y="4736592"/>
            <a:ext cx="3108960" cy="502920"/>
          </a:xfrm>
          <a:prstGeom prst="rect">
            <a:avLst/>
          </a:prstGeom>
          <a:noFill/>
          <a:ln/>
        </p:spPr>
        <p:txBody>
          <a:bodyPr wrap="square" lIns="0" tIns="0" rIns="0" bIns="0" rtlCol="0" anchor="ctr"/>
          <a:lstStyle/>
          <a:p>
            <a:pPr indent="0" marL="0">
              <a:buNone/>
            </a:pPr>
            <a:r>
              <a:rPr lang="en-US" sz="2600" b="1" dirty="0">
                <a:solidFill>
                  <a:srgbClr val="1F3A34"/>
                </a:solidFill>
                <a:latin typeface="Cambria" pitchFamily="34" charset="0"/>
                <a:ea typeface="Cambria" pitchFamily="34" charset="-122"/>
                <a:cs typeface="Cambria" pitchFamily="34" charset="-120"/>
              </a:rPr>
              <a:t>6 de 10</a:t>
            </a:r>
            <a:endParaRPr lang="en-US" sz="2600" dirty="0"/>
          </a:p>
        </p:txBody>
      </p:sp>
      <p:sp>
        <p:nvSpPr>
          <p:cNvPr id="17" name="Text 15"/>
          <p:cNvSpPr txBox="1"/>
          <p:nvPr/>
        </p:nvSpPr>
        <p:spPr>
          <a:xfrm>
            <a:off x="8092440" y="5248656"/>
            <a:ext cx="3108960" cy="548640"/>
          </a:xfrm>
          <a:prstGeom prst="rect">
            <a:avLst/>
          </a:prstGeom>
          <a:noFill/>
          <a:ln/>
        </p:spPr>
        <p:txBody>
          <a:bodyPr wrap="square" lIns="0" tIns="0" rIns="0" bIns="0" rtlCol="0" anchor="t"/>
          <a:lstStyle/>
          <a:p>
            <a:pPr indent="0" marL="0">
              <a:lnSpc>
                <a:spcPts val="1400"/>
              </a:lnSpc>
              <a:buNone/>
            </a:pPr>
            <a:r>
              <a:rPr lang="en-US" sz="1100" dirty="0">
                <a:solidFill>
                  <a:srgbClr val="5A6661"/>
                </a:solidFill>
                <a:latin typeface="Calibri" pitchFamily="34" charset="0"/>
                <a:ea typeface="Calibri" pitchFamily="34" charset="-122"/>
                <a:cs typeface="Calibri" pitchFamily="34" charset="-120"/>
              </a:rPr>
              <a:t>ya pagan hoy por algún servicio que hace el cuidado más llevadero</a:t>
            </a:r>
            <a:endParaRPr lang="en-US" sz="1100" dirty="0"/>
          </a:p>
        </p:txBody>
      </p:sp>
      <p:sp>
        <p:nvSpPr>
          <p:cNvPr id="18" name="Text 16"/>
          <p:cNvSpPr txBox="1"/>
          <p:nvPr/>
        </p:nvSpPr>
        <p:spPr>
          <a:xfrm>
            <a:off x="7818120" y="5989320"/>
            <a:ext cx="3611880" cy="502920"/>
          </a:xfrm>
          <a:prstGeom prst="rect">
            <a:avLst/>
          </a:prstGeom>
          <a:noFill/>
          <a:ln/>
        </p:spPr>
        <p:txBody>
          <a:bodyPr wrap="square" lIns="0" tIns="0" rIns="0" bIns="0" rtlCol="0" anchor="ctr"/>
          <a:lstStyle/>
          <a:p>
            <a:pPr indent="0" marL="0">
              <a:lnSpc>
                <a:spcPts val="1300"/>
              </a:lnSpc>
              <a:buNone/>
            </a:pPr>
            <a:r>
              <a:rPr lang="en-US" sz="1050" i="1" dirty="0">
                <a:solidFill>
                  <a:srgbClr val="5A6661"/>
                </a:solidFill>
                <a:latin typeface="Calibri" pitchFamily="34" charset="0"/>
                <a:ea typeface="Calibri" pitchFamily="34" charset="-122"/>
                <a:cs typeface="Calibri" pitchFamily="34" charset="-120"/>
              </a:rPr>
              <a:t>La cifra anterior era 126 familias mal calculada. La corregimos con los datos de las entrevistas.</a:t>
            </a:r>
            <a:endParaRPr lang="en-US" sz="1050" dirty="0"/>
          </a:p>
        </p:txBody>
      </p:sp>
      <p:sp>
        <p:nvSpPr>
          <p:cNvPr id="19" name="Text 17"/>
          <p:cNvSpPr txBox="1"/>
          <p:nvPr/>
        </p:nvSpPr>
        <p:spPr>
          <a:xfrm>
            <a:off x="731520" y="6309360"/>
            <a:ext cx="10698480" cy="274320"/>
          </a:xfrm>
          <a:prstGeom prst="rect">
            <a:avLst/>
          </a:prstGeom>
          <a:noFill/>
          <a:ln/>
        </p:spPr>
        <p:txBody>
          <a:bodyPr wrap="square" lIns="0" tIns="0" rIns="0" bIns="0" rtlCol="0" anchor="ctr"/>
          <a:lstStyle/>
          <a:p>
            <a:pPr indent="0" marL="0">
              <a:buNone/>
            </a:pPr>
            <a:r>
              <a:rPr lang="en-US" sz="1000" dirty="0">
                <a:solidFill>
                  <a:srgbClr val="5A6661"/>
                </a:solidFill>
                <a:latin typeface="Calibri" pitchFamily="34" charset="0"/>
                <a:ea typeface="Calibri" pitchFamily="34" charset="-122"/>
                <a:cs typeface="Calibri" pitchFamily="34" charset="-120"/>
              </a:rPr>
              <a:t>Martín  ·  40 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A34"/>
        </a:solidFill>
      </p:bgPr>
    </p:bg>
    <p:spTree>
      <p:nvGrpSpPr>
        <p:cNvPr id="1" name=""/>
        <p:cNvGrpSpPr/>
        <p:nvPr/>
      </p:nvGrpSpPr>
      <p:grpSpPr>
        <a:xfrm>
          <a:off x="0" y="0"/>
          <a:ext cx="0" cy="0"/>
          <a:chOff x="0" y="0"/>
          <a:chExt cx="0" cy="0"/>
        </a:xfrm>
      </p:grpSpPr>
      <p:sp>
        <p:nvSpPr>
          <p:cNvPr id="2" name="Text 0"/>
          <p:cNvSpPr txBox="1"/>
          <p:nvPr/>
        </p:nvSpPr>
        <p:spPr>
          <a:xfrm>
            <a:off x="731520" y="438912"/>
            <a:ext cx="10698480" cy="274320"/>
          </a:xfrm>
          <a:prstGeom prst="rect">
            <a:avLst/>
          </a:prstGeom>
          <a:noFill/>
          <a:ln/>
        </p:spPr>
        <p:txBody>
          <a:bodyPr wrap="square" lIns="0" tIns="0" rIns="0" bIns="0" rtlCol="0" anchor="ctr"/>
          <a:lstStyle/>
          <a:p>
            <a:pPr indent="0" marL="0">
              <a:buNone/>
            </a:pPr>
            <a:r>
              <a:rPr lang="en-US" sz="1100" b="1" spc="220" kern="0" dirty="0">
                <a:solidFill>
                  <a:srgbClr val="E89B6C"/>
                </a:solidFill>
                <a:latin typeface="Calibri" pitchFamily="34" charset="0"/>
                <a:ea typeface="Calibri" pitchFamily="34" charset="-122"/>
                <a:cs typeface="Calibri" pitchFamily="34" charset="-120"/>
              </a:rPr>
              <a:t>CIERRE</a:t>
            </a:r>
            <a:endParaRPr lang="en-US" sz="1100" dirty="0"/>
          </a:p>
        </p:txBody>
      </p:sp>
      <p:sp>
        <p:nvSpPr>
          <p:cNvPr id="3" name="Text 1"/>
          <p:cNvSpPr txBox="1"/>
          <p:nvPr/>
        </p:nvSpPr>
        <p:spPr>
          <a:xfrm>
            <a:off x="731520" y="749808"/>
            <a:ext cx="10698480" cy="868680"/>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Qué vamos a demostrar, y qué todavía no tenemos</a:t>
            </a:r>
            <a:endParaRPr lang="en-US" sz="2900" dirty="0"/>
          </a:p>
        </p:txBody>
      </p:sp>
      <p:sp>
        <p:nvSpPr>
          <p:cNvPr id="4" name="Shape 2"/>
          <p:cNvSpPr/>
          <p:nvPr/>
        </p:nvSpPr>
        <p:spPr>
          <a:xfrm>
            <a:off x="822960" y="1691640"/>
            <a:ext cx="5120640" cy="914400"/>
          </a:xfrm>
          <a:prstGeom prst="roundRect">
            <a:avLst>
              <a:gd name="adj" fmla="val 5000"/>
            </a:avLst>
          </a:prstGeom>
          <a:solidFill>
            <a:srgbClr val="25433C"/>
          </a:solidFill>
          <a:ln w="12700">
            <a:solidFill>
              <a:srgbClr val="25433C"/>
            </a:solidFill>
            <a:prstDash val="solid"/>
          </a:ln>
        </p:spPr>
      </p:sp>
      <p:sp>
        <p:nvSpPr>
          <p:cNvPr id="5" name="Shape 3"/>
          <p:cNvSpPr/>
          <p:nvPr/>
        </p:nvSpPr>
        <p:spPr>
          <a:xfrm>
            <a:off x="1078992" y="1947672"/>
            <a:ext cx="402336" cy="402336"/>
          </a:xfrm>
          <a:prstGeom prst="ellipse">
            <a:avLst/>
          </a:prstGeom>
          <a:solidFill>
            <a:srgbClr val="C75B2B"/>
          </a:solidFill>
          <a:ln w="12700">
            <a:solidFill>
              <a:srgbClr val="C75B2B"/>
            </a:solidFill>
            <a:prstDash val="solid"/>
          </a:ln>
        </p:spPr>
      </p:sp>
      <p:sp>
        <p:nvSpPr>
          <p:cNvPr id="6" name="Text 4"/>
          <p:cNvSpPr txBox="1"/>
          <p:nvPr/>
        </p:nvSpPr>
        <p:spPr>
          <a:xfrm>
            <a:off x="1078992" y="19476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609344" y="1819656"/>
            <a:ext cx="411480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Informe de validación</a:t>
            </a:r>
            <a:endParaRPr lang="en-US" sz="1400" dirty="0"/>
          </a:p>
        </p:txBody>
      </p:sp>
      <p:sp>
        <p:nvSpPr>
          <p:cNvPr id="8" name="Text 6"/>
          <p:cNvSpPr txBox="1"/>
          <p:nvPr/>
        </p:nvSpPr>
        <p:spPr>
          <a:xfrm>
            <a:off x="1609344" y="2130552"/>
            <a:ext cx="4114800" cy="411480"/>
          </a:xfrm>
          <a:prstGeom prst="rect">
            <a:avLst/>
          </a:prstGeom>
          <a:noFill/>
          <a:ln/>
        </p:spPr>
        <p:txBody>
          <a:bodyPr wrap="square" lIns="0" tIns="0" rIns="0" bIns="0" rtlCol="0" anchor="ctr"/>
          <a:lstStyle/>
          <a:p>
            <a:pPr indent="0" marL="0">
              <a:lnSpc>
                <a:spcPts val="1400"/>
              </a:lnSpc>
              <a:buNone/>
            </a:pPr>
            <a:r>
              <a:rPr lang="en-US" sz="1150" dirty="0">
                <a:solidFill>
                  <a:srgbClr val="8FB3A6"/>
                </a:solidFill>
                <a:latin typeface="Calibri" pitchFamily="34" charset="0"/>
                <a:ea typeface="Calibri" pitchFamily="34" charset="-122"/>
                <a:cs typeface="Calibri" pitchFamily="34" charset="-120"/>
              </a:rPr>
              <a:t>Diez entrevistas, veredicto por hipótesis y cuatro entrevistas de ampliación</a:t>
            </a:r>
            <a:endParaRPr lang="en-US" sz="1150" dirty="0"/>
          </a:p>
        </p:txBody>
      </p:sp>
      <p:sp>
        <p:nvSpPr>
          <p:cNvPr id="9" name="Shape 7"/>
          <p:cNvSpPr/>
          <p:nvPr/>
        </p:nvSpPr>
        <p:spPr>
          <a:xfrm>
            <a:off x="6263640" y="1691640"/>
            <a:ext cx="5120640" cy="914400"/>
          </a:xfrm>
          <a:prstGeom prst="roundRect">
            <a:avLst>
              <a:gd name="adj" fmla="val 5000"/>
            </a:avLst>
          </a:prstGeom>
          <a:solidFill>
            <a:srgbClr val="25433C"/>
          </a:solidFill>
          <a:ln w="12700">
            <a:solidFill>
              <a:srgbClr val="25433C"/>
            </a:solidFill>
            <a:prstDash val="solid"/>
          </a:ln>
        </p:spPr>
      </p:sp>
      <p:sp>
        <p:nvSpPr>
          <p:cNvPr id="10" name="Shape 8"/>
          <p:cNvSpPr/>
          <p:nvPr/>
        </p:nvSpPr>
        <p:spPr>
          <a:xfrm>
            <a:off x="6519672" y="1947672"/>
            <a:ext cx="402336" cy="402336"/>
          </a:xfrm>
          <a:prstGeom prst="ellipse">
            <a:avLst/>
          </a:prstGeom>
          <a:solidFill>
            <a:srgbClr val="C75B2B"/>
          </a:solidFill>
          <a:ln w="12700">
            <a:solidFill>
              <a:srgbClr val="C75B2B"/>
            </a:solidFill>
            <a:prstDash val="solid"/>
          </a:ln>
        </p:spPr>
      </p:sp>
      <p:sp>
        <p:nvSpPr>
          <p:cNvPr id="11" name="Text 9"/>
          <p:cNvSpPr txBox="1"/>
          <p:nvPr/>
        </p:nvSpPr>
        <p:spPr>
          <a:xfrm>
            <a:off x="6519672" y="19476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50024" y="1819656"/>
            <a:ext cx="411480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Modelo de datos con aislamiento</a:t>
            </a:r>
            <a:endParaRPr lang="en-US" sz="1400" dirty="0"/>
          </a:p>
        </p:txBody>
      </p:sp>
      <p:sp>
        <p:nvSpPr>
          <p:cNvPr id="13" name="Text 11"/>
          <p:cNvSpPr txBox="1"/>
          <p:nvPr/>
        </p:nvSpPr>
        <p:spPr>
          <a:xfrm>
            <a:off x="7050024" y="2130552"/>
            <a:ext cx="4114800" cy="411480"/>
          </a:xfrm>
          <a:prstGeom prst="rect">
            <a:avLst/>
          </a:prstGeom>
          <a:noFill/>
          <a:ln/>
        </p:spPr>
        <p:txBody>
          <a:bodyPr wrap="square" lIns="0" tIns="0" rIns="0" bIns="0" rtlCol="0" anchor="ctr"/>
          <a:lstStyle/>
          <a:p>
            <a:pPr indent="0" marL="0">
              <a:lnSpc>
                <a:spcPts val="1400"/>
              </a:lnSpc>
              <a:buNone/>
            </a:pPr>
            <a:r>
              <a:rPr lang="en-US" sz="1150" dirty="0">
                <a:solidFill>
                  <a:srgbClr val="8FB3A6"/>
                </a:solidFill>
                <a:latin typeface="Calibri" pitchFamily="34" charset="0"/>
                <a:ea typeface="Calibri" pitchFamily="34" charset="-122"/>
                <a:cs typeface="Calibri" pitchFamily="34" charset="-120"/>
              </a:rPr>
              <a:t>Verificado por diez pruebas contra una base de datos real</a:t>
            </a:r>
            <a:endParaRPr lang="en-US" sz="1150" dirty="0"/>
          </a:p>
        </p:txBody>
      </p:sp>
      <p:sp>
        <p:nvSpPr>
          <p:cNvPr id="14" name="Shape 12"/>
          <p:cNvSpPr/>
          <p:nvPr/>
        </p:nvSpPr>
        <p:spPr>
          <a:xfrm>
            <a:off x="822960" y="2697480"/>
            <a:ext cx="5120640" cy="914400"/>
          </a:xfrm>
          <a:prstGeom prst="roundRect">
            <a:avLst>
              <a:gd name="adj" fmla="val 5000"/>
            </a:avLst>
          </a:prstGeom>
          <a:solidFill>
            <a:srgbClr val="25433C"/>
          </a:solidFill>
          <a:ln w="12700">
            <a:solidFill>
              <a:srgbClr val="25433C"/>
            </a:solidFill>
            <a:prstDash val="solid"/>
          </a:ln>
        </p:spPr>
      </p:sp>
      <p:sp>
        <p:nvSpPr>
          <p:cNvPr id="15" name="Shape 13"/>
          <p:cNvSpPr/>
          <p:nvPr/>
        </p:nvSpPr>
        <p:spPr>
          <a:xfrm>
            <a:off x="1078992" y="2953512"/>
            <a:ext cx="402336" cy="402336"/>
          </a:xfrm>
          <a:prstGeom prst="ellipse">
            <a:avLst/>
          </a:prstGeom>
          <a:solidFill>
            <a:srgbClr val="C75B2B"/>
          </a:solidFill>
          <a:ln w="12700">
            <a:solidFill>
              <a:srgbClr val="C75B2B"/>
            </a:solidFill>
            <a:prstDash val="solid"/>
          </a:ln>
        </p:spPr>
      </p:sp>
      <p:sp>
        <p:nvSpPr>
          <p:cNvPr id="16" name="Text 14"/>
          <p:cNvSpPr txBox="1"/>
          <p:nvPr/>
        </p:nvSpPr>
        <p:spPr>
          <a:xfrm>
            <a:off x="1078992" y="2953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609344" y="2825496"/>
            <a:ext cx="411480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Producto de la capa 1</a:t>
            </a:r>
            <a:endParaRPr lang="en-US" sz="1400" dirty="0"/>
          </a:p>
        </p:txBody>
      </p:sp>
      <p:sp>
        <p:nvSpPr>
          <p:cNvPr id="18" name="Text 16"/>
          <p:cNvSpPr txBox="1"/>
          <p:nvPr/>
        </p:nvSpPr>
        <p:spPr>
          <a:xfrm>
            <a:off x="1609344" y="3136392"/>
            <a:ext cx="4114800" cy="411480"/>
          </a:xfrm>
          <a:prstGeom prst="rect">
            <a:avLst/>
          </a:prstGeom>
          <a:noFill/>
          <a:ln/>
        </p:spPr>
        <p:txBody>
          <a:bodyPr wrap="square" lIns="0" tIns="0" rIns="0" bIns="0" rtlCol="0" anchor="ctr"/>
          <a:lstStyle/>
          <a:p>
            <a:pPr indent="0" marL="0">
              <a:lnSpc>
                <a:spcPts val="1400"/>
              </a:lnSpc>
              <a:buNone/>
            </a:pPr>
            <a:r>
              <a:rPr lang="en-US" sz="1150" dirty="0">
                <a:solidFill>
                  <a:srgbClr val="8FB3A6"/>
                </a:solidFill>
                <a:latin typeface="Calibri" pitchFamily="34" charset="0"/>
                <a:ea typeface="Calibri" pitchFamily="34" charset="-122"/>
                <a:cs typeface="Calibri" pitchFamily="34" charset="-120"/>
              </a:rPr>
              <a:t>Ficha de relevo, permiso revocable y auditoría, funcionando de punta a punta</a:t>
            </a:r>
            <a:endParaRPr lang="en-US" sz="1150" dirty="0"/>
          </a:p>
        </p:txBody>
      </p:sp>
      <p:sp>
        <p:nvSpPr>
          <p:cNvPr id="19" name="Shape 17"/>
          <p:cNvSpPr/>
          <p:nvPr/>
        </p:nvSpPr>
        <p:spPr>
          <a:xfrm>
            <a:off x="6263640" y="2697480"/>
            <a:ext cx="5120640" cy="914400"/>
          </a:xfrm>
          <a:prstGeom prst="roundRect">
            <a:avLst>
              <a:gd name="adj" fmla="val 5000"/>
            </a:avLst>
          </a:prstGeom>
          <a:solidFill>
            <a:srgbClr val="25433C"/>
          </a:solidFill>
          <a:ln w="12700">
            <a:solidFill>
              <a:srgbClr val="25433C"/>
            </a:solidFill>
            <a:prstDash val="solid"/>
          </a:ln>
        </p:spPr>
      </p:sp>
      <p:sp>
        <p:nvSpPr>
          <p:cNvPr id="20" name="Shape 18"/>
          <p:cNvSpPr/>
          <p:nvPr/>
        </p:nvSpPr>
        <p:spPr>
          <a:xfrm>
            <a:off x="6519672" y="2953512"/>
            <a:ext cx="402336" cy="402336"/>
          </a:xfrm>
          <a:prstGeom prst="ellipse">
            <a:avLst/>
          </a:prstGeom>
          <a:solidFill>
            <a:srgbClr val="C75B2B"/>
          </a:solidFill>
          <a:ln w="12700">
            <a:solidFill>
              <a:srgbClr val="C75B2B"/>
            </a:solidFill>
            <a:prstDash val="solid"/>
          </a:ln>
        </p:spPr>
      </p:sp>
      <p:sp>
        <p:nvSpPr>
          <p:cNvPr id="21" name="Text 19"/>
          <p:cNvSpPr txBox="1"/>
          <p:nvPr/>
        </p:nvSpPr>
        <p:spPr>
          <a:xfrm>
            <a:off x="6519672" y="2953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50024" y="2825496"/>
            <a:ext cx="411480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Sistema desplegado</a:t>
            </a:r>
            <a:endParaRPr lang="en-US" sz="1400" dirty="0"/>
          </a:p>
        </p:txBody>
      </p:sp>
      <p:sp>
        <p:nvSpPr>
          <p:cNvPr id="23" name="Text 21"/>
          <p:cNvSpPr txBox="1"/>
          <p:nvPr/>
        </p:nvSpPr>
        <p:spPr>
          <a:xfrm>
            <a:off x="7050024" y="3136392"/>
            <a:ext cx="4114800" cy="411480"/>
          </a:xfrm>
          <a:prstGeom prst="rect">
            <a:avLst/>
          </a:prstGeom>
          <a:noFill/>
          <a:ln/>
        </p:spPr>
        <p:txBody>
          <a:bodyPr wrap="square" lIns="0" tIns="0" rIns="0" bIns="0" rtlCol="0" anchor="ctr"/>
          <a:lstStyle/>
          <a:p>
            <a:pPr indent="0" marL="0">
              <a:lnSpc>
                <a:spcPts val="1400"/>
              </a:lnSpc>
              <a:buNone/>
            </a:pPr>
            <a:r>
              <a:rPr lang="en-US" sz="1150" dirty="0">
                <a:solidFill>
                  <a:srgbClr val="8FB3A6"/>
                </a:solidFill>
                <a:latin typeface="Calibri" pitchFamily="34" charset="0"/>
                <a:ea typeface="Calibri" pitchFamily="34" charset="-122"/>
                <a:cs typeface="Calibri" pitchFamily="34" charset="-120"/>
              </a:rPr>
              <a:t>Móvil, vista de comercio y backoffice en un entorno de demostración</a:t>
            </a:r>
            <a:endParaRPr lang="en-US" sz="1150" dirty="0"/>
          </a:p>
        </p:txBody>
      </p:sp>
      <p:sp>
        <p:nvSpPr>
          <p:cNvPr id="24" name="Shape 22"/>
          <p:cNvSpPr/>
          <p:nvPr/>
        </p:nvSpPr>
        <p:spPr>
          <a:xfrm>
            <a:off x="822960" y="3840480"/>
            <a:ext cx="10561320" cy="868680"/>
          </a:xfrm>
          <a:prstGeom prst="roundRect">
            <a:avLst>
              <a:gd name="adj" fmla="val 5263"/>
            </a:avLst>
          </a:prstGeom>
          <a:solidFill>
            <a:srgbClr val="16302B"/>
          </a:solidFill>
          <a:ln w="12700">
            <a:solidFill>
              <a:srgbClr val="25433C"/>
            </a:solidFill>
            <a:prstDash val="solid"/>
          </a:ln>
        </p:spPr>
      </p:sp>
      <p:sp>
        <p:nvSpPr>
          <p:cNvPr id="25" name="Text 23"/>
          <p:cNvSpPr txBox="1"/>
          <p:nvPr/>
        </p:nvSpPr>
        <p:spPr>
          <a:xfrm>
            <a:off x="1097280" y="3840480"/>
            <a:ext cx="10012680" cy="868680"/>
          </a:xfrm>
          <a:prstGeom prst="rect">
            <a:avLst/>
          </a:prstGeom>
          <a:noFill/>
          <a:ln/>
        </p:spPr>
        <p:txBody>
          <a:bodyPr wrap="square" lIns="0" tIns="0" rIns="0" bIns="0" rtlCol="0" anchor="ctr"/>
          <a:lstStyle/>
          <a:p>
            <a:pPr indent="0" marL="0">
              <a:lnSpc>
                <a:spcPts val="1700"/>
              </a:lnSpc>
              <a:buNone/>
            </a:pPr>
            <a:r>
              <a:rPr lang="en-US" sz="1250" b="1" dirty="0">
                <a:solidFill>
                  <a:srgbClr val="E89B6C"/>
                </a:solidFill>
                <a:latin typeface="Calibri" pitchFamily="34" charset="0"/>
                <a:ea typeface="Calibri" pitchFamily="34" charset="-122"/>
                <a:cs typeface="Calibri" pitchFamily="34" charset="-120"/>
              </a:rPr>
              <a:t>Lo que todavía no tenemos.  </a:t>
            </a:r>
            <a:pPr indent="0" marL="0">
              <a:lnSpc>
                <a:spcPts val="1700"/>
              </a:lnSpc>
              <a:buNone/>
            </a:pPr>
            <a:r>
              <a:rPr lang="en-US" sz="1250" dirty="0">
                <a:solidFill>
                  <a:srgbClr val="FFFFFF"/>
                </a:solidFill>
                <a:latin typeface="Calibri" pitchFamily="34" charset="0"/>
                <a:ea typeface="Calibri" pitchFamily="34" charset="-122"/>
                <a:cs typeface="Calibri" pitchFamily="34" charset="-120"/>
              </a:rPr>
              <a:t>Ningún comercio con convenio firmado, la pasarela sin probar contra el ambiente de integración y las cuatro entrevistas de la ampliación pendientes. Los tres se cierran en el sprint 0 y en la semana 9, y por eso van primero en el plan.</a:t>
            </a:r>
            <a:endParaRPr lang="en-US" sz="1250" dirty="0"/>
          </a:p>
        </p:txBody>
      </p:sp>
      <p:sp>
        <p:nvSpPr>
          <p:cNvPr id="26" name="Text 24"/>
          <p:cNvSpPr txBox="1"/>
          <p:nvPr/>
        </p:nvSpPr>
        <p:spPr>
          <a:xfrm>
            <a:off x="822960" y="4937760"/>
            <a:ext cx="10561320" cy="274320"/>
          </a:xfrm>
          <a:prstGeom prst="rect">
            <a:avLst/>
          </a:prstGeom>
          <a:noFill/>
          <a:ln/>
        </p:spPr>
        <p:txBody>
          <a:bodyPr wrap="square" lIns="0" tIns="0" rIns="0" bIns="0" rtlCol="0" anchor="ctr"/>
          <a:lstStyle/>
          <a:p>
            <a:pPr indent="0" marL="0">
              <a:buNone/>
            </a:pPr>
            <a:r>
              <a:rPr lang="en-US" sz="1100" b="1" spc="220" kern="0" dirty="0">
                <a:solidFill>
                  <a:srgbClr val="E89B6C"/>
                </a:solidFill>
                <a:latin typeface="Calibri" pitchFamily="34" charset="0"/>
                <a:ea typeface="Calibri" pitchFamily="34" charset="-122"/>
                <a:cs typeface="Calibri" pitchFamily="34" charset="-120"/>
              </a:rPr>
              <a:t>INTERESES PROFESIONALES</a:t>
            </a:r>
            <a:endParaRPr lang="en-US" sz="1100" dirty="0"/>
          </a:p>
        </p:txBody>
      </p:sp>
      <p:sp>
        <p:nvSpPr>
          <p:cNvPr id="27" name="Text 25"/>
          <p:cNvSpPr txBox="1"/>
          <p:nvPr/>
        </p:nvSpPr>
        <p:spPr>
          <a:xfrm>
            <a:off x="822960" y="5248656"/>
            <a:ext cx="1056132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Jorge.  </a:t>
            </a:r>
            <a:pPr indent="0" marL="0">
              <a:buNone/>
            </a:pPr>
            <a:r>
              <a:rPr lang="en-US" sz="1250" dirty="0">
                <a:solidFill>
                  <a:srgbClr val="8FB3A6"/>
                </a:solidFill>
                <a:latin typeface="Calibri" pitchFamily="34" charset="0"/>
                <a:ea typeface="Calibri" pitchFamily="34" charset="-122"/>
                <a:cs typeface="Calibri" pitchFamily="34" charset="-120"/>
              </a:rPr>
              <a:t>Vengo de nueve años de clínica y quiero dedicarme al diseño de productos de software para salud y cuidado, donde el requisito lo define el uso real.</a:t>
            </a:r>
            <a:endParaRPr lang="en-US" sz="1250" dirty="0"/>
          </a:p>
        </p:txBody>
      </p:sp>
      <p:sp>
        <p:nvSpPr>
          <p:cNvPr id="28" name="Text 26"/>
          <p:cNvSpPr txBox="1"/>
          <p:nvPr/>
        </p:nvSpPr>
        <p:spPr>
          <a:xfrm>
            <a:off x="822960" y="5632704"/>
            <a:ext cx="1056132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Martín.  </a:t>
            </a:r>
            <a:pPr indent="0" marL="0">
              <a:buNone/>
            </a:pPr>
            <a:r>
              <a:rPr lang="en-US" sz="1250" dirty="0">
                <a:solidFill>
                  <a:srgbClr val="8FB3A6"/>
                </a:solidFill>
                <a:latin typeface="Calibri" pitchFamily="34" charset="0"/>
                <a:ea typeface="Calibri" pitchFamily="34" charset="-122"/>
                <a:cs typeface="Calibri" pitchFamily="34" charset="-120"/>
              </a:rPr>
              <a:t>Me interesa la ingeniería de plataformas donde cruzan el dinero y el dato sensible, y ese es el eje que tomé en este proyecto.</a:t>
            </a:r>
            <a:endParaRPr lang="en-US" sz="1250" dirty="0"/>
          </a:p>
        </p:txBody>
      </p:sp>
      <p:sp>
        <p:nvSpPr>
          <p:cNvPr id="29" name="Text 27"/>
          <p:cNvSpPr txBox="1"/>
          <p:nvPr/>
        </p:nvSpPr>
        <p:spPr>
          <a:xfrm>
            <a:off x="822960" y="6089904"/>
            <a:ext cx="4572000" cy="457200"/>
          </a:xfrm>
          <a:prstGeom prst="rect">
            <a:avLst/>
          </a:prstGeom>
          <a:noFill/>
          <a:ln/>
        </p:spPr>
        <p:txBody>
          <a:bodyPr wrap="square" lIns="0" tIns="0" rIns="0" bIns="0" rtlCol="0" anchor="ctr"/>
          <a:lstStyle/>
          <a:p>
            <a:pPr indent="0" marL="0">
              <a:buNone/>
            </a:pPr>
            <a:r>
              <a:rPr lang="en-US" sz="2200" b="1" dirty="0">
                <a:solidFill>
                  <a:srgbClr val="E89B6C"/>
                </a:solidFill>
                <a:latin typeface="Cambria" pitchFamily="34" charset="0"/>
                <a:ea typeface="Cambria" pitchFamily="34" charset="-122"/>
                <a:cs typeface="Cambria" pitchFamily="34" charset="-120"/>
              </a:rPr>
              <a:t>Gracias.</a:t>
            </a:r>
            <a:endParaRPr lang="en-US" sz="2200" dirty="0"/>
          </a:p>
        </p:txBody>
      </p:sp>
      <p:sp>
        <p:nvSpPr>
          <p:cNvPr id="30" name="Text 28"/>
          <p:cNvSpPr txBox="1"/>
          <p:nvPr/>
        </p:nvSpPr>
        <p:spPr>
          <a:xfrm>
            <a:off x="6812280" y="6172200"/>
            <a:ext cx="4572000" cy="274320"/>
          </a:xfrm>
          <a:prstGeom prst="rect">
            <a:avLst/>
          </a:prstGeom>
          <a:noFill/>
          <a:ln/>
        </p:spPr>
        <p:txBody>
          <a:bodyPr wrap="square" lIns="0" tIns="0" rIns="0" bIns="0" rtlCol="0" anchor="ctr"/>
          <a:lstStyle/>
          <a:p>
            <a:pPr algn="r" indent="0" marL="0">
              <a:buNone/>
            </a:pPr>
            <a:r>
              <a:rPr lang="en-US" sz="1000" dirty="0">
                <a:solidFill>
                  <a:srgbClr val="6E9C8C"/>
                </a:solidFill>
                <a:latin typeface="Calibri" pitchFamily="34" charset="0"/>
                <a:ea typeface="Calibri" pitchFamily="34" charset="-122"/>
                <a:cs typeface="Calibri" pitchFamily="34" charset="-120"/>
              </a:rPr>
              <a:t>Jorge y Martín  ·  35 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MATU · Definicion de Proyecto APT · Fase 1</dc:title>
  <dc:subject>PptxGenJS Presentation</dc:subject>
  <dc:creator>Jorge Espinoza · Martin Henriquez</dc:creator>
  <cp:lastModifiedBy>Jorge Espinoza · Martin Henriquez</cp:lastModifiedBy>
  <cp:revision>1</cp:revision>
  <dcterms:created xsi:type="dcterms:W3CDTF">2026-09-15T02:38:22Z</dcterms:created>
  <dcterms:modified xsi:type="dcterms:W3CDTF">2026-09-15T02:38:22Z</dcterms:modified>
</cp:coreProperties>
</file>