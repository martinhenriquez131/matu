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jWYdGjCRGzN/TErJA93S3yQeH2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PORTADA · 15 s · Jorge.</a:t>
            </a:r>
            <a:br>
              <a:rPr lang="en-US"/>
            </a:br>
            <a:r>
              <a:rPr lang="en-US"/>
              <a:t>Buenos días. Somos Jorge Espinoza y Martín Henríquez. Nuestro proyecto se llama MATU y es un sistema de continuidad del cuidado para personas mayores con dependencia.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PROBLEMA · 35 s · Jorge.</a:t>
            </a:r>
            <a:br>
              <a:rPr lang="en-US"/>
            </a:br>
            <a:r>
              <a:rPr lang="en-US"/>
              <a:t>No es un nicho: un millón y medio de personas adultas viven en situación de dependencia. Y el cuidado lo sostienen familias que no reciben pago: 96 de cada 100 cuidadores del hogar no cobran nada, y la mayoría son mujeres. El dato que más nos importa es el tercero: cuatro de cada diez personas dependientes no tienen cuidador formal. No es que falte gente dispuesta. Es que no se puede traspasar el cuidado.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DIAGNÓSTICO · 30 s · Jorge.</a:t>
            </a:r>
            <a:br>
              <a:rPr lang="en-US"/>
            </a:br>
            <a:r>
              <a:rPr lang="en-US"/>
              <a:t>Quien cuida enfrenta dos problemas que parecen distintos. Uno es de continuidad: el conocimiento del cuidado no está escrito, vive en una sola cabeza. El otro es de abastecimiento: el consumo se lleva de memoria y se compra tarde. Son el mismo problema visto dos veces: el cuidado depende de una sola persona que no puede delegar ni ausentarse. Eso es lo que ataca MATU.</a:t>
            </a:r>
            <a:endParaRPr/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LA SOLUCIÓN · 55 s · Jorge.</a:t>
            </a:r>
            <a:br>
              <a:rPr lang="en-US"/>
            </a:br>
            <a:r>
              <a:rPr lang="en-US"/>
              <a:t>MATU tiene tres capas y el orden es lo que define al producto.</a:t>
            </a:r>
            <a:br>
              <a:rPr lang="en-US"/>
            </a:br>
            <a:r>
              <a:rPr lang="en-US"/>
              <a:t>La capa 1 es el plan de cuidado, y es el producto: convierte lo que sabe el cuidador en algo transferible, y con un enlace acotado un relevo puede tomar el turno.</a:t>
            </a:r>
            <a:br>
              <a:rPr lang="en-US"/>
            </a:br>
            <a:r>
              <a:rPr lang="en-US"/>
              <a:t>De ese mismo plan sale la capa 2: cuánto se consume de cada insumo, y con eso el sistema avisa antes del quiebre.</a:t>
            </a:r>
            <a:br>
              <a:rPr lang="en-US"/>
            </a:br>
            <a:r>
              <a:rPr lang="en-US"/>
              <a:t>La capa 3 es el despacho, y está desacoplada a propósito: si no conseguimos convenio con un comercio, la familia exporta su lista y compra donde quiera. El sistema sigue sirviendo.</a:t>
            </a:r>
            <a:br>
              <a:rPr lang="en-US"/>
            </a:br>
            <a:r>
              <a:rPr lang="en-US"/>
              <a:t>La frase de abajo es la tesis: la predicción existe porque existe el plan. MATU no es una aplicación de delivery.</a:t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INGENIERÍA · 40 s · Martín.</a:t>
            </a:r>
            <a:br>
              <a:rPr lang="en-US"/>
            </a:br>
            <a:r>
              <a:rPr lang="en-US"/>
              <a:t>Cuatro decisiones sostienen el diseño.</a:t>
            </a:r>
            <a:br>
              <a:rPr lang="en-US"/>
            </a:br>
            <a:r>
              <a:rPr lang="en-US"/>
              <a:t>Primera, el aislamiento: usamos Row Level Security forzado, de modo que una consulta sin contexto devuelve cero filas en vez de devolver todo.</a:t>
            </a:r>
            <a:br>
              <a:rPr lang="en-US"/>
            </a:br>
            <a:r>
              <a:rPr lang="en-US"/>
              <a:t>Segunda, el dato sensible va cifrado con una clave por persona cuidada, lo que permite borrarlo de verdad. Eso lo exige la Ley 21.719.</a:t>
            </a:r>
            <a:br>
              <a:rPr lang="en-US"/>
            </a:br>
            <a:r>
              <a:rPr lang="en-US"/>
              <a:t>Tercera, el pago dividido: ninguna pasarela chilena lo hace, así que lo orquestamos con autorización diferida y captura por el monto real.</a:t>
            </a:r>
            <a:br>
              <a:rPr lang="en-US"/>
            </a:br>
            <a:r>
              <a:rPr lang="en-US"/>
              <a:t>Y cuarta, el despacho es desacoplable, y hay una prueba automatizada que lo verifica.</a:t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METODOLOGÍA · 45 s · Martín.</a:t>
            </a:r>
            <a:br>
              <a:rPr lang="en-US"/>
            </a:br>
            <a:r>
              <a:rPr lang="en-US"/>
              <a:t>Trabajamos con Scrum en sprints de una semana. El reparto es por eje vertical y no por capa: el error clásico en un equipo de dos es que uno haga todo el backend y el otro todo el frontend, con lo cual el segundo siempre espera un endpoint. Cada uno es responsable de sus módulos de extremo a extremo.</a:t>
            </a:r>
            <a:br>
              <a:rPr lang="en-US"/>
            </a:br>
            <a:r>
              <a:rPr lang="en-US"/>
              <a:t>Jorge toma el eje de cuidado y consumo; yo tomo identidad, dinero y operación.</a:t>
            </a:r>
            <a:br>
              <a:rPr lang="en-US"/>
            </a:br>
            <a:r>
              <a:rPr lang="en-US"/>
              <a:t>Y declaramos la capacidad: quince horas por persona a la semana. El alcance estimado no cabía, así que recortamos cuarenta y una horas antes de empezar, no en la mitad del semestre.</a:t>
            </a:r>
            <a:endParaRPr/>
          </a:p>
        </p:txBody>
      </p:sp>
      <p:sp>
        <p:nvSpPr>
          <p:cNvPr id="129" name="Google Shape;1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PLAN · 40 s · Martín.</a:t>
            </a:r>
            <a:br>
              <a:rPr lang="en-US"/>
            </a:br>
            <a:r>
              <a:rPr lang="en-US"/>
              <a:t>Dieciocho semanas en tres fases. La primera es la que estamos cerrando: arquitectura, prototipo, y dos actividades de validación que son las que convierten esto de deseable en viable: diez entrevistas con cuidadores y la prueba de concepto contra Transbank.</a:t>
            </a:r>
            <a:br>
              <a:rPr lang="en-US"/>
            </a:br>
            <a:r>
              <a:rPr lang="en-US"/>
              <a:t>La fase 2 son los doce sprints de construcción, en el orden capa 1, capa 2, capa 3.</a:t>
            </a:r>
            <a:br>
              <a:rPr lang="en-US"/>
            </a:br>
            <a:r>
              <a:rPr lang="en-US"/>
              <a:t>Y lo importante del plan está abajo: el diferenciador se demuestra en el sprint 3, no al final. A un cuarto del semestre ya hay algo funcionando que mostrar.</a:t>
            </a:r>
            <a:endParaRPr/>
          </a:p>
        </p:txBody>
      </p:sp>
      <p:sp>
        <p:nvSpPr>
          <p:cNvPr id="149" name="Google Shape;14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CIERRE · 35 s · Martín, y Jorge cierra.</a:t>
            </a:r>
            <a:br>
              <a:rPr lang="en-US"/>
            </a:br>
            <a:r>
              <a:rPr lang="en-US"/>
              <a:t>Estas son las cuatro evidencias con las que vamos a dar cuenta del proyecto.</a:t>
            </a:r>
            <a:br>
              <a:rPr lang="en-US"/>
            </a:br>
            <a:r>
              <a:rPr lang="en-US"/>
              <a:t>Y queremos decir con todas sus letras lo que todavía no tenemos: no hemos hecho ninguna entrevista, no tenemos comercio comprometido y no hemos probado la pasarela. Los tres se cierran en la fase 1, y por eso están primeros en el plan y no al final.</a:t>
            </a:r>
            <a:br>
              <a:rPr lang="en-US"/>
            </a:br>
            <a:r>
              <a:rPr lang="en-US"/>
              <a:t>Gracias. Quedamos atentos a sus preguntas.</a:t>
            </a:r>
            <a:endParaRPr/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A34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8366760" y="187452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8FB3A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622792" y="274320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8878824" y="3611880"/>
            <a:ext cx="2834640" cy="685800"/>
          </a:xfrm>
          <a:prstGeom prst="roundRect">
            <a:avLst>
              <a:gd fmla="val 16000" name="adj"/>
            </a:avLst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 txBox="1"/>
          <p:nvPr/>
        </p:nvSpPr>
        <p:spPr>
          <a:xfrm>
            <a:off x="822960" y="196596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Cambria"/>
              <a:buNone/>
            </a:pPr>
            <a:r>
              <a:rPr b="1" i="0" lang="en-US" sz="9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MATU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 txBox="1"/>
          <p:nvPr/>
        </p:nvSpPr>
        <p:spPr>
          <a:xfrm>
            <a:off x="868680" y="3337560"/>
            <a:ext cx="7132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2105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Sistema de continuidad del cuidado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2105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900"/>
              <a:buFont typeface="Calibri"/>
              <a:buNone/>
            </a:pPr>
            <a:r>
              <a:rPr b="0" i="0" lang="en-US" sz="19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para personas mayores con dependencia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 txBox="1"/>
          <p:nvPr/>
        </p:nvSpPr>
        <p:spPr>
          <a:xfrm>
            <a:off x="868680" y="466344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Definición de Proyecto APT  ·  Fase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 txBox="1"/>
          <p:nvPr/>
        </p:nvSpPr>
        <p:spPr>
          <a:xfrm>
            <a:off x="868680" y="5029200"/>
            <a:ext cx="71323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Jorge Espinoza  ·  Martín Henríquez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 txBox="1"/>
          <p:nvPr/>
        </p:nvSpPr>
        <p:spPr>
          <a:xfrm>
            <a:off x="868680" y="5367528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Ingeniería en Informática  ·  Duoc UC, sede San Joaquín  ·  Capstone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EL PROBLEMA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En Chile el cuidado lo sostienen familias, sin pago y sin herramientas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7315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9875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2900"/>
              <a:buFont typeface="Cambria"/>
              <a:buNone/>
            </a:pPr>
            <a:r>
              <a:rPr b="1" i="0" lang="en-US" sz="29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1.498.977</a:t>
            </a:r>
            <a:endParaRPr b="0" i="0" sz="2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 txBox="1"/>
          <p:nvPr/>
        </p:nvSpPr>
        <p:spPr>
          <a:xfrm>
            <a:off x="9875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personas adultas viven en situación de dependencia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9875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9,8% de la población de 18 años y más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34747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37307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96,4%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 txBox="1"/>
          <p:nvPr/>
        </p:nvSpPr>
        <p:spPr>
          <a:xfrm>
            <a:off x="37307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de los cuidadores del hogar no recibe remuneración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 txBox="1"/>
          <p:nvPr/>
        </p:nvSpPr>
        <p:spPr>
          <a:xfrm>
            <a:off x="37307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el 69,9% son mujeres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62179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739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41,3%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 txBox="1"/>
          <p:nvPr/>
        </p:nvSpPr>
        <p:spPr>
          <a:xfrm>
            <a:off x="64739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de las personas dependientes no tiene cuidador formal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 txBox="1"/>
          <p:nvPr/>
        </p:nvSpPr>
        <p:spPr>
          <a:xfrm>
            <a:off x="64739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no falta gente: falta poder traspasar el cuidado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8961120" y="1965960"/>
            <a:ext cx="2468880" cy="2880360"/>
          </a:xfrm>
          <a:prstGeom prst="roundRect">
            <a:avLst>
              <a:gd fmla="val 3704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 txBox="1"/>
          <p:nvPr/>
        </p:nvSpPr>
        <p:spPr>
          <a:xfrm>
            <a:off x="9217152" y="2212848"/>
            <a:ext cx="19568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3700"/>
              <a:buFont typeface="Cambria"/>
              <a:buNone/>
            </a:pPr>
            <a:r>
              <a:rPr b="1" i="0" lang="en-US" sz="37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200.000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 txBox="1"/>
          <p:nvPr/>
        </p:nvSpPr>
        <p:spPr>
          <a:xfrm>
            <a:off x="9217152" y="3035808"/>
            <a:ext cx="1956816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personas con demencia en Chile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 txBox="1"/>
          <p:nvPr/>
        </p:nvSpPr>
        <p:spPr>
          <a:xfrm>
            <a:off x="9217152" y="4069080"/>
            <a:ext cx="1956816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36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cuarta causa de muerte en 2024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 txBox="1"/>
          <p:nvPr/>
        </p:nvSpPr>
        <p:spPr>
          <a:xfrm>
            <a:off x="731520" y="5120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ENDIDE 2022, Ministerio de Desarrollo Social y Familia  ·  Plan Nacional de Demencia 2025-2035, MINSAL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35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EL DIAGNÓSTICO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Dos problemas que parecen distintos y son el mismo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731520" y="1920240"/>
            <a:ext cx="5120640" cy="2697480"/>
          </a:xfrm>
          <a:prstGeom prst="roundRect">
            <a:avLst>
              <a:gd fmla="val 339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1051560" y="221284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3"/>
          <p:cNvSpPr txBox="1"/>
          <p:nvPr/>
        </p:nvSpPr>
        <p:spPr>
          <a:xfrm>
            <a:off x="1051560" y="22128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 txBox="1"/>
          <p:nvPr/>
        </p:nvSpPr>
        <p:spPr>
          <a:xfrm>
            <a:off x="1600200" y="2240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Continuidad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 txBox="1"/>
          <p:nvPr/>
        </p:nvSpPr>
        <p:spPr>
          <a:xfrm>
            <a:off x="1051560" y="2788920"/>
            <a:ext cx="4526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Cómo se cuida a alguien no está escrito en ninguna parte: vive en una sola cabeza.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3"/>
          <p:cNvSpPr txBox="1"/>
          <p:nvPr/>
        </p:nvSpPr>
        <p:spPr>
          <a:xfrm>
            <a:off x="1051560" y="3520440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Traspasarlo a un hermano o a quien cubra un fin de semana cuesta horas de explicación. En la práctica no se traspasa, y el cuidador principal no puede ausentarse.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6309360" y="1920240"/>
            <a:ext cx="5120640" cy="2697480"/>
          </a:xfrm>
          <a:prstGeom prst="roundRect">
            <a:avLst>
              <a:gd fmla="val 339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6629400" y="221284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 txBox="1"/>
          <p:nvPr/>
        </p:nvSpPr>
        <p:spPr>
          <a:xfrm>
            <a:off x="6629400" y="22128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3"/>
          <p:cNvSpPr txBox="1"/>
          <p:nvPr/>
        </p:nvSpPr>
        <p:spPr>
          <a:xfrm>
            <a:off x="7178040" y="2240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1F3A34"/>
                </a:solidFill>
                <a:latin typeface="Cambria"/>
                <a:ea typeface="Cambria"/>
                <a:cs typeface="Cambria"/>
                <a:sym typeface="Cambria"/>
              </a:rPr>
              <a:t>Abastecimiento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 txBox="1"/>
          <p:nvPr/>
        </p:nvSpPr>
        <p:spPr>
          <a:xfrm>
            <a:off x="6629400" y="2788920"/>
            <a:ext cx="4526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El consumo de insumos se lleva de memoria y cambia con el estado de la persona.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 txBox="1"/>
          <p:nvPr/>
        </p:nvSpPr>
        <p:spPr>
          <a:xfrm>
            <a:off x="6629400" y="3520440"/>
            <a:ext cx="4526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6153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Se compra cuando alguien nota que se está acabando. La salida de urgencia recae siempre en el mismo familiar, y el gasto se reparte de manera informal.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731520" y="4892040"/>
            <a:ext cx="10698480" cy="1005840"/>
          </a:xfrm>
          <a:prstGeom prst="roundRect">
            <a:avLst>
              <a:gd fmla="val 9091" name="adj"/>
            </a:avLst>
          </a:prstGeom>
          <a:solidFill>
            <a:srgbClr val="1821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3"/>
          <p:cNvSpPr txBox="1"/>
          <p:nvPr/>
        </p:nvSpPr>
        <p:spPr>
          <a:xfrm>
            <a:off x="1005840" y="5138928"/>
            <a:ext cx="101498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El cuidado depende de una sola persona que no puede delegar ni ausentarse.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30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LA SOLUCIÓN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Tres capas, y el orden importa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731520" y="1755648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4"/>
          <p:cNvSpPr/>
          <p:nvPr/>
        </p:nvSpPr>
        <p:spPr>
          <a:xfrm>
            <a:off x="1051560" y="2139696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4"/>
          <p:cNvSpPr txBox="1"/>
          <p:nvPr/>
        </p:nvSpPr>
        <p:spPr>
          <a:xfrm>
            <a:off x="1051560" y="21396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 txBox="1"/>
          <p:nvPr/>
        </p:nvSpPr>
        <p:spPr>
          <a:xfrm>
            <a:off x="1600200" y="1938528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1 · Plan de cuidado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1600200" y="228600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Es el producto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 txBox="1"/>
          <p:nvPr/>
        </p:nvSpPr>
        <p:spPr>
          <a:xfrm>
            <a:off x="5029200" y="1920240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Convierte lo que sabe quien cuida —rutina, horarios, qué hacer en una crisis— en algo escrito y transferible. Se comparte con un relevo por un enlace acotado, con vencimiento y auditoría.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731520" y="3072384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F7F9F8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1051560" y="3456432"/>
            <a:ext cx="384048" cy="384048"/>
          </a:xfrm>
          <a:prstGeom prst="ellipse">
            <a:avLst/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4"/>
          <p:cNvSpPr txBox="1"/>
          <p:nvPr/>
        </p:nvSpPr>
        <p:spPr>
          <a:xfrm>
            <a:off x="1051560" y="3456432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4"/>
          <p:cNvSpPr txBox="1"/>
          <p:nvPr/>
        </p:nvSpPr>
        <p:spPr>
          <a:xfrm>
            <a:off x="1600200" y="3255264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2 · Consumo y predicción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4"/>
          <p:cNvSpPr txBox="1"/>
          <p:nvPr/>
        </p:nvSpPr>
        <p:spPr>
          <a:xfrm>
            <a:off x="1600200" y="36027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9C8C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6E9C8C"/>
                </a:solidFill>
                <a:latin typeface="Calibri"/>
                <a:ea typeface="Calibri"/>
                <a:cs typeface="Calibri"/>
                <a:sym typeface="Calibri"/>
              </a:rPr>
              <a:t>Es el diferenciador computable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5029200" y="3236976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Del mismo plan se declara el consumo de cada insumo. El sistema anticipa la fecha de quiebre y arma la lista de reposición antes de que algo se acabe.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731520" y="4389120"/>
            <a:ext cx="10698480" cy="1152144"/>
          </a:xfrm>
          <a:prstGeom prst="roundRect">
            <a:avLst>
              <a:gd fmla="val 7937" name="adj"/>
            </a:avLst>
          </a:prstGeom>
          <a:solidFill>
            <a:srgbClr val="F7F9F8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051560" y="477316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4"/>
          <p:cNvSpPr txBox="1"/>
          <p:nvPr/>
        </p:nvSpPr>
        <p:spPr>
          <a:xfrm>
            <a:off x="1051560" y="477316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4"/>
          <p:cNvSpPr txBox="1"/>
          <p:nvPr/>
        </p:nvSpPr>
        <p:spPr>
          <a:xfrm>
            <a:off x="1600200" y="4572000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Capa 3 · Despacho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 txBox="1"/>
          <p:nvPr/>
        </p:nvSpPr>
        <p:spPr>
          <a:xfrm>
            <a:off x="1600200" y="491947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1300"/>
              <a:buFont typeface="Calibri"/>
              <a:buNone/>
            </a:pPr>
            <a:r>
              <a:rPr b="1" i="1" lang="en-US" sz="1300" u="none" cap="none" strike="noStrike">
                <a:solidFill>
                  <a:srgbClr val="1F3A34"/>
                </a:solidFill>
                <a:latin typeface="Calibri"/>
                <a:ea typeface="Calibri"/>
                <a:cs typeface="Calibri"/>
                <a:sym typeface="Calibri"/>
              </a:rPr>
              <a:t>Es un servicio, no la razón de existir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5029200" y="4553712"/>
            <a:ext cx="6172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Catálogo, pedido, pago dividido entre familiares y entrega. Desacoplada por diseño: sin convenio comercial, la familia exporta su lista y compra donde quiera.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4"/>
          <p:cNvSpPr txBox="1"/>
          <p:nvPr/>
        </p:nvSpPr>
        <p:spPr>
          <a:xfrm>
            <a:off x="731520" y="5742432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500"/>
              <a:buFont typeface="Cambria"/>
              <a:buNone/>
            </a:pPr>
            <a:r>
              <a:rPr b="1" i="1" lang="en-US" sz="15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La predicción existe porque existe el plan. Nadie que no conozca a la persona cuidada sabe que usa cuatro pañales al día.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Jorge  ·  55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INGENIERÍA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Cuatro decisiones que sostienen el diseño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/>
          <p:nvPr/>
        </p:nvSpPr>
        <p:spPr>
          <a:xfrm>
            <a:off x="731520" y="187452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051560" y="216712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1051560" y="216712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 txBox="1"/>
          <p:nvPr/>
        </p:nvSpPr>
        <p:spPr>
          <a:xfrm>
            <a:off x="1600200" y="217627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Aislamiento verificable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1051560" y="267919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Row Level Security forzado en PostgreSQL sobre tres ejes de acceso: familia, comercio y operación. Una consulta sin contexto no devuelve todo, devuelve nada.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6309360" y="187452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6629400" y="216712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5"/>
          <p:cNvSpPr txBox="1"/>
          <p:nvPr/>
        </p:nvSpPr>
        <p:spPr>
          <a:xfrm>
            <a:off x="6629400" y="216712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 txBox="1"/>
          <p:nvPr/>
        </p:nvSpPr>
        <p:spPr>
          <a:xfrm>
            <a:off x="7178040" y="217627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Dato sensible cifrado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/>
        </p:nvSpPr>
        <p:spPr>
          <a:xfrm>
            <a:off x="6629400" y="267919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Cifrado por sobre con una clave por persona cuidada, lo que permite eliminación efectiva. Alineado con la Ley 21.719, vigente desde diciembre de 2026.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731520" y="397764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"/>
          <p:cNvSpPr/>
          <p:nvPr/>
        </p:nvSpPr>
        <p:spPr>
          <a:xfrm>
            <a:off x="1051560" y="4270248"/>
            <a:ext cx="384048" cy="384048"/>
          </a:xfrm>
          <a:prstGeom prst="ellipse">
            <a:avLst/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51560" y="42702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5"/>
          <p:cNvSpPr txBox="1"/>
          <p:nvPr/>
        </p:nvSpPr>
        <p:spPr>
          <a:xfrm>
            <a:off x="1600200" y="427939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Pago dividido, sin reembolsos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5"/>
          <p:cNvSpPr txBox="1"/>
          <p:nvPr/>
        </p:nvSpPr>
        <p:spPr>
          <a:xfrm>
            <a:off x="1051560" y="478231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Ninguna pasarela chilena divide un pago. Se orquesta con autorización diferida y captura por el monto real, con prorrateo en aritmética entera y pagador de respaldo.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6309360" y="3977640"/>
            <a:ext cx="5120640" cy="1828800"/>
          </a:xfrm>
          <a:prstGeom prst="roundRect">
            <a:avLst>
              <a:gd fmla="val 5000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"/>
          <p:cNvSpPr/>
          <p:nvPr/>
        </p:nvSpPr>
        <p:spPr>
          <a:xfrm>
            <a:off x="6629400" y="4270248"/>
            <a:ext cx="384048" cy="384048"/>
          </a:xfrm>
          <a:prstGeom prst="ellipse">
            <a:avLst/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5"/>
          <p:cNvSpPr txBox="1"/>
          <p:nvPr/>
        </p:nvSpPr>
        <p:spPr>
          <a:xfrm>
            <a:off x="6629400" y="4270248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 txBox="1"/>
          <p:nvPr/>
        </p:nvSpPr>
        <p:spPr>
          <a:xfrm>
            <a:off x="7178040" y="4279392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Despacho desacoplable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6629400" y="4782312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Las dependencias apuntan solo hacia abajo. Una prueba automatizada verifica que el sistema arranca y sirve sin la capa de despacho.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Scrum en sprints de una semana, con reparto por ejes verticales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731520" y="1874520"/>
            <a:ext cx="5120640" cy="2743200"/>
          </a:xfrm>
          <a:prstGeom prst="roundRect">
            <a:avLst>
              <a:gd fmla="val 3333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 txBox="1"/>
          <p:nvPr/>
        </p:nvSpPr>
        <p:spPr>
          <a:xfrm>
            <a:off x="1051560" y="2103120"/>
            <a:ext cx="4526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Jorge Espinoza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051560" y="2487168"/>
            <a:ext cx="4526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Product Owner · Eje A  ·  Cuidado y consumo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1051560" y="2871216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care_plan · consumption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catalog · replenishment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1051560" y="3566160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Backlog, validación con cuidadores, diseño de interacción y accesibilidad.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/>
          <p:nvPr/>
        </p:nvSpPr>
        <p:spPr>
          <a:xfrm>
            <a:off x="6309360" y="1874520"/>
            <a:ext cx="5120640" cy="2743200"/>
          </a:xfrm>
          <a:prstGeom prst="roundRect">
            <a:avLst>
              <a:gd fmla="val 3333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6629400" y="2103120"/>
            <a:ext cx="4526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Martín Henríquez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 txBox="1"/>
          <p:nvPr/>
        </p:nvSpPr>
        <p:spPr>
          <a:xfrm>
            <a:off x="6629400" y="2487168"/>
            <a:ext cx="4526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A34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1F3A34"/>
                </a:solidFill>
                <a:latin typeface="Calibri"/>
                <a:ea typeface="Calibri"/>
                <a:cs typeface="Calibri"/>
                <a:sym typeface="Calibri"/>
              </a:rPr>
              <a:t>Scrum Master · Eje B  ·  Identidad, dinero y operación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6629400" y="2871216"/>
            <a:ext cx="4526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iam · care_circle · ordering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4545"/>
              </a:lnSpc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100"/>
              <a:buFont typeface="Consolas"/>
              <a:buNone/>
            </a:pPr>
            <a:r>
              <a:rPr b="0" i="0" lang="en-US" sz="1100" u="none" cap="none" strike="noStrike">
                <a:solidFill>
                  <a:srgbClr val="18211E"/>
                </a:solidFill>
                <a:latin typeface="Consolas"/>
                <a:ea typeface="Consolas"/>
                <a:cs typeface="Consolas"/>
                <a:sym typeface="Consolas"/>
              </a:rPr>
              <a:t>payments · settlement · backoffice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6629400" y="3566160"/>
            <a:ext cx="45262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4000"/>
              </a:lnSpc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Integración con Transbank, pipeline de integración continua, ceremonias.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731520" y="4892040"/>
            <a:ext cx="10698480" cy="1051560"/>
          </a:xfrm>
          <a:prstGeom prst="roundRect">
            <a:avLst>
              <a:gd fmla="val 8696" name="adj"/>
            </a:avLst>
          </a:prstGeom>
          <a:solidFill>
            <a:srgbClr val="18211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"/>
          <p:cNvSpPr txBox="1"/>
          <p:nvPr/>
        </p:nvSpPr>
        <p:spPr>
          <a:xfrm>
            <a:off x="1005840" y="5193792"/>
            <a:ext cx="101498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Capacidad declarada: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 h por persona a la semana, 390 h en el semestre.  El alcance estimado sumaba 414 h, así que recortamos 41 h.  Comprometemos 373 h.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40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75B2B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Dieciocho semanas, con producto demostrable en la tercera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73152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C75B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73152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1  ·  Semanas 1 a 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73152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100584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Definición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 txBox="1"/>
          <p:nvPr/>
        </p:nvSpPr>
        <p:spPr>
          <a:xfrm>
            <a:off x="100584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Arquitectura y prototipo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Validación con 10 cuidadores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Prueba de concepto de pagos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40436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6E9C8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7"/>
          <p:cNvSpPr txBox="1"/>
          <p:nvPr/>
        </p:nvSpPr>
        <p:spPr>
          <a:xfrm>
            <a:off x="440436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2  ·  Semanas 5 a 16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440436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67868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Construcción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467868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Modelo de datos y aislamiento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Capa 1, capa 2 y capa 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Pruebas de usabilidad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8077200" y="2011680"/>
            <a:ext cx="3352800" cy="457200"/>
          </a:xfrm>
          <a:prstGeom prst="roundRect">
            <a:avLst>
              <a:gd fmla="val 16000" name="adj"/>
            </a:avLst>
          </a:prstGeom>
          <a:solidFill>
            <a:srgbClr val="1F3A3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"/>
          <p:cNvSpPr txBox="1"/>
          <p:nvPr/>
        </p:nvSpPr>
        <p:spPr>
          <a:xfrm>
            <a:off x="8077200" y="2011680"/>
            <a:ext cx="335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Fase 3  ·  Semanas 17 y 18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8077200" y="2578608"/>
            <a:ext cx="3352800" cy="1965960"/>
          </a:xfrm>
          <a:prstGeom prst="roundRect">
            <a:avLst>
              <a:gd fmla="val 4651" name="adj"/>
            </a:avLst>
          </a:prstGeom>
          <a:solidFill>
            <a:srgbClr val="EEF3F1"/>
          </a:solidFill>
          <a:ln>
            <a:noFill/>
          </a:ln>
          <a:effectLst>
            <a:outerShdw blurRad="1524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51520" y="2788920"/>
            <a:ext cx="28041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900"/>
              <a:buFont typeface="Cambria"/>
              <a:buNone/>
            </a:pPr>
            <a:r>
              <a:rPr b="1" i="0" lang="en-US" sz="1900" u="none" cap="none" strike="noStrike">
                <a:solidFill>
                  <a:srgbClr val="18211E"/>
                </a:solidFill>
                <a:latin typeface="Cambria"/>
                <a:ea typeface="Cambria"/>
                <a:cs typeface="Cambria"/>
                <a:sym typeface="Cambria"/>
              </a:rPr>
              <a:t>Cierre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8351520" y="3310128"/>
            <a:ext cx="28041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Endurecimiento y despliegue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Informe final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700"/>
              </a:spcBef>
              <a:spcAft>
                <a:spcPts val="0"/>
              </a:spcAft>
              <a:buClr>
                <a:srgbClr val="5A6661"/>
              </a:buClr>
              <a:buSzPts val="1250"/>
              <a:buFont typeface="Calibri"/>
              <a:buChar char="•"/>
            </a:pPr>
            <a:r>
              <a:rPr b="0" i="0" lang="en-US" sz="125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Defensa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731520" y="4937760"/>
            <a:ext cx="10698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75B2B"/>
              </a:buClr>
              <a:buSzPts val="1500"/>
              <a:buFont typeface="Cambria"/>
              <a:buNone/>
            </a:pPr>
            <a:r>
              <a:rPr b="1" i="1" lang="en-US" sz="1500" u="none" cap="none" strike="noStrike">
                <a:solidFill>
                  <a:srgbClr val="C75B2B"/>
                </a:solidFill>
                <a:latin typeface="Cambria"/>
                <a:ea typeface="Cambria"/>
                <a:cs typeface="Cambria"/>
                <a:sym typeface="Cambria"/>
              </a:rPr>
              <a:t>El diferenciador se demuestra en el sprint 3, no en el sprint 12: hay algo que mostrar a un cuarto del semestre.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66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A6661"/>
                </a:solidFill>
                <a:latin typeface="Calibri"/>
                <a:ea typeface="Calibri"/>
                <a:cs typeface="Calibri"/>
                <a:sym typeface="Calibri"/>
              </a:rPr>
              <a:t>Martín  ·  45 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F3A34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 txBox="1"/>
          <p:nvPr/>
        </p:nvSpPr>
        <p:spPr>
          <a:xfrm>
            <a:off x="822960" y="685800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QUÉ VAMOS A DEMOSTRAR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 txBox="1"/>
          <p:nvPr/>
        </p:nvSpPr>
        <p:spPr>
          <a:xfrm>
            <a:off x="822960" y="100584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mbria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Evidencias comprometidas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822960" y="201168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822960" y="20116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1371600" y="19933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Informe de validación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 txBox="1"/>
          <p:nvPr/>
        </p:nvSpPr>
        <p:spPr>
          <a:xfrm>
            <a:off x="1371600" y="234086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Diez entrevistas con criterios de falsación fijados antes de entrevistar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8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 txBox="1"/>
          <p:nvPr/>
        </p:nvSpPr>
        <p:spPr>
          <a:xfrm>
            <a:off x="6812280" y="199339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Modelo de datos con aislamiento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6812280" y="234086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Verificado por pruebas contra una base de datos real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822960" y="324612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 txBox="1"/>
          <p:nvPr/>
        </p:nvSpPr>
        <p:spPr>
          <a:xfrm>
            <a:off x="822960" y="3246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 txBox="1"/>
          <p:nvPr/>
        </p:nvSpPr>
        <p:spPr>
          <a:xfrm>
            <a:off x="1371600" y="322783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Producto de la capa 1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 txBox="1"/>
          <p:nvPr/>
        </p:nvSpPr>
        <p:spPr>
          <a:xfrm>
            <a:off x="1371600" y="357530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Plan de cuidado, relevo y auditoría, funcionando de punta a punta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263640" y="3246120"/>
            <a:ext cx="384048" cy="384048"/>
          </a:xfrm>
          <a:prstGeom prst="ellipse">
            <a:avLst/>
          </a:prstGeom>
          <a:solidFill>
            <a:srgbClr val="E89B6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 txBox="1"/>
          <p:nvPr/>
        </p:nvSpPr>
        <p:spPr>
          <a:xfrm>
            <a:off x="6263640" y="32461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8211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8211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6812280" y="3227832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mbria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Aplicación integrada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 txBox="1"/>
          <p:nvPr/>
        </p:nvSpPr>
        <p:spPr>
          <a:xfrm>
            <a:off x="6812280" y="3575304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8FB3A6"/>
                </a:solidFill>
                <a:latin typeface="Calibri"/>
                <a:ea typeface="Calibri"/>
                <a:cs typeface="Calibri"/>
                <a:sym typeface="Calibri"/>
              </a:rPr>
              <a:t>Móvil, vista de comercio y backoffice en un entorno de demostración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822960" y="4709160"/>
            <a:ext cx="10543032" cy="1143000"/>
          </a:xfrm>
          <a:prstGeom prst="roundRect">
            <a:avLst>
              <a:gd fmla="val 8000" name="adj"/>
            </a:avLst>
          </a:prstGeom>
          <a:solidFill>
            <a:srgbClr val="16302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1188720" y="4983480"/>
            <a:ext cx="9784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89B6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89B6C"/>
                </a:solidFill>
                <a:latin typeface="Calibri"/>
                <a:ea typeface="Calibri"/>
                <a:cs typeface="Calibri"/>
                <a:sym typeface="Calibri"/>
              </a:rPr>
              <a:t>Lo que todavía no tenemos.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Ninguna entrevista hecha, ningún comercio comprometido y la pasarela sin probar. Los tres se cierran en la primera fase, y por eso van primero en el plan.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822960" y="60807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B3A6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8FB3A6"/>
                </a:solidFill>
                <a:latin typeface="Cambria"/>
                <a:ea typeface="Cambria"/>
                <a:cs typeface="Cambria"/>
                <a:sym typeface="Cambria"/>
              </a:rPr>
              <a:t>Gracias.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2026-09-02T02:54:51Z</dcterms:created>
  <dc:creator>Jorge Espinoza · Martín Henríquez</dc:creator>
</cp:coreProperties>
</file>